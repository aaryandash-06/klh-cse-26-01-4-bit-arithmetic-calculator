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embeddedFontLst>
    <p:embeddedFont>
      <p:font typeface="Open Sans Bold"/>
      <p:regular r:id="rId201314"/>
    </p:embeddedFont>
    <p:embeddedFont>
      <p:font typeface="Open Sans"/>
      <p:regular r:id="rId201315"/>
    </p:embeddedFont>
    <p:embeddedFont>
      <p:font typeface="Unbounded Bol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D6F5EE"/>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1.png"/><Relationship Id="rId4" Type="http://schemas.openxmlformats.org/officeDocument/2006/relationships/image" Target="../media/image-3-2.svg"/><Relationship Id="rId5" Type="http://schemas.openxmlformats.org/officeDocument/2006/relationships/image" Target="../media/image-3-1.png"/><Relationship Id="rId6" Type="http://schemas.openxmlformats.org/officeDocument/2006/relationships/image" Target="../media/image-3-2.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7.png"/><Relationship Id="rId10" Type="http://schemas.openxmlformats.org/officeDocument/2006/relationships/image" Target="../media/image-3-8.svg"/><Relationship Id="rId11" Type="http://schemas.openxmlformats.org/officeDocument/2006/relationships/slideLayout" Target="../slideLayouts/slideLayout2.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1.png"/><Relationship Id="rId4" Type="http://schemas.openxmlformats.org/officeDocument/2006/relationships/image" Target="../media/image-8-2.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5.png"/><Relationship Id="rId8" Type="http://schemas.openxmlformats.org/officeDocument/2006/relationships/image" Target="../media/image-8-6.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image" Target="../media/image-8-9.png"/><Relationship Id="rId12" Type="http://schemas.openxmlformats.org/officeDocument/2006/relationships/image" Target="../media/image-8-10.svg"/><Relationship Id="rId13" Type="http://schemas.openxmlformats.org/officeDocument/2006/relationships/image" Target="../media/image-8-9.png"/><Relationship Id="rId14" Type="http://schemas.openxmlformats.org/officeDocument/2006/relationships/image" Target="../media/image-8-10.svg"/><Relationship Id="rId15" Type="http://schemas.openxmlformats.org/officeDocument/2006/relationships/slideLayout" Target="../slideLayouts/slideLayout2.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1.png"/><Relationship Id="rId4" Type="http://schemas.openxmlformats.org/officeDocument/2006/relationships/image" Target="../media/image-9-2.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5.png"/><Relationship Id="rId8" Type="http://schemas.openxmlformats.org/officeDocument/2006/relationships/image" Target="../media/image-9-6.svg"/><Relationship Id="rId9" Type="http://schemas.openxmlformats.org/officeDocument/2006/relationships/image" Target="../media/image-9-9.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1.png"/><Relationship Id="rId4" Type="http://schemas.openxmlformats.org/officeDocument/2006/relationships/image" Target="../media/image-10-2.svg"/><Relationship Id="rId5" Type="http://schemas.openxmlformats.org/officeDocument/2006/relationships/image" Target="../media/image-10-1.png"/><Relationship Id="rId6" Type="http://schemas.openxmlformats.org/officeDocument/2006/relationships/image" Target="../media/image-10-2.sv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594717"/>
            <a:ext cx="10868745" cy="258465"/>
          </a:xfrm>
          <a:prstGeom prst="rect">
            <a:avLst/>
          </a:prstGeom>
          <a:noFill/>
          <a:ln/>
        </p:spPr>
        <p:txBody>
          <a:bodyPr wrap="none" lIns="0" tIns="0" rIns="0" bIns="0" rtlCol="0" anchor="t"/>
          <a:lstStyle/>
          <a:p>
            <a:pPr algn="ctr"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Academic Project Report</a:t>
            </a:r>
            <a:endParaRPr lang="en-US" sz="1600" dirty="0"/>
          </a:p>
        </p:txBody>
      </p:sp>
      <p:sp>
        <p:nvSpPr>
          <p:cNvPr id="3" name="Text 1"/>
          <p:cNvSpPr/>
          <p:nvPr/>
        </p:nvSpPr>
        <p:spPr>
          <a:xfrm>
            <a:off x="661475" y="919262"/>
            <a:ext cx="10868745" cy="1033463"/>
          </a:xfrm>
          <a:prstGeom prst="rect">
            <a:avLst/>
          </a:prstGeom>
          <a:noFill/>
          <a:ln/>
        </p:spPr>
        <p:txBody>
          <a:bodyPr wrap="square" lIns="0" tIns="0" rIns="0" bIns="0" rtlCol="0" anchor="t">
            <a:normAutofit/>
          </a:bodyPr>
          <a:lstStyle/>
          <a:p>
            <a:pPr algn="ctr" indent="0" marL="0">
              <a:lnSpc>
                <a:spcPct val="104000"/>
              </a:lnSpc>
              <a:buNone/>
            </a:pPr>
            <a:r>
              <a:rPr lang="en-US" sz="3250" b="1" dirty="0">
                <a:solidFill>
                  <a:srgbClr val="333F70"/>
                </a:solidFill>
                <a:latin typeface="Unbounded Bold" pitchFamily="34" charset="0"/>
                <a:ea typeface="Unbounded Bold" pitchFamily="34" charset="-122"/>
                <a:cs typeface="Unbounded Bold" pitchFamily="34" charset="-120"/>
              </a:rPr>
              <a:t>Design and Simulation of a 4-Bit Binary Arithmetic Calculator</a:t>
            </a:r>
            <a:endParaRPr lang="en-US" sz="3250" dirty="0"/>
          </a:p>
        </p:txBody>
      </p:sp>
      <p:sp>
        <p:nvSpPr>
          <p:cNvPr id="4" name="Shape 2"/>
          <p:cNvSpPr/>
          <p:nvPr/>
        </p:nvSpPr>
        <p:spPr>
          <a:xfrm>
            <a:off x="661475" y="2242046"/>
            <a:ext cx="10868745" cy="19050"/>
          </a:xfrm>
          <a:prstGeom prst="roundRect">
            <a:avLst>
              <a:gd name="adj" fmla="val 49999"/>
            </a:avLst>
          </a:prstGeom>
          <a:solidFill>
            <a:srgbClr val="333F70">
              <a:alpha val="50000"/>
            </a:srgbClr>
          </a:solidFill>
          <a:ln/>
        </p:spPr>
      </p:sp>
      <p:sp>
        <p:nvSpPr>
          <p:cNvPr id="5" name="Shape 3"/>
          <p:cNvSpPr/>
          <p:nvPr/>
        </p:nvSpPr>
        <p:spPr>
          <a:xfrm>
            <a:off x="542415" y="2488406"/>
            <a:ext cx="5470785" cy="2623245"/>
          </a:xfrm>
          <a:prstGeom prst="roundRect">
            <a:avLst>
              <a:gd name="adj" fmla="val 4539"/>
            </a:avLst>
          </a:prstGeom>
          <a:solidFill>
            <a:srgbClr val="26A688"/>
          </a:solidFill>
          <a:ln/>
        </p:spPr>
      </p:sp>
      <p:sp>
        <p:nvSpPr>
          <p:cNvPr id="6" name="Text 4"/>
          <p:cNvSpPr/>
          <p:nvPr/>
        </p:nvSpPr>
        <p:spPr>
          <a:xfrm>
            <a:off x="707710" y="2653705"/>
            <a:ext cx="5140196" cy="258465"/>
          </a:xfrm>
          <a:prstGeom prst="rect">
            <a:avLst/>
          </a:prstGeom>
          <a:noFill/>
          <a:ln/>
        </p:spPr>
        <p:txBody>
          <a:bodyPr wrap="none" lIns="0" tIns="0" rIns="0" bIns="0" rtlCol="0" anchor="t"/>
          <a:lstStyle/>
          <a:p>
            <a:pPr algn="l" indent="0" marL="0">
              <a:lnSpc>
                <a:spcPct val="104000"/>
              </a:lnSpc>
              <a:buNone/>
            </a:pPr>
            <a:r>
              <a:rPr lang="en-US" sz="1600" b="1" dirty="0">
                <a:solidFill>
                  <a:srgbClr val="000000"/>
                </a:solidFill>
                <a:latin typeface="Unbounded Bold" pitchFamily="34" charset="0"/>
                <a:ea typeface="Unbounded Bold" pitchFamily="34" charset="-122"/>
                <a:cs typeface="Unbounded Bold" pitchFamily="34" charset="-120"/>
              </a:rPr>
              <a:t>Project Details</a:t>
            </a:r>
            <a:endParaRPr lang="en-US" sz="1600" dirty="0"/>
          </a:p>
        </p:txBody>
      </p:sp>
      <p:sp>
        <p:nvSpPr>
          <p:cNvPr id="7" name="Text 5"/>
          <p:cNvSpPr/>
          <p:nvPr/>
        </p:nvSpPr>
        <p:spPr>
          <a:xfrm>
            <a:off x="707710" y="3077468"/>
            <a:ext cx="5140196" cy="1885355"/>
          </a:xfrm>
          <a:prstGeom prst="rect">
            <a:avLst/>
          </a:prstGeom>
          <a:noFill/>
          <a:ln/>
        </p:spPr>
        <p:txBody>
          <a:bodyPr wrap="square" lIns="0" tIns="0" rIns="0" bIns="0" rtlCol="0" anchor="t"/>
          <a:lstStyle/>
          <a:p>
            <a:pPr algn="l" indent="0" marL="0">
              <a:lnSpc>
                <a:spcPct val="133000"/>
              </a:lnSpc>
              <a:spcAft>
                <a:spcPts val="1150"/>
              </a:spcAft>
              <a:buNone/>
            </a:pPr>
            <a:r>
              <a:rPr lang="en-US" sz="1300" b="1" dirty="0">
                <a:solidFill>
                  <a:srgbClr val="000000"/>
                </a:solidFill>
                <a:latin typeface="Open Sans Bold" pitchFamily="34" charset="0"/>
                <a:ea typeface="Open Sans Bold" pitchFamily="34" charset="-122"/>
                <a:cs typeface="Open Sans Bold" pitchFamily="34" charset="-120"/>
              </a:rPr>
              <a:t>Student Name(s):</a:t>
            </a:r>
            <a:pPr algn="l" indent="0" marL="0">
              <a:lnSpc>
                <a:spcPct val="133000"/>
              </a:lnSpc>
              <a:spcAft>
                <a:spcPts val="1150"/>
              </a:spcAft>
              <a:buNone/>
            </a:pPr>
            <a:r>
              <a:rPr lang="en-US" sz="1300" dirty="0">
                <a:solidFill>
                  <a:srgbClr val="000000"/>
                </a:solidFill>
                <a:latin typeface="Open Sans" pitchFamily="34" charset="0"/>
                <a:ea typeface="Open Sans" pitchFamily="34" charset="-122"/>
                <a:cs typeface="Open Sans" pitchFamily="34" charset="-120"/>
              </a:rPr>
              <a:t> </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Aaryan - 2620030009</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Neha - 2620030017</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Rishith - 2620030021</a:t>
            </a:r>
            <a:endParaRPr lang="en-US" sz="1300" dirty="0"/>
          </a:p>
          <a:p>
            <a:pPr algn="l" indent="0" marL="0">
              <a:lnSpc>
                <a:spcPct val="133000"/>
              </a:lnSpc>
              <a:spcAft>
                <a:spcPts val="1150"/>
              </a:spcAft>
              <a:buNone/>
            </a:pPr>
            <a:r>
              <a:rPr lang="en-US" sz="1300" dirty="0">
                <a:solidFill>
                  <a:srgbClr val="000000"/>
                </a:solidFill>
                <a:latin typeface="Open Sans" pitchFamily="34" charset="0"/>
                <a:ea typeface="Open Sans" pitchFamily="34" charset="-122"/>
                <a:cs typeface="Open Sans" pitchFamily="34" charset="-120"/>
              </a:rPr>
              <a:t>Sruthi - 2620030044</a:t>
            </a:r>
            <a:endParaRPr lang="en-US" sz="1300" dirty="0"/>
          </a:p>
          <a:p>
            <a:pPr algn="l" indent="0" marL="0">
              <a:lnSpc>
                <a:spcPct val="133000"/>
              </a:lnSpc>
              <a:buNone/>
            </a:pPr>
            <a:r>
              <a:rPr lang="en-US" sz="1300" b="1" dirty="0">
                <a:solidFill>
                  <a:srgbClr val="000000"/>
                </a:solidFill>
                <a:latin typeface="Open Sans Bold" pitchFamily="34" charset="0"/>
                <a:ea typeface="Open Sans Bold" pitchFamily="34" charset="-122"/>
                <a:cs typeface="Open Sans Bold" pitchFamily="34" charset="-120"/>
              </a:rPr>
              <a:t>Guide / Supervisor:</a:t>
            </a:r>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 Dr. Kartheek V</a:t>
            </a:r>
            <a:endParaRPr lang="en-US" sz="1300" dirty="0"/>
          </a:p>
        </p:txBody>
      </p:sp>
      <p:sp>
        <p:nvSpPr>
          <p:cNvPr id="8" name="Text 6"/>
          <p:cNvSpPr/>
          <p:nvPr/>
        </p:nvSpPr>
        <p:spPr>
          <a:xfrm>
            <a:off x="6303904" y="2653705"/>
            <a:ext cx="5232666"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Institution Details</a:t>
            </a:r>
            <a:endParaRPr lang="en-US" sz="1600" dirty="0"/>
          </a:p>
        </p:txBody>
      </p:sp>
      <p:sp>
        <p:nvSpPr>
          <p:cNvPr id="9" name="Text 7"/>
          <p:cNvSpPr/>
          <p:nvPr/>
        </p:nvSpPr>
        <p:spPr>
          <a:xfrm>
            <a:off x="6303904" y="3077468"/>
            <a:ext cx="5232666" cy="1091505"/>
          </a:xfrm>
          <a:prstGeom prst="rect">
            <a:avLst/>
          </a:prstGeom>
          <a:noFill/>
          <a:ln/>
        </p:spPr>
        <p:txBody>
          <a:bodyPr wrap="square" lIns="0" tIns="0" rIns="0" bIns="0" rtlCol="0" anchor="t"/>
          <a:lstStyle/>
          <a:p>
            <a:pPr algn="l" indent="0" marL="0">
              <a:lnSpc>
                <a:spcPct val="133000"/>
              </a:lnSpc>
              <a:spcAft>
                <a:spcPts val="1150"/>
              </a:spcAft>
              <a:buNone/>
            </a:pPr>
            <a:r>
              <a:rPr lang="en-US" sz="1300" b="1" dirty="0">
                <a:solidFill>
                  <a:srgbClr val="333F70"/>
                </a:solidFill>
                <a:latin typeface="Open Sans Bold" pitchFamily="34" charset="0"/>
                <a:ea typeface="Open Sans Bold" pitchFamily="34" charset="-122"/>
                <a:cs typeface="Open Sans Bold" pitchFamily="34" charset="-120"/>
              </a:rPr>
              <a:t>Department:</a:t>
            </a:r>
            <a:pPr algn="l" indent="0" marL="0">
              <a:lnSpc>
                <a:spcPct val="133000"/>
              </a:lnSpc>
              <a:spcAft>
                <a:spcPts val="1150"/>
              </a:spcAft>
              <a:buNone/>
            </a:pPr>
            <a:r>
              <a:rPr lang="en-US" sz="1300" dirty="0">
                <a:solidFill>
                  <a:srgbClr val="333F70"/>
                </a:solidFill>
                <a:latin typeface="Open Sans" pitchFamily="34" charset="0"/>
                <a:ea typeface="Open Sans" pitchFamily="34" charset="-122"/>
                <a:cs typeface="Open Sans" pitchFamily="34" charset="-120"/>
              </a:rPr>
              <a:t> CSE</a:t>
            </a:r>
            <a:endParaRPr lang="en-US" sz="1300" dirty="0"/>
          </a:p>
          <a:p>
            <a:pPr algn="l" indent="0" marL="0">
              <a:lnSpc>
                <a:spcPct val="133000"/>
              </a:lnSpc>
              <a:spcAft>
                <a:spcPts val="1150"/>
              </a:spcAft>
              <a:buNone/>
            </a:pPr>
            <a:r>
              <a:rPr lang="en-US" sz="1300" b="1" dirty="0">
                <a:solidFill>
                  <a:srgbClr val="333F70"/>
                </a:solidFill>
                <a:latin typeface="Open Sans Bold" pitchFamily="34" charset="0"/>
                <a:ea typeface="Open Sans Bold" pitchFamily="34" charset="-122"/>
                <a:cs typeface="Open Sans Bold" pitchFamily="34" charset="-120"/>
              </a:rPr>
              <a:t>College / Institution:</a:t>
            </a:r>
            <a:pPr algn="l" indent="0" marL="0">
              <a:lnSpc>
                <a:spcPct val="133000"/>
              </a:lnSpc>
              <a:spcAft>
                <a:spcPts val="1150"/>
              </a:spcAft>
              <a:buNone/>
            </a:pPr>
            <a:r>
              <a:rPr lang="en-US" sz="1300" dirty="0">
                <a:solidFill>
                  <a:srgbClr val="333F70"/>
                </a:solidFill>
                <a:latin typeface="Open Sans" pitchFamily="34" charset="0"/>
                <a:ea typeface="Open Sans" pitchFamily="34" charset="-122"/>
                <a:cs typeface="Open Sans" pitchFamily="34" charset="-120"/>
              </a:rPr>
              <a:t> KLH Bachupally</a:t>
            </a:r>
            <a:endParaRPr lang="en-US" sz="1300" dirty="0"/>
          </a:p>
          <a:p>
            <a:pPr algn="l" indent="0" marL="0">
              <a:lnSpc>
                <a:spcPct val="133000"/>
              </a:lnSpc>
              <a:buNone/>
            </a:pPr>
            <a:r>
              <a:rPr lang="en-US" sz="1300" b="1" dirty="0">
                <a:solidFill>
                  <a:srgbClr val="333F70"/>
                </a:solidFill>
                <a:latin typeface="Open Sans Bold" pitchFamily="34" charset="0"/>
                <a:ea typeface="Open Sans Bold" pitchFamily="34" charset="-122"/>
                <a:cs typeface="Open Sans Bold" pitchFamily="34" charset="-120"/>
              </a:rPr>
              <a:t>Academic Year:</a:t>
            </a:r>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 2026 - 2027</a:t>
            </a:r>
            <a:endParaRPr lang="en-US" sz="1300" dirty="0"/>
          </a:p>
        </p:txBody>
      </p:sp>
      <p:sp>
        <p:nvSpPr>
          <p:cNvPr id="10" name="Shape 8"/>
          <p:cNvSpPr/>
          <p:nvPr/>
        </p:nvSpPr>
        <p:spPr>
          <a:xfrm>
            <a:off x="661475" y="5297686"/>
            <a:ext cx="2593216" cy="965597"/>
          </a:xfrm>
          <a:prstGeom prst="roundRect">
            <a:avLst>
              <a:gd name="adj" fmla="val 7194"/>
            </a:avLst>
          </a:prstGeom>
          <a:solidFill>
            <a:srgbClr val="D6F5EE"/>
          </a:solidFill>
          <a:ln w="6350">
            <a:solidFill>
              <a:srgbClr val="BCDBD4"/>
            </a:solidFill>
            <a:prstDash val="solid"/>
          </a:ln>
        </p:spPr>
      </p:sp>
      <p:sp>
        <p:nvSpPr>
          <p:cNvPr id="11" name="Text 9"/>
          <p:cNvSpPr/>
          <p:nvPr/>
        </p:nvSpPr>
        <p:spPr>
          <a:xfrm>
            <a:off x="83311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Domain</a:t>
            </a:r>
            <a:endParaRPr lang="en-US" sz="1600" dirty="0"/>
          </a:p>
        </p:txBody>
      </p:sp>
      <p:sp>
        <p:nvSpPr>
          <p:cNvPr id="12" name="Text 10"/>
          <p:cNvSpPr/>
          <p:nvPr/>
        </p:nvSpPr>
        <p:spPr>
          <a:xfrm>
            <a:off x="83311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Digital Logic Design</a:t>
            </a:r>
            <a:endParaRPr lang="en-US" sz="1300" dirty="0"/>
          </a:p>
        </p:txBody>
      </p:sp>
      <p:sp>
        <p:nvSpPr>
          <p:cNvPr id="13" name="Shape 11"/>
          <p:cNvSpPr/>
          <p:nvPr/>
        </p:nvSpPr>
        <p:spPr>
          <a:xfrm>
            <a:off x="3419985" y="5297686"/>
            <a:ext cx="2593216" cy="965597"/>
          </a:xfrm>
          <a:prstGeom prst="roundRect">
            <a:avLst>
              <a:gd name="adj" fmla="val 7194"/>
            </a:avLst>
          </a:prstGeom>
          <a:solidFill>
            <a:srgbClr val="D6F5EE"/>
          </a:solidFill>
          <a:ln w="6350">
            <a:solidFill>
              <a:srgbClr val="BCDBD4"/>
            </a:solidFill>
            <a:prstDash val="solid"/>
          </a:ln>
        </p:spPr>
      </p:sp>
      <p:sp>
        <p:nvSpPr>
          <p:cNvPr id="14" name="Text 12"/>
          <p:cNvSpPr/>
          <p:nvPr/>
        </p:nvSpPr>
        <p:spPr>
          <a:xfrm>
            <a:off x="359162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Scope</a:t>
            </a:r>
            <a:endParaRPr lang="en-US" sz="1600" dirty="0"/>
          </a:p>
        </p:txBody>
      </p:sp>
      <p:sp>
        <p:nvSpPr>
          <p:cNvPr id="15" name="Text 13"/>
          <p:cNvSpPr/>
          <p:nvPr/>
        </p:nvSpPr>
        <p:spPr>
          <a:xfrm>
            <a:off x="359162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4-Bit Binary Arithmetic</a:t>
            </a:r>
            <a:endParaRPr lang="en-US" sz="1300" dirty="0"/>
          </a:p>
        </p:txBody>
      </p:sp>
      <p:sp>
        <p:nvSpPr>
          <p:cNvPr id="16" name="Shape 14"/>
          <p:cNvSpPr/>
          <p:nvPr/>
        </p:nvSpPr>
        <p:spPr>
          <a:xfrm>
            <a:off x="6178495" y="5297686"/>
            <a:ext cx="2593216" cy="965597"/>
          </a:xfrm>
          <a:prstGeom prst="roundRect">
            <a:avLst>
              <a:gd name="adj" fmla="val 7194"/>
            </a:avLst>
          </a:prstGeom>
          <a:solidFill>
            <a:srgbClr val="D6F5EE"/>
          </a:solidFill>
          <a:ln w="6350">
            <a:solidFill>
              <a:srgbClr val="BCDBD4"/>
            </a:solidFill>
            <a:prstDash val="solid"/>
          </a:ln>
        </p:spPr>
      </p:sp>
      <p:sp>
        <p:nvSpPr>
          <p:cNvPr id="17" name="Text 15"/>
          <p:cNvSpPr/>
          <p:nvPr/>
        </p:nvSpPr>
        <p:spPr>
          <a:xfrm>
            <a:off x="635013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Tool</a:t>
            </a:r>
            <a:endParaRPr lang="en-US" sz="1600" dirty="0"/>
          </a:p>
        </p:txBody>
      </p:sp>
      <p:sp>
        <p:nvSpPr>
          <p:cNvPr id="18" name="Text 16"/>
          <p:cNvSpPr/>
          <p:nvPr/>
        </p:nvSpPr>
        <p:spPr>
          <a:xfrm>
            <a:off x="635013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Logisim / Digital Simulator</a:t>
            </a:r>
            <a:endParaRPr lang="en-US" sz="1300" dirty="0"/>
          </a:p>
        </p:txBody>
      </p:sp>
      <p:sp>
        <p:nvSpPr>
          <p:cNvPr id="19" name="Shape 17"/>
          <p:cNvSpPr/>
          <p:nvPr/>
        </p:nvSpPr>
        <p:spPr>
          <a:xfrm>
            <a:off x="8937005" y="5297686"/>
            <a:ext cx="2593216" cy="965597"/>
          </a:xfrm>
          <a:prstGeom prst="roundRect">
            <a:avLst>
              <a:gd name="adj" fmla="val 7194"/>
            </a:avLst>
          </a:prstGeom>
          <a:solidFill>
            <a:srgbClr val="D6F5EE"/>
          </a:solidFill>
          <a:ln w="6350">
            <a:solidFill>
              <a:srgbClr val="BCDBD4"/>
            </a:solidFill>
            <a:prstDash val="solid"/>
          </a:ln>
        </p:spPr>
      </p:sp>
      <p:sp>
        <p:nvSpPr>
          <p:cNvPr id="20" name="Text 18"/>
          <p:cNvSpPr/>
          <p:nvPr/>
        </p:nvSpPr>
        <p:spPr>
          <a:xfrm>
            <a:off x="910864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Type</a:t>
            </a:r>
            <a:endParaRPr lang="en-US" sz="1600" dirty="0"/>
          </a:p>
        </p:txBody>
      </p:sp>
      <p:sp>
        <p:nvSpPr>
          <p:cNvPr id="21" name="Text 19"/>
          <p:cNvSpPr/>
          <p:nvPr/>
        </p:nvSpPr>
        <p:spPr>
          <a:xfrm>
            <a:off x="910864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Gate-Level Implementation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61475" y="504230"/>
            <a:ext cx="796409" cy="235446"/>
          </a:xfrm>
          <a:prstGeom prst="roundRect">
            <a:avLst>
              <a:gd name="adj" fmla="val 22127"/>
            </a:avLst>
          </a:prstGeom>
          <a:solidFill>
            <a:srgbClr val="D6F5EE"/>
          </a:solidFill>
          <a:ln/>
        </p:spPr>
      </p:sp>
      <p:sp>
        <p:nvSpPr>
          <p:cNvPr id="3" name="Text 1"/>
          <p:cNvSpPr/>
          <p:nvPr/>
        </p:nvSpPr>
        <p:spPr>
          <a:xfrm>
            <a:off x="754441" y="550664"/>
            <a:ext cx="1220062" cy="142577"/>
          </a:xfrm>
          <a:prstGeom prst="rect">
            <a:avLst/>
          </a:prstGeom>
          <a:noFill/>
          <a:ln/>
        </p:spPr>
        <p:txBody>
          <a:bodyPr wrap="none" lIns="0" tIns="0" rIns="0" bIns="0" rtlCol="0" anchor="t"/>
          <a:lstStyle/>
          <a:p>
            <a:pPr algn="l" indent="0" marL="0">
              <a:lnSpc>
                <a:spcPct val="96000"/>
              </a:lnSpc>
              <a:buNone/>
            </a:pPr>
            <a:r>
              <a:rPr lang="en-US" sz="950" dirty="0">
                <a:solidFill>
                  <a:srgbClr val="333F70"/>
                </a:solidFill>
                <a:latin typeface="Open Sans" pitchFamily="34" charset="0"/>
                <a:ea typeface="Open Sans" pitchFamily="34" charset="-122"/>
                <a:cs typeface="Open Sans" pitchFamily="34" charset="-120"/>
              </a:rPr>
              <a:t>SECTION 1</a:t>
            </a:r>
            <a:endParaRPr lang="en-US" sz="950" dirty="0"/>
          </a:p>
        </p:txBody>
      </p:sp>
      <p:sp>
        <p:nvSpPr>
          <p:cNvPr id="4" name="Text 2"/>
          <p:cNvSpPr/>
          <p:nvPr/>
        </p:nvSpPr>
        <p:spPr>
          <a:xfrm>
            <a:off x="661475" y="797818"/>
            <a:ext cx="10868745" cy="484485"/>
          </a:xfrm>
          <a:prstGeom prst="rect">
            <a:avLst/>
          </a:prstGeom>
          <a:noFill/>
          <a:ln/>
        </p:spPr>
        <p:txBody>
          <a:bodyPr wrap="none" lIns="0" tIns="0" rIns="0" bIns="0" rtlCol="0" anchor="t"/>
          <a:lstStyle/>
          <a:p>
            <a:pPr algn="l" indent="0" marL="0">
              <a:lnSpc>
                <a:spcPct val="104000"/>
              </a:lnSpc>
              <a:buNone/>
            </a:pPr>
            <a:r>
              <a:rPr lang="en-US" sz="3050" b="1" dirty="0">
                <a:solidFill>
                  <a:srgbClr val="333F70"/>
                </a:solidFill>
                <a:latin typeface="Unbounded Bold" pitchFamily="34" charset="0"/>
                <a:ea typeface="Unbounded Bold" pitchFamily="34" charset="-122"/>
                <a:cs typeface="Unbounded Bold" pitchFamily="34" charset="-120"/>
              </a:rPr>
              <a:t>Introduction</a:t>
            </a:r>
            <a:endParaRPr lang="en-US" sz="3050" dirty="0"/>
          </a:p>
        </p:txBody>
      </p:sp>
      <p:sp>
        <p:nvSpPr>
          <p:cNvPr id="5" name="Text 3"/>
          <p:cNvSpPr/>
          <p:nvPr/>
        </p:nvSpPr>
        <p:spPr>
          <a:xfrm>
            <a:off x="661475" y="1645642"/>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Background of Digital Logic Design</a:t>
            </a:r>
            <a:endParaRPr lang="en-US" sz="1500" dirty="0"/>
          </a:p>
        </p:txBody>
      </p:sp>
      <p:sp>
        <p:nvSpPr>
          <p:cNvPr id="6" name="Text 4"/>
          <p:cNvSpPr/>
          <p:nvPr/>
        </p:nvSpPr>
        <p:spPr>
          <a:xfrm>
            <a:off x="661475" y="2033191"/>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All modern computing systems are founded on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digital logic design</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 the discipline of constructing circuits from elementary logic gates (AND, OR, NOT) that perform Boolean operations. Every processor, memory unit, and communication interface ultimately reduces to combinations of these primitives following Boolean algebra rules.</a:t>
            </a:r>
            <a:endParaRPr lang="en-US" sz="1200" dirty="0"/>
          </a:p>
        </p:txBody>
      </p:sp>
      <p:sp>
        <p:nvSpPr>
          <p:cNvPr id="7" name="Text 5"/>
          <p:cNvSpPr/>
          <p:nvPr/>
        </p:nvSpPr>
        <p:spPr>
          <a:xfrm>
            <a:off x="661475" y="3380085"/>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Binary Arithmetic as the Native Language</a:t>
            </a:r>
            <a:endParaRPr lang="en-US" sz="1500" dirty="0"/>
          </a:p>
        </p:txBody>
      </p:sp>
      <p:sp>
        <p:nvSpPr>
          <p:cNvPr id="8" name="Text 6"/>
          <p:cNvSpPr/>
          <p:nvPr/>
        </p:nvSpPr>
        <p:spPr>
          <a:xfrm>
            <a:off x="661475" y="3767634"/>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Digital systems communicate exclusively in binary. All computation — from simple addition to floating-point operations — reduces to </a:t>
            </a:r>
            <a:pPr algn="l" indent="0" marL="0">
              <a:lnSpc>
                <a:spcPct val="129000"/>
              </a:lnSpc>
              <a:buNone/>
            </a:pPr>
            <a:r>
              <a:rPr lang="en-US" sz="1200" b="1" dirty="0">
                <a:solidFill>
                  <a:srgbClr val="26A688"/>
                </a:solidFill>
                <a:latin typeface="Open Sans Bold" pitchFamily="34" charset="0"/>
                <a:ea typeface="Open Sans Bold" pitchFamily="34" charset="-122"/>
                <a:cs typeface="Open Sans Bold" pitchFamily="34" charset="-120"/>
              </a:rPr>
              <a:t>binary addition and subtraction</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at the hardware level. Understanding binary arithmetic is therefore the gateway to understanding all digital computation.</a:t>
            </a:r>
            <a:endParaRPr lang="en-US" sz="1200" dirty="0"/>
          </a:p>
        </p:txBody>
      </p:sp>
      <p:sp>
        <p:nvSpPr>
          <p:cNvPr id="9" name="Text 7"/>
          <p:cNvSpPr/>
          <p:nvPr/>
        </p:nvSpPr>
        <p:spPr>
          <a:xfrm>
            <a:off x="661475" y="5114528"/>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Input → Process → Output Model</a:t>
            </a:r>
            <a:endParaRPr lang="en-US" sz="1500" dirty="0"/>
          </a:p>
        </p:txBody>
      </p:sp>
      <p:sp>
        <p:nvSpPr>
          <p:cNvPr id="10" name="Text 8"/>
          <p:cNvSpPr/>
          <p:nvPr/>
        </p:nvSpPr>
        <p:spPr>
          <a:xfrm>
            <a:off x="661475" y="5502077"/>
            <a:ext cx="5245266" cy="720923"/>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Every digital system follows this fundamental paradigm: accept binary inputs, perform logic operations, and produce outputs. The arithmetic calculator studied in this project is a pure embodiment of this model.</a:t>
            </a:r>
            <a:endParaRPr lang="en-US" sz="1200" dirty="0"/>
          </a:p>
        </p:txBody>
      </p:sp>
      <p:sp>
        <p:nvSpPr>
          <p:cNvPr id="11" name="Text 9"/>
          <p:cNvSpPr/>
          <p:nvPr/>
        </p:nvSpPr>
        <p:spPr>
          <a:xfrm>
            <a:off x="6291304" y="1645642"/>
            <a:ext cx="5245266"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Why Arithmetic Calculators Are Foundational</a:t>
            </a:r>
            <a:endParaRPr lang="en-US" sz="1500" dirty="0"/>
          </a:p>
        </p:txBody>
      </p:sp>
      <p:sp>
        <p:nvSpPr>
          <p:cNvPr id="12" name="Text 10"/>
          <p:cNvSpPr/>
          <p:nvPr/>
        </p:nvSpPr>
        <p:spPr>
          <a:xfrm>
            <a:off x="6291304" y="2275384"/>
            <a:ext cx="5245266"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The arithmetic logic unit (ALU) is the computational heart of every CPU. Hardware-level arithmetic circuits are the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core building blocks</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of ALUs, and mastering their design is essential to understanding computer architecture at a fundamental level.</a:t>
            </a:r>
            <a:endParaRPr lang="en-US" sz="1200" dirty="0"/>
          </a:p>
        </p:txBody>
      </p:sp>
      <p:sp>
        <p:nvSpPr>
          <p:cNvPr id="13" name="Shape 11"/>
          <p:cNvSpPr/>
          <p:nvPr/>
        </p:nvSpPr>
        <p:spPr>
          <a:xfrm>
            <a:off x="6291304" y="3400127"/>
            <a:ext cx="5245266" cy="1059855"/>
          </a:xfrm>
          <a:prstGeom prst="roundRect">
            <a:avLst>
              <a:gd name="adj" fmla="val 6144"/>
            </a:avLst>
          </a:prstGeom>
          <a:solidFill>
            <a:srgbClr val="D6F5EE"/>
          </a:solidFill>
          <a:ln/>
        </p:spPr>
      </p:sp>
      <p:pic>
        <p:nvPicPr>
          <p:cNvPr id="14" name="Image 0" descr="preencoded.png">    </p:cNvPr>
          <p:cNvPicPr>
            <a:picLocks noChangeAspect="1"/>
          </p:cNvPicPr>
          <p:nvPr/>
        </p:nvPicPr>
        <p:blipFill>
          <a:blip r:embed="rId1"/>
          <a:stretch>
            <a:fillRect/>
          </a:stretch>
        </p:blipFill>
        <p:spPr>
          <a:xfrm>
            <a:off x="6446279" y="3626346"/>
            <a:ext cx="193769" cy="154980"/>
          </a:xfrm>
          <a:prstGeom prst="rect">
            <a:avLst/>
          </a:prstGeom>
        </p:spPr>
      </p:pic>
      <p:sp>
        <p:nvSpPr>
          <p:cNvPr id="15" name="Text 12"/>
          <p:cNvSpPr/>
          <p:nvPr/>
        </p:nvSpPr>
        <p:spPr>
          <a:xfrm>
            <a:off x="6795025" y="3569593"/>
            <a:ext cx="4586570" cy="720923"/>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000000"/>
                </a:solidFill>
                <a:latin typeface="Open Sans" pitchFamily="34" charset="0"/>
                <a:ea typeface="Open Sans" pitchFamily="34" charset="-122"/>
                <a:cs typeface="Open Sans" pitchFamily="34" charset="-120"/>
              </a:rPr>
              <a:t>Complex processors emerge from combining basic gates (AND, OR, NOT) following Boolean algebra — a principle this project demonstrates end-to-end.</a:t>
            </a:r>
            <a:endParaRPr lang="en-US" sz="1200" dirty="0"/>
          </a:p>
        </p:txBody>
      </p:sp>
      <p:sp>
        <p:nvSpPr>
          <p:cNvPr id="16" name="Text 13"/>
          <p:cNvSpPr/>
          <p:nvPr/>
        </p:nvSpPr>
        <p:spPr>
          <a:xfrm>
            <a:off x="6291304" y="4623495"/>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Hardware from Simple Logic</a:t>
            </a:r>
            <a:endParaRPr lang="en-US" sz="1500" dirty="0"/>
          </a:p>
        </p:txBody>
      </p:sp>
      <p:sp>
        <p:nvSpPr>
          <p:cNvPr id="17" name="Text 14"/>
          <p:cNvSpPr/>
          <p:nvPr/>
        </p:nvSpPr>
        <p:spPr>
          <a:xfrm>
            <a:off x="6291304" y="5011043"/>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The power of digital design lies in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composability</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simple gates combine into half adders, half adders combine into full adders, full adders cascade into multi-bit arithmetic units, and those units form complete ALUs. This hierarchical abstraction is the foundation of all processor design.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486767"/>
            <a:ext cx="796409" cy="235446"/>
          </a:xfrm>
          <a:prstGeom prst="roundRect">
            <a:avLst>
              <a:gd name="adj" fmla="val 22127"/>
            </a:avLst>
          </a:prstGeom>
          <a:solidFill>
            <a:srgbClr val="D6F5EE"/>
          </a:solidFill>
          <a:ln/>
        </p:spPr>
      </p:sp>
      <p:sp>
        <p:nvSpPr>
          <p:cNvPr id="3" name="Text 1"/>
          <p:cNvSpPr/>
          <p:nvPr/>
        </p:nvSpPr>
        <p:spPr>
          <a:xfrm>
            <a:off x="754441" y="533202"/>
            <a:ext cx="1220062" cy="142577"/>
          </a:xfrm>
          <a:prstGeom prst="rect">
            <a:avLst/>
          </a:prstGeom>
          <a:noFill/>
          <a:ln/>
        </p:spPr>
        <p:txBody>
          <a:bodyPr wrap="none" lIns="0" tIns="0" rIns="0" bIns="0" rtlCol="0" anchor="t"/>
          <a:lstStyle/>
          <a:p>
            <a:pPr algn="l" indent="0" marL="0">
              <a:lnSpc>
                <a:spcPct val="96000"/>
              </a:lnSpc>
              <a:buNone/>
            </a:pPr>
            <a:r>
              <a:rPr lang="en-US" sz="950" dirty="0">
                <a:solidFill>
                  <a:srgbClr val="333F70"/>
                </a:solidFill>
                <a:latin typeface="Open Sans" pitchFamily="34" charset="0"/>
                <a:ea typeface="Open Sans" pitchFamily="34" charset="-122"/>
                <a:cs typeface="Open Sans" pitchFamily="34" charset="-120"/>
              </a:rPr>
              <a:t>SECTION 2</a:t>
            </a:r>
            <a:endParaRPr lang="en-US" sz="950" dirty="0"/>
          </a:p>
        </p:txBody>
      </p:sp>
      <p:sp>
        <p:nvSpPr>
          <p:cNvPr id="4" name="Text 2"/>
          <p:cNvSpPr/>
          <p:nvPr/>
        </p:nvSpPr>
        <p:spPr>
          <a:xfrm>
            <a:off x="661475" y="780355"/>
            <a:ext cx="10868745" cy="484485"/>
          </a:xfrm>
          <a:prstGeom prst="rect">
            <a:avLst/>
          </a:prstGeom>
          <a:noFill/>
          <a:ln/>
        </p:spPr>
        <p:txBody>
          <a:bodyPr wrap="none" lIns="0" tIns="0" rIns="0" bIns="0" rtlCol="0" anchor="t"/>
          <a:lstStyle/>
          <a:p>
            <a:pPr algn="l" indent="0" marL="0">
              <a:lnSpc>
                <a:spcPct val="104000"/>
              </a:lnSpc>
              <a:buNone/>
            </a:pPr>
            <a:r>
              <a:rPr lang="en-US" sz="3050" b="1" dirty="0">
                <a:solidFill>
                  <a:srgbClr val="333F70"/>
                </a:solidFill>
                <a:latin typeface="Unbounded Bold" pitchFamily="34" charset="0"/>
                <a:ea typeface="Unbounded Bold" pitchFamily="34" charset="-122"/>
                <a:cs typeface="Unbounded Bold" pitchFamily="34" charset="-120"/>
              </a:rPr>
              <a:t>Problem Statement</a:t>
            </a:r>
            <a:endParaRPr lang="en-US" sz="305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482824"/>
            <a:ext cx="3525948" cy="2844006"/>
          </a:xfrm>
          <a:prstGeom prst="rect">
            <a:avLst/>
          </a:prstGeom>
        </p:spPr>
      </p:pic>
      <p:sp>
        <p:nvSpPr>
          <p:cNvPr id="6" name="Text 3"/>
          <p:cNvSpPr/>
          <p:nvPr/>
        </p:nvSpPr>
        <p:spPr>
          <a:xfrm>
            <a:off x="911698" y="1656854"/>
            <a:ext cx="3101699"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Hardware-Level Circuit Necessity</a:t>
            </a:r>
            <a:endParaRPr lang="en-US" sz="1500" dirty="0"/>
          </a:p>
        </p:txBody>
      </p:sp>
      <p:sp>
        <p:nvSpPr>
          <p:cNvPr id="7" name="Text 4"/>
          <p:cNvSpPr/>
          <p:nvPr/>
        </p:nvSpPr>
        <p:spPr>
          <a:xfrm>
            <a:off x="911698" y="2228453"/>
            <a:ext cx="3101699"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Software simulation alone cannot fully show how arithmetic works at the logic gate level. A hardware-level circuit is needed to understand signal flow and gate interactions.</a:t>
            </a:r>
            <a:endParaRPr lang="en-US" sz="1200" dirty="0"/>
          </a:p>
        </p:txBody>
      </p:sp>
      <p:pic>
        <p:nvPicPr>
          <p:cNvPr id="8"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32774" y="1482824"/>
            <a:ext cx="3526047" cy="2844006"/>
          </a:xfrm>
          <a:prstGeom prst="rect">
            <a:avLst/>
          </a:prstGeom>
        </p:spPr>
      </p:pic>
      <p:sp>
        <p:nvSpPr>
          <p:cNvPr id="9" name="Text 5"/>
          <p:cNvSpPr/>
          <p:nvPr/>
        </p:nvSpPr>
        <p:spPr>
          <a:xfrm>
            <a:off x="4582998" y="1656854"/>
            <a:ext cx="3101798"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Limitations of Manual Computation</a:t>
            </a:r>
            <a:endParaRPr lang="en-US" sz="1500" dirty="0"/>
          </a:p>
        </p:txBody>
      </p:sp>
      <p:sp>
        <p:nvSpPr>
          <p:cNvPr id="10" name="Text 6"/>
          <p:cNvSpPr/>
          <p:nvPr/>
        </p:nvSpPr>
        <p:spPr>
          <a:xfrm>
            <a:off x="4582998" y="2228453"/>
            <a:ext cx="3101798" cy="1441847"/>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Manual binary arithmetic is inherently error-prone and, more critically, fails to illuminate circuit design principles. A working hardware implementation is needed to bridge theoretical arithmetic with practical logic design.</a:t>
            </a:r>
            <a:endParaRPr lang="en-US" sz="12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04173" y="1482824"/>
            <a:ext cx="3526047" cy="2844006"/>
          </a:xfrm>
          <a:prstGeom prst="rect">
            <a:avLst/>
          </a:prstGeom>
        </p:spPr>
      </p:pic>
      <p:sp>
        <p:nvSpPr>
          <p:cNvPr id="12" name="Text 7"/>
          <p:cNvSpPr/>
          <p:nvPr/>
        </p:nvSpPr>
        <p:spPr>
          <a:xfrm>
            <a:off x="8254397" y="1656854"/>
            <a:ext cx="3101798" cy="726579"/>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Signed Number Representation Challenge</a:t>
            </a:r>
            <a:endParaRPr lang="en-US" sz="1500" dirty="0"/>
          </a:p>
        </p:txBody>
      </p:sp>
      <p:sp>
        <p:nvSpPr>
          <p:cNvPr id="13" name="Text 8"/>
          <p:cNvSpPr/>
          <p:nvPr/>
        </p:nvSpPr>
        <p:spPr>
          <a:xfrm>
            <a:off x="8254397" y="2470646"/>
            <a:ext cx="3101798" cy="1682155"/>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Representing negative numbers within a fixed-width binary format requires careful encoding.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Two's complement</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is the industry-standard approach, but its correct implementation at the gate level demands systematic design and verification.</a:t>
            </a:r>
            <a:endParaRPr lang="en-US" sz="12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1475" y="4490343"/>
            <a:ext cx="5361647" cy="1880890"/>
          </a:xfrm>
          <a:prstGeom prst="rect">
            <a:avLst/>
          </a:prstGeom>
        </p:spPr>
      </p:pic>
      <p:sp>
        <p:nvSpPr>
          <p:cNvPr id="15" name="Text 9"/>
          <p:cNvSpPr/>
          <p:nvPr/>
        </p:nvSpPr>
        <p:spPr>
          <a:xfrm>
            <a:off x="911698" y="4664373"/>
            <a:ext cx="4937398"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Overflow Detection in Fixed-Width Arithmetic</a:t>
            </a:r>
            <a:endParaRPr lang="en-US" sz="1500" dirty="0"/>
          </a:p>
        </p:txBody>
      </p:sp>
      <p:sp>
        <p:nvSpPr>
          <p:cNvPr id="16" name="Text 10"/>
          <p:cNvSpPr/>
          <p:nvPr/>
        </p:nvSpPr>
        <p:spPr>
          <a:xfrm>
            <a:off x="911698" y="5235972"/>
            <a:ext cx="4937398"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4-bit binary arithmetic operates within a constrained numeric range. Results that exceed this range produce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silent errors</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without explicit overflow detection logic. Detecting and flagging overflow is critical for arithmetic correctness.</a:t>
            </a:r>
            <a:endParaRPr lang="en-US" sz="1200" dirty="0"/>
          </a:p>
        </p:txBody>
      </p:sp>
      <p:pic>
        <p:nvPicPr>
          <p:cNvPr id="17"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68474" y="4490343"/>
            <a:ext cx="5361746" cy="1880890"/>
          </a:xfrm>
          <a:prstGeom prst="rect">
            <a:avLst/>
          </a:prstGeom>
        </p:spPr>
      </p:pic>
      <p:sp>
        <p:nvSpPr>
          <p:cNvPr id="18" name="Text 11"/>
          <p:cNvSpPr/>
          <p:nvPr/>
        </p:nvSpPr>
        <p:spPr>
          <a:xfrm>
            <a:off x="6418697" y="4664373"/>
            <a:ext cx="4937498"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System Integration Complexity</a:t>
            </a:r>
            <a:endParaRPr lang="en-US" sz="1500" dirty="0"/>
          </a:p>
        </p:txBody>
      </p:sp>
      <p:sp>
        <p:nvSpPr>
          <p:cNvPr id="19" name="Text 12"/>
          <p:cNvSpPr/>
          <p:nvPr/>
        </p:nvSpPr>
        <p:spPr>
          <a:xfrm>
            <a:off x="6418697" y="4993779"/>
            <a:ext cx="4937498"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Combining multiple full adders, mode-control logic, two's complement negation, and overflow detection into a single cohesive, correctly functioning system requires a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systematic design methodology</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 not ad hoc assembly of components.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459383"/>
            <a:ext cx="849986" cy="251420"/>
          </a:xfrm>
          <a:prstGeom prst="roundRect">
            <a:avLst>
              <a:gd name="adj" fmla="val 22103"/>
            </a:avLst>
          </a:prstGeom>
          <a:solidFill>
            <a:srgbClr val="D6F5EE"/>
          </a:solidFill>
          <a:ln/>
        </p:spPr>
      </p:sp>
      <p:sp>
        <p:nvSpPr>
          <p:cNvPr id="3" name="Text 1"/>
          <p:cNvSpPr/>
          <p:nvPr/>
        </p:nvSpPr>
        <p:spPr>
          <a:xfrm>
            <a:off x="760691" y="508992"/>
            <a:ext cx="1261138" cy="152202"/>
          </a:xfrm>
          <a:prstGeom prst="rect">
            <a:avLst/>
          </a:prstGeom>
          <a:noFill/>
          <a:ln/>
        </p:spPr>
        <p:txBody>
          <a:bodyPr wrap="none" lIns="0" tIns="0" rIns="0" bIns="0" rtlCol="0" anchor="t"/>
          <a:lstStyle/>
          <a:p>
            <a:pPr algn="l" indent="0" marL="0">
              <a:lnSpc>
                <a:spcPct val="96000"/>
              </a:lnSpc>
              <a:buNone/>
            </a:pPr>
            <a:r>
              <a:rPr lang="en-US" sz="1000" dirty="0">
                <a:solidFill>
                  <a:srgbClr val="333F70"/>
                </a:solidFill>
                <a:latin typeface="Open Sans" pitchFamily="34" charset="0"/>
                <a:ea typeface="Open Sans" pitchFamily="34" charset="-122"/>
                <a:cs typeface="Open Sans" pitchFamily="34" charset="-120"/>
              </a:rPr>
              <a:t>SECTION 3</a:t>
            </a:r>
            <a:endParaRPr lang="en-US" sz="1000" dirty="0"/>
          </a:p>
        </p:txBody>
      </p:sp>
      <p:sp>
        <p:nvSpPr>
          <p:cNvPr id="4" name="Text 2"/>
          <p:cNvSpPr/>
          <p:nvPr/>
        </p:nvSpPr>
        <p:spPr>
          <a:xfrm>
            <a:off x="661475" y="776883"/>
            <a:ext cx="10868745" cy="516731"/>
          </a:xfrm>
          <a:prstGeom prst="rect">
            <a:avLst/>
          </a:prstGeom>
          <a:noFill/>
          <a:ln/>
        </p:spPr>
        <p:txBody>
          <a:bodyPr wrap="none" lIns="0" tIns="0" rIns="0" bIns="0" rtlCol="0" anchor="t"/>
          <a:lstStyle/>
          <a:p>
            <a:pPr algn="l" indent="0" marL="0">
              <a:lnSpc>
                <a:spcPct val="104000"/>
              </a:lnSpc>
              <a:buNone/>
            </a:pPr>
            <a:r>
              <a:rPr lang="en-US" sz="3250" b="1" dirty="0">
                <a:solidFill>
                  <a:srgbClr val="333F70"/>
                </a:solidFill>
                <a:latin typeface="Unbounded Bold" pitchFamily="34" charset="0"/>
                <a:ea typeface="Unbounded Bold" pitchFamily="34" charset="-122"/>
                <a:cs typeface="Unbounded Bold" pitchFamily="34" charset="-120"/>
              </a:rPr>
              <a:t>Objectives</a:t>
            </a:r>
            <a:endParaRPr lang="en-US" sz="3250" dirty="0"/>
          </a:p>
        </p:txBody>
      </p:sp>
      <p:sp>
        <p:nvSpPr>
          <p:cNvPr id="5" name="Shape 3"/>
          <p:cNvSpPr/>
          <p:nvPr/>
        </p:nvSpPr>
        <p:spPr>
          <a:xfrm>
            <a:off x="661475" y="1727696"/>
            <a:ext cx="372061" cy="372070"/>
          </a:xfrm>
          <a:prstGeom prst="roundRect">
            <a:avLst>
              <a:gd name="adj" fmla="val 18670"/>
            </a:avLst>
          </a:prstGeom>
          <a:solidFill>
            <a:srgbClr val="D6F5EE"/>
          </a:solidFill>
          <a:ln w="6350">
            <a:solidFill>
              <a:srgbClr val="BCDBD4"/>
            </a:solidFill>
            <a:prstDash val="solid"/>
          </a:ln>
        </p:spPr>
      </p:sp>
      <p:sp>
        <p:nvSpPr>
          <p:cNvPr id="6" name="Text 4"/>
          <p:cNvSpPr/>
          <p:nvPr/>
        </p:nvSpPr>
        <p:spPr>
          <a:xfrm>
            <a:off x="723485" y="1758702"/>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1</a:t>
            </a:r>
            <a:endParaRPr lang="en-US" sz="1950" dirty="0"/>
          </a:p>
        </p:txBody>
      </p:sp>
      <p:sp>
        <p:nvSpPr>
          <p:cNvPr id="7" name="Text 5"/>
          <p:cNvSpPr/>
          <p:nvPr/>
        </p:nvSpPr>
        <p:spPr>
          <a:xfrm>
            <a:off x="1198830" y="1784548"/>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Design the Core Adder/Subtractor</a:t>
            </a:r>
            <a:endParaRPr lang="en-US" sz="1600" dirty="0"/>
          </a:p>
        </p:txBody>
      </p:sp>
      <p:sp>
        <p:nvSpPr>
          <p:cNvPr id="8" name="Text 6"/>
          <p:cNvSpPr/>
          <p:nvPr/>
        </p:nvSpPr>
        <p:spPr>
          <a:xfrm>
            <a:off x="1198830" y="2208312"/>
            <a:ext cx="4808020" cy="529233"/>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Construct a 4-bit ripple-carry adder/subtractor at the gate level using elementary logic gates (XOR, AND, OR).</a:t>
            </a:r>
            <a:endParaRPr lang="en-US" sz="1300" dirty="0"/>
          </a:p>
        </p:txBody>
      </p:sp>
      <p:sp>
        <p:nvSpPr>
          <p:cNvPr id="9" name="Shape 7"/>
          <p:cNvSpPr/>
          <p:nvPr/>
        </p:nvSpPr>
        <p:spPr>
          <a:xfrm>
            <a:off x="661475" y="3068241"/>
            <a:ext cx="372061" cy="372070"/>
          </a:xfrm>
          <a:prstGeom prst="roundRect">
            <a:avLst>
              <a:gd name="adj" fmla="val 18670"/>
            </a:avLst>
          </a:prstGeom>
          <a:solidFill>
            <a:srgbClr val="D6F5EE"/>
          </a:solidFill>
          <a:ln w="6350">
            <a:solidFill>
              <a:srgbClr val="BCDBD4"/>
            </a:solidFill>
            <a:prstDash val="solid"/>
          </a:ln>
        </p:spPr>
      </p:sp>
      <p:sp>
        <p:nvSpPr>
          <p:cNvPr id="10" name="Text 8"/>
          <p:cNvSpPr/>
          <p:nvPr/>
        </p:nvSpPr>
        <p:spPr>
          <a:xfrm>
            <a:off x="723485" y="3099246"/>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2</a:t>
            </a:r>
            <a:endParaRPr lang="en-US" sz="1950" dirty="0"/>
          </a:p>
        </p:txBody>
      </p:sp>
      <p:sp>
        <p:nvSpPr>
          <p:cNvPr id="11" name="Text 9"/>
          <p:cNvSpPr/>
          <p:nvPr/>
        </p:nvSpPr>
        <p:spPr>
          <a:xfrm>
            <a:off x="1198830" y="3125093"/>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Implement Two's Complement</a:t>
            </a:r>
            <a:endParaRPr lang="en-US" sz="1600" dirty="0"/>
          </a:p>
        </p:txBody>
      </p:sp>
      <p:sp>
        <p:nvSpPr>
          <p:cNvPr id="12" name="Text 10"/>
          <p:cNvSpPr/>
          <p:nvPr/>
        </p:nvSpPr>
        <p:spPr>
          <a:xfrm>
            <a:off x="1198830" y="3548856"/>
            <a:ext cx="4808020"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Apply two's complement representation for signed arithmetic, enabling the circuit to correctly process both positive and negative integer operands.</a:t>
            </a:r>
            <a:endParaRPr lang="en-US" sz="1300" dirty="0"/>
          </a:p>
        </p:txBody>
      </p:sp>
      <p:sp>
        <p:nvSpPr>
          <p:cNvPr id="13" name="Shape 11"/>
          <p:cNvSpPr/>
          <p:nvPr/>
        </p:nvSpPr>
        <p:spPr>
          <a:xfrm>
            <a:off x="661475" y="4673402"/>
            <a:ext cx="372061" cy="372070"/>
          </a:xfrm>
          <a:prstGeom prst="roundRect">
            <a:avLst>
              <a:gd name="adj" fmla="val 18670"/>
            </a:avLst>
          </a:prstGeom>
          <a:solidFill>
            <a:srgbClr val="D6F5EE"/>
          </a:solidFill>
          <a:ln w="6350">
            <a:solidFill>
              <a:srgbClr val="BCDBD4"/>
            </a:solidFill>
            <a:prstDash val="solid"/>
          </a:ln>
        </p:spPr>
      </p:sp>
      <p:sp>
        <p:nvSpPr>
          <p:cNvPr id="14" name="Text 12"/>
          <p:cNvSpPr/>
          <p:nvPr/>
        </p:nvSpPr>
        <p:spPr>
          <a:xfrm>
            <a:off x="723485" y="4704407"/>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3</a:t>
            </a:r>
            <a:endParaRPr lang="en-US" sz="1950" dirty="0"/>
          </a:p>
        </p:txBody>
      </p:sp>
      <p:sp>
        <p:nvSpPr>
          <p:cNvPr id="15" name="Text 13"/>
          <p:cNvSpPr/>
          <p:nvPr/>
        </p:nvSpPr>
        <p:spPr>
          <a:xfrm>
            <a:off x="1198830" y="4730254"/>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Detect Overflow Conditions</a:t>
            </a:r>
            <a:endParaRPr lang="en-US" sz="1600" dirty="0"/>
          </a:p>
        </p:txBody>
      </p:sp>
      <p:sp>
        <p:nvSpPr>
          <p:cNvPr id="16" name="Text 14"/>
          <p:cNvSpPr/>
          <p:nvPr/>
        </p:nvSpPr>
        <p:spPr>
          <a:xfrm>
            <a:off x="1198830" y="5154017"/>
            <a:ext cx="4808020"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Design dedicated overflow detection logic and expose a 1-bit overflow flag output that correctly identifies out-of-range arithmetic results.</a:t>
            </a:r>
            <a:endParaRPr lang="en-US" sz="1300" dirty="0"/>
          </a:p>
        </p:txBody>
      </p:sp>
      <p:sp>
        <p:nvSpPr>
          <p:cNvPr id="17" name="Shape 15"/>
          <p:cNvSpPr/>
          <p:nvPr/>
        </p:nvSpPr>
        <p:spPr>
          <a:xfrm>
            <a:off x="6416614" y="1727696"/>
            <a:ext cx="372061" cy="372070"/>
          </a:xfrm>
          <a:prstGeom prst="roundRect">
            <a:avLst>
              <a:gd name="adj" fmla="val 18670"/>
            </a:avLst>
          </a:prstGeom>
          <a:solidFill>
            <a:srgbClr val="D6F5EE"/>
          </a:solidFill>
          <a:ln w="6350">
            <a:solidFill>
              <a:srgbClr val="BCDBD4"/>
            </a:solidFill>
            <a:prstDash val="solid"/>
          </a:ln>
        </p:spPr>
      </p:sp>
      <p:sp>
        <p:nvSpPr>
          <p:cNvPr id="18" name="Text 16"/>
          <p:cNvSpPr/>
          <p:nvPr/>
        </p:nvSpPr>
        <p:spPr>
          <a:xfrm>
            <a:off x="6478624" y="1758702"/>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1</a:t>
            </a:r>
            <a:endParaRPr lang="en-US" sz="1950" dirty="0"/>
          </a:p>
        </p:txBody>
      </p:sp>
      <p:sp>
        <p:nvSpPr>
          <p:cNvPr id="19" name="Text 17"/>
          <p:cNvSpPr/>
          <p:nvPr/>
        </p:nvSpPr>
        <p:spPr>
          <a:xfrm>
            <a:off x="6953969" y="1784548"/>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Simulate the Complete Circuit</a:t>
            </a:r>
            <a:endParaRPr lang="en-US" sz="1600" dirty="0"/>
          </a:p>
        </p:txBody>
      </p:sp>
      <p:sp>
        <p:nvSpPr>
          <p:cNvPr id="20" name="Text 18"/>
          <p:cNvSpPr/>
          <p:nvPr/>
        </p:nvSpPr>
        <p:spPr>
          <a:xfrm>
            <a:off x="6953969" y="2208312"/>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Build and simulate the full system in a digital logic simulator (Logisim), observing signal behavior across all gate levels.</a:t>
            </a:r>
            <a:endParaRPr lang="en-US" sz="1300" dirty="0"/>
          </a:p>
        </p:txBody>
      </p:sp>
      <p:sp>
        <p:nvSpPr>
          <p:cNvPr id="21" name="Shape 19"/>
          <p:cNvSpPr/>
          <p:nvPr/>
        </p:nvSpPr>
        <p:spPr>
          <a:xfrm>
            <a:off x="6416614" y="3332857"/>
            <a:ext cx="372061" cy="372070"/>
          </a:xfrm>
          <a:prstGeom prst="roundRect">
            <a:avLst>
              <a:gd name="adj" fmla="val 18670"/>
            </a:avLst>
          </a:prstGeom>
          <a:solidFill>
            <a:srgbClr val="D6F5EE"/>
          </a:solidFill>
          <a:ln w="6350">
            <a:solidFill>
              <a:srgbClr val="BCDBD4"/>
            </a:solidFill>
            <a:prstDash val="solid"/>
          </a:ln>
        </p:spPr>
      </p:sp>
      <p:sp>
        <p:nvSpPr>
          <p:cNvPr id="22" name="Text 20"/>
          <p:cNvSpPr/>
          <p:nvPr/>
        </p:nvSpPr>
        <p:spPr>
          <a:xfrm>
            <a:off x="6478624" y="3363863"/>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2</a:t>
            </a:r>
            <a:endParaRPr lang="en-US" sz="1950" dirty="0"/>
          </a:p>
        </p:txBody>
      </p:sp>
      <p:sp>
        <p:nvSpPr>
          <p:cNvPr id="23" name="Text 21"/>
          <p:cNvSpPr/>
          <p:nvPr/>
        </p:nvSpPr>
        <p:spPr>
          <a:xfrm>
            <a:off x="6953969" y="3389709"/>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Verify Correctness</a:t>
            </a:r>
            <a:endParaRPr lang="en-US" sz="1600" dirty="0"/>
          </a:p>
        </p:txBody>
      </p:sp>
      <p:sp>
        <p:nvSpPr>
          <p:cNvPr id="24" name="Text 22"/>
          <p:cNvSpPr/>
          <p:nvPr/>
        </p:nvSpPr>
        <p:spPr>
          <a:xfrm>
            <a:off x="6953969" y="3813473"/>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Validate the design through truth tables, structured test cases, and simulation results; confirm all outputs match mathematically expected values.</a:t>
            </a:r>
            <a:endParaRPr lang="en-US" sz="1300" dirty="0"/>
          </a:p>
        </p:txBody>
      </p:sp>
      <p:sp>
        <p:nvSpPr>
          <p:cNvPr id="25" name="Shape 23"/>
          <p:cNvSpPr/>
          <p:nvPr/>
        </p:nvSpPr>
        <p:spPr>
          <a:xfrm>
            <a:off x="6416614" y="4938018"/>
            <a:ext cx="372061" cy="372070"/>
          </a:xfrm>
          <a:prstGeom prst="roundRect">
            <a:avLst>
              <a:gd name="adj" fmla="val 18670"/>
            </a:avLst>
          </a:prstGeom>
          <a:solidFill>
            <a:srgbClr val="D6F5EE"/>
          </a:solidFill>
          <a:ln w="6350">
            <a:solidFill>
              <a:srgbClr val="BCDBD4"/>
            </a:solidFill>
            <a:prstDash val="solid"/>
          </a:ln>
        </p:spPr>
      </p:sp>
      <p:sp>
        <p:nvSpPr>
          <p:cNvPr id="26" name="Text 24"/>
          <p:cNvSpPr/>
          <p:nvPr/>
        </p:nvSpPr>
        <p:spPr>
          <a:xfrm>
            <a:off x="6478624" y="4969024"/>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3</a:t>
            </a:r>
            <a:endParaRPr lang="en-US" sz="1950" dirty="0"/>
          </a:p>
        </p:txBody>
      </p:sp>
      <p:sp>
        <p:nvSpPr>
          <p:cNvPr id="27" name="Text 25"/>
          <p:cNvSpPr/>
          <p:nvPr/>
        </p:nvSpPr>
        <p:spPr>
          <a:xfrm>
            <a:off x="6953969" y="4994870"/>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Document the Design Hierarchy</a:t>
            </a:r>
            <a:endParaRPr lang="en-US" sz="1600" dirty="0"/>
          </a:p>
        </p:txBody>
      </p:sp>
      <p:sp>
        <p:nvSpPr>
          <p:cNvPr id="28" name="Text 26"/>
          <p:cNvSpPr/>
          <p:nvPr/>
        </p:nvSpPr>
        <p:spPr>
          <a:xfrm>
            <a:off x="6953969" y="5418634"/>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Produce a complete documentation trail: from primitive gates → half/full adders → 4-bit adder → integrated calculator system.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16049"/>
            <a:ext cx="730133" cy="215801"/>
          </a:xfrm>
          <a:prstGeom prst="roundRect">
            <a:avLst>
              <a:gd name="adj" fmla="val 22130"/>
            </a:avLst>
          </a:prstGeom>
          <a:solidFill>
            <a:srgbClr val="D6F5EE"/>
          </a:solidFill>
          <a:ln/>
        </p:spPr>
      </p:sp>
      <p:sp>
        <p:nvSpPr>
          <p:cNvPr id="3" name="Text 1"/>
          <p:cNvSpPr/>
          <p:nvPr/>
        </p:nvSpPr>
        <p:spPr>
          <a:xfrm>
            <a:off x="746702" y="658614"/>
            <a:ext cx="1169264" cy="130671"/>
          </a:xfrm>
          <a:prstGeom prst="rect">
            <a:avLst/>
          </a:prstGeom>
          <a:noFill/>
          <a:ln/>
        </p:spPr>
        <p:txBody>
          <a:bodyPr wrap="none" lIns="0" tIns="0" rIns="0" bIns="0" rtlCol="0" anchor="t"/>
          <a:lstStyle/>
          <a:p>
            <a:pPr algn="l" indent="0" marL="0">
              <a:lnSpc>
                <a:spcPct val="96000"/>
              </a:lnSpc>
              <a:buNone/>
            </a:pPr>
            <a:r>
              <a:rPr lang="en-US" sz="850" dirty="0">
                <a:solidFill>
                  <a:srgbClr val="333F70"/>
                </a:solidFill>
                <a:latin typeface="Open Sans" pitchFamily="34" charset="0"/>
                <a:ea typeface="Open Sans" pitchFamily="34" charset="-122"/>
                <a:cs typeface="Open Sans" pitchFamily="34" charset="-120"/>
              </a:rPr>
              <a:t>SECTION 4</a:t>
            </a:r>
            <a:endParaRPr lang="en-US" sz="850" dirty="0"/>
          </a:p>
        </p:txBody>
      </p:sp>
      <p:sp>
        <p:nvSpPr>
          <p:cNvPr id="4" name="Text 2"/>
          <p:cNvSpPr/>
          <p:nvPr/>
        </p:nvSpPr>
        <p:spPr>
          <a:xfrm>
            <a:off x="661475" y="880666"/>
            <a:ext cx="10868745" cy="444103"/>
          </a:xfrm>
          <a:prstGeom prst="rect">
            <a:avLst/>
          </a:prstGeom>
          <a:noFill/>
          <a:ln/>
        </p:spPr>
        <p:txBody>
          <a:bodyPr wrap="none" lIns="0" tIns="0" rIns="0" bIns="0" rtlCol="0" anchor="t"/>
          <a:lstStyle/>
          <a:p>
            <a:pPr algn="l" indent="0" marL="0">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Literature Survey &amp; Existing Systems</a:t>
            </a:r>
            <a:endParaRPr lang="en-US" sz="2750" dirty="0"/>
          </a:p>
        </p:txBody>
      </p:sp>
      <p:sp>
        <p:nvSpPr>
          <p:cNvPr id="5" name="Text 3"/>
          <p:cNvSpPr/>
          <p:nvPr/>
        </p:nvSpPr>
        <p:spPr>
          <a:xfrm>
            <a:off x="661475" y="1630065"/>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Ripple-Carry Adders</a:t>
            </a:r>
            <a:endParaRPr lang="en-US" sz="1350" dirty="0"/>
          </a:p>
        </p:txBody>
      </p:sp>
      <p:sp>
        <p:nvSpPr>
          <p:cNvPr id="6" name="Text 4"/>
          <p:cNvSpPr/>
          <p:nvPr/>
        </p:nvSpPr>
        <p:spPr>
          <a:xfrm>
            <a:off x="661475" y="1974255"/>
            <a:ext cx="5821812" cy="1057176"/>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The </a:t>
            </a:r>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ripple-carry adder (RCA)</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is the canonical gate-level design, where carry propagates sequentially through each bit stage. It is conceptually simple and uses minimal logic, making it the standard choice for educational implementations. The trade-off is propagation delay that grows linearly with bit width — a significant limitation for wide datapaths.</a:t>
            </a:r>
            <a:endParaRPr lang="en-US" sz="1100" dirty="0"/>
          </a:p>
        </p:txBody>
      </p:sp>
      <p:sp>
        <p:nvSpPr>
          <p:cNvPr id="7" name="Text 5"/>
          <p:cNvSpPr/>
          <p:nvPr/>
        </p:nvSpPr>
        <p:spPr>
          <a:xfrm>
            <a:off x="661475" y="3153569"/>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Carry-Lookahead Adders</a:t>
            </a:r>
            <a:endParaRPr lang="en-US" sz="1350" dirty="0"/>
          </a:p>
        </p:txBody>
      </p:sp>
      <p:sp>
        <p:nvSpPr>
          <p:cNvPr id="8" name="Text 6"/>
          <p:cNvSpPr/>
          <p:nvPr/>
        </p:nvSpPr>
        <p:spPr>
          <a:xfrm>
            <a:off x="661475" y="3497759"/>
            <a:ext cx="5821812" cy="845741"/>
          </a:xfrm>
          <a:prstGeom prst="rect">
            <a:avLst/>
          </a:prstGeom>
          <a:noFill/>
          <a:ln/>
        </p:spPr>
        <p:txBody>
          <a:bodyPr wrap="square" lIns="0" tIns="0" rIns="0" bIns="0" rtlCol="0" anchor="t">
            <a:normAutofit/>
          </a:bodyPr>
          <a:lstStyle/>
          <a:p>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Carry-lookahead adders (CLA)</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overcome RCA latency by computing carry signals in parallel using generate and propagate signals. This reduces critical path delay to O(log n) at the cost of substantially greater gate complexity — typically impractical for manual gate-level edu</a:t>
            </a:r>
            <a:endParaRPr lang="en-US" sz="1100" dirty="0"/>
          </a:p>
        </p:txBody>
      </p:sp>
      <p:sp>
        <p:nvSpPr>
          <p:cNvPr id="9" name="Text 7"/>
          <p:cNvSpPr/>
          <p:nvPr/>
        </p:nvSpPr>
        <p:spPr>
          <a:xfrm>
            <a:off x="661475" y="4465638"/>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ALU Designs in Real CPUs</a:t>
            </a:r>
            <a:endParaRPr lang="en-US" sz="1350" dirty="0"/>
          </a:p>
        </p:txBody>
      </p:sp>
      <p:sp>
        <p:nvSpPr>
          <p:cNvPr id="10" name="Text 8"/>
          <p:cNvSpPr/>
          <p:nvPr/>
        </p:nvSpPr>
        <p:spPr>
          <a:xfrm>
            <a:off x="661475" y="4809827"/>
            <a:ext cx="5821812"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Modern processor ALUs combine optimized adder structures with multiplexers to support multiple operations: ADD, SUB, AND, OR, XOR, and shift. Real ALU designs abstract the adder as a sub-component and layer control logic on top, exactly the hierarchy this project simulates at the 4-bit educational scale.</a:t>
            </a:r>
            <a:endParaRPr lang="en-US" sz="1100" dirty="0"/>
          </a:p>
        </p:txBody>
      </p:sp>
      <p:sp>
        <p:nvSpPr>
          <p:cNvPr id="11" name="Shape 9"/>
          <p:cNvSpPr/>
          <p:nvPr/>
        </p:nvSpPr>
        <p:spPr>
          <a:xfrm>
            <a:off x="6734007" y="1507927"/>
            <a:ext cx="4904855" cy="4733925"/>
          </a:xfrm>
          <a:prstGeom prst="roundRect">
            <a:avLst>
              <a:gd name="adj" fmla="val 2162"/>
            </a:avLst>
          </a:prstGeom>
          <a:solidFill>
            <a:srgbClr val="DDF8F2"/>
          </a:solidFill>
          <a:ln/>
        </p:spPr>
      </p:sp>
      <p:sp>
        <p:nvSpPr>
          <p:cNvPr id="12" name="Text 10"/>
          <p:cNvSpPr/>
          <p:nvPr/>
        </p:nvSpPr>
        <p:spPr>
          <a:xfrm>
            <a:off x="6876084" y="1630065"/>
            <a:ext cx="4620700"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Comparison of Adder Architectures</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76084" y="1989435"/>
          <a:ext cx="9143771" cy="914400"/>
        </p:xfrm>
        <a:graphic>
          <a:graphicData uri="http://schemas.openxmlformats.org/drawingml/2006/table">
            <a:tbl>
              <a:tblPr/>
              <a:tblGrid>
                <a:gridCol w="1540233"/>
                <a:gridCol w="1540233"/>
                <a:gridCol w="1540233"/>
              </a:tblGrid>
              <a:tr h="373748">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Architecture</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Delay</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Complexity</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6923">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Ripple-Carry</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Low</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6923">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Carry-Lookahead</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O(log 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High</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3748">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Carry-Select</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Medium</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bl>
          </a:graphicData>
        </a:graphic>
      </p:graphicFrame>
      <p:sp>
        <p:nvSpPr>
          <p:cNvPr id="14" name="Text 11"/>
          <p:cNvSpPr/>
          <p:nvPr/>
        </p:nvSpPr>
        <p:spPr>
          <a:xfrm>
            <a:off x="6876084" y="3640832"/>
            <a:ext cx="4620700"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Motivation for 4-Bit Scope</a:t>
            </a:r>
            <a:endParaRPr lang="en-US" sz="1350" dirty="0"/>
          </a:p>
        </p:txBody>
      </p:sp>
      <p:sp>
        <p:nvSpPr>
          <p:cNvPr id="15" name="Text 12"/>
          <p:cNvSpPr/>
          <p:nvPr/>
        </p:nvSpPr>
        <p:spPr>
          <a:xfrm>
            <a:off x="6876084" y="3985022"/>
            <a:ext cx="4620700"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The </a:t>
            </a:r>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4-bit width</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is pedagogically optimal: it is wide enough to demonstrate multi-stage carry propagation, signed arithmetic, and overflow detection, yet narrow enough that truth tables, gate counts, and wiring remain tractable for manual design and classroom review.</a:t>
            </a:r>
            <a:endParaRPr lang="en-US" sz="1100" dirty="0"/>
          </a:p>
        </p:txBody>
      </p:sp>
      <p:sp>
        <p:nvSpPr>
          <p:cNvPr id="16" name="Shape 13"/>
          <p:cNvSpPr/>
          <p:nvPr/>
        </p:nvSpPr>
        <p:spPr>
          <a:xfrm>
            <a:off x="6876084" y="4968081"/>
            <a:ext cx="4620700" cy="1136452"/>
          </a:xfrm>
          <a:prstGeom prst="roundRect">
            <a:avLst>
              <a:gd name="adj" fmla="val 5253"/>
            </a:avLst>
          </a:prstGeom>
          <a:solidFill>
            <a:srgbClr val="D6F5EE"/>
          </a:solidFill>
          <a:ln/>
        </p:spPr>
      </p:sp>
      <p:pic>
        <p:nvPicPr>
          <p:cNvPr id="17" name="Image 0" descr="preencoded.png">    </p:cNvPr>
          <p:cNvPicPr>
            <a:picLocks noChangeAspect="1"/>
          </p:cNvPicPr>
          <p:nvPr/>
        </p:nvPicPr>
        <p:blipFill>
          <a:blip r:embed="rId1"/>
          <a:stretch>
            <a:fillRect/>
          </a:stretch>
        </p:blipFill>
        <p:spPr>
          <a:xfrm>
            <a:off x="7018162" y="5160169"/>
            <a:ext cx="177597" cy="142081"/>
          </a:xfrm>
          <a:prstGeom prst="rect">
            <a:avLst/>
          </a:prstGeom>
        </p:spPr>
      </p:pic>
      <p:sp>
        <p:nvSpPr>
          <p:cNvPr id="18" name="Text 14"/>
          <p:cNvSpPr/>
          <p:nvPr/>
        </p:nvSpPr>
        <p:spPr>
          <a:xfrm>
            <a:off x="7337837" y="5113437"/>
            <a:ext cx="4016870"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000000"/>
                </a:solidFill>
                <a:latin typeface="Open Sans" pitchFamily="34" charset="0"/>
                <a:ea typeface="Open Sans" pitchFamily="34" charset="-122"/>
                <a:cs typeface="Open Sans" pitchFamily="34" charset="-120"/>
              </a:rPr>
              <a:t>Existing educational designs often omit signed arithmetic. This project explicitly includes two's complement and overflow detection to provide a more complete learning experience.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454819"/>
            <a:ext cx="424745" cy="125710"/>
          </a:xfrm>
          <a:prstGeom prst="roundRect">
            <a:avLst>
              <a:gd name="adj" fmla="val 22103"/>
            </a:avLst>
          </a:prstGeom>
          <a:solidFill>
            <a:srgbClr val="D6F5EE"/>
          </a:solidFill>
          <a:ln/>
        </p:spPr>
      </p:sp>
      <p:sp>
        <p:nvSpPr>
          <p:cNvPr id="3" name="Text 1"/>
          <p:cNvSpPr/>
          <p:nvPr/>
        </p:nvSpPr>
        <p:spPr>
          <a:xfrm>
            <a:off x="711083" y="479623"/>
            <a:ext cx="935113" cy="76101"/>
          </a:xfrm>
          <a:prstGeom prst="rect">
            <a:avLst/>
          </a:prstGeom>
          <a:noFill/>
          <a:ln/>
        </p:spPr>
        <p:txBody>
          <a:bodyPr wrap="none" lIns="0" tIns="0" rIns="0" bIns="0" rtlCol="0" anchor="t"/>
          <a:lstStyle/>
          <a:p>
            <a:pPr algn="l" indent="0" marL="0">
              <a:lnSpc>
                <a:spcPct val="96000"/>
              </a:lnSpc>
              <a:buNone/>
            </a:pPr>
            <a:r>
              <a:rPr lang="en-US" sz="500" dirty="0">
                <a:solidFill>
                  <a:srgbClr val="333F70"/>
                </a:solidFill>
                <a:latin typeface="Open Sans" pitchFamily="34" charset="0"/>
                <a:ea typeface="Open Sans" pitchFamily="34" charset="-122"/>
                <a:cs typeface="Open Sans" pitchFamily="34" charset="-120"/>
              </a:rPr>
              <a:t>SECTION 5</a:t>
            </a:r>
            <a:endParaRPr lang="en-US" sz="500" dirty="0"/>
          </a:p>
        </p:txBody>
      </p:sp>
      <p:sp>
        <p:nvSpPr>
          <p:cNvPr id="4" name="Text 2"/>
          <p:cNvSpPr/>
          <p:nvPr/>
        </p:nvSpPr>
        <p:spPr>
          <a:xfrm>
            <a:off x="661475" y="596999"/>
            <a:ext cx="10868745"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Proposed System</a:t>
            </a:r>
            <a:endParaRPr lang="en-US" sz="1600" dirty="0"/>
          </a:p>
        </p:txBody>
      </p:sp>
      <p:sp>
        <p:nvSpPr>
          <p:cNvPr id="5" name="Text 3"/>
          <p:cNvSpPr/>
          <p:nvPr/>
        </p:nvSpPr>
        <p:spPr>
          <a:xfrm>
            <a:off x="661475" y="871934"/>
            <a:ext cx="10868745"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System Overview</a:t>
            </a:r>
            <a:endParaRPr lang="en-US" sz="800" dirty="0"/>
          </a:p>
        </p:txBody>
      </p:sp>
      <p:sp>
        <p:nvSpPr>
          <p:cNvPr id="6" name="Text 4"/>
          <p:cNvSpPr/>
          <p:nvPr/>
        </p:nvSpPr>
        <p:spPr>
          <a:xfrm>
            <a:off x="661475" y="1063129"/>
            <a:ext cx="11478330" cy="99120"/>
          </a:xfrm>
          <a:prstGeom prst="rect">
            <a:avLst/>
          </a:prstGeom>
          <a:noFill/>
          <a:ln/>
        </p:spPr>
        <p:txBody>
          <a:bodyPr wrap="none" lIns="0" tIns="0" rIns="0" bIns="0" rtlCol="0" anchor="t"/>
          <a:lstStyle/>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The proposed system is a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4-bit binary arithmetic calculator</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that accepts two signed 4-bit operands and a 1-bit mode control signal, performs addition or subtraction using a unified adder/subtractor circuit, and outputs a 4-bit result plus a 1-bit overflow flag.</a:t>
            </a:r>
            <a:endParaRPr lang="en-US" sz="650" dirty="0"/>
          </a:p>
        </p:txBody>
      </p:sp>
      <p:sp>
        <p:nvSpPr>
          <p:cNvPr id="7" name="Shape 5"/>
          <p:cNvSpPr/>
          <p:nvPr/>
        </p:nvSpPr>
        <p:spPr>
          <a:xfrm>
            <a:off x="661475" y="1208683"/>
            <a:ext cx="5413736" cy="802878"/>
          </a:xfrm>
          <a:prstGeom prst="roundRect">
            <a:avLst>
              <a:gd name="adj" fmla="val 4326"/>
            </a:avLst>
          </a:prstGeom>
          <a:solidFill>
            <a:srgbClr val="D6F5EE"/>
          </a:solidFill>
          <a:ln w="6350">
            <a:solidFill>
              <a:srgbClr val="BCDBD4"/>
            </a:solidFill>
            <a:prstDash val="solid"/>
          </a:ln>
        </p:spPr>
      </p:sp>
      <p:sp>
        <p:nvSpPr>
          <p:cNvPr id="8" name="Text 6"/>
          <p:cNvSpPr/>
          <p:nvPr/>
        </p:nvSpPr>
        <p:spPr>
          <a:xfrm>
            <a:off x="750472" y="1297682"/>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Input Specification</a:t>
            </a:r>
            <a:endParaRPr lang="en-US" sz="800" dirty="0"/>
          </a:p>
        </p:txBody>
      </p:sp>
      <p:sp>
        <p:nvSpPr>
          <p:cNvPr id="9" name="Text 7"/>
          <p:cNvSpPr/>
          <p:nvPr/>
        </p:nvSpPr>
        <p:spPr>
          <a:xfrm>
            <a:off x="750472" y="1451670"/>
            <a:ext cx="5235742" cy="470892"/>
          </a:xfrm>
          <a:prstGeom prst="rect">
            <a:avLst/>
          </a:prstGeom>
          <a:noFill/>
          <a:ln/>
        </p:spPr>
        <p:txBody>
          <a:bodyPr wrap="square" lIns="0" tIns="0" rIns="0" bIns="0" rtlCol="0" anchor="t"/>
          <a:lstStyle/>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A[3:0]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First 4-bit operand</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B[3:0]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Second 4-bit operand</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Mode</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Control bit: 0 = Add, 1 = Subtract</a:t>
            </a:r>
            <a:endParaRPr lang="en-US" sz="650" dirty="0"/>
          </a:p>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Signed range: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−8 to +7</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(two's complement)</a:t>
            </a:r>
            <a:endParaRPr lang="en-US" sz="650" dirty="0"/>
          </a:p>
        </p:txBody>
      </p:sp>
      <p:sp>
        <p:nvSpPr>
          <p:cNvPr id="10" name="Shape 8"/>
          <p:cNvSpPr/>
          <p:nvPr/>
        </p:nvSpPr>
        <p:spPr>
          <a:xfrm>
            <a:off x="6116484" y="1208683"/>
            <a:ext cx="5413736" cy="802878"/>
          </a:xfrm>
          <a:prstGeom prst="roundRect">
            <a:avLst>
              <a:gd name="adj" fmla="val 4326"/>
            </a:avLst>
          </a:prstGeom>
          <a:solidFill>
            <a:srgbClr val="D6F5EE"/>
          </a:solidFill>
          <a:ln w="6350">
            <a:solidFill>
              <a:srgbClr val="BCDBD4"/>
            </a:solidFill>
            <a:prstDash val="solid"/>
          </a:ln>
        </p:spPr>
      </p:sp>
      <p:sp>
        <p:nvSpPr>
          <p:cNvPr id="11" name="Text 9"/>
          <p:cNvSpPr/>
          <p:nvPr/>
        </p:nvSpPr>
        <p:spPr>
          <a:xfrm>
            <a:off x="6205481" y="1297682"/>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Two's Complement Core</a:t>
            </a:r>
            <a:endParaRPr lang="en-US" sz="800" dirty="0"/>
          </a:p>
        </p:txBody>
      </p:sp>
      <p:sp>
        <p:nvSpPr>
          <p:cNvPr id="12" name="Text 10"/>
          <p:cNvSpPr/>
          <p:nvPr/>
        </p:nvSpPr>
        <p:spPr>
          <a:xfrm>
            <a:off x="6205481" y="1451670"/>
            <a:ext cx="5235742" cy="198239"/>
          </a:xfrm>
          <a:prstGeom prst="rect">
            <a:avLst/>
          </a:prstGeom>
          <a:noFill/>
          <a:ln/>
        </p:spPr>
        <p:txBody>
          <a:bodyPr wrap="square" lIns="0" tIns="0" rIns="0" bIns="0" rtlCol="0" anchor="t">
            <a:normAutofit/>
          </a:bodyPr>
          <a:lstStyle/>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Subtraction is computed as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A − B = A + (−B)</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Negation of B is achieved by XOR-ing each bit of B with the Mode signal, then injecting Mode as the initial carry-in — a clean one-circuit solution for both operations.</a:t>
            </a:r>
            <a:endParaRPr lang="en-US" sz="650" dirty="0"/>
          </a:p>
        </p:txBody>
      </p:sp>
      <p:sp>
        <p:nvSpPr>
          <p:cNvPr id="13" name="Shape 11"/>
          <p:cNvSpPr/>
          <p:nvPr/>
        </p:nvSpPr>
        <p:spPr>
          <a:xfrm>
            <a:off x="661475" y="2052836"/>
            <a:ext cx="5413736" cy="678954"/>
          </a:xfrm>
          <a:prstGeom prst="roundRect">
            <a:avLst>
              <a:gd name="adj" fmla="val 5116"/>
            </a:avLst>
          </a:prstGeom>
          <a:solidFill>
            <a:srgbClr val="D6F5EE"/>
          </a:solidFill>
          <a:ln w="6350">
            <a:solidFill>
              <a:srgbClr val="BCDBD4"/>
            </a:solidFill>
            <a:prstDash val="solid"/>
          </a:ln>
        </p:spPr>
      </p:sp>
      <p:sp>
        <p:nvSpPr>
          <p:cNvPr id="14" name="Text 12"/>
          <p:cNvSpPr/>
          <p:nvPr/>
        </p:nvSpPr>
        <p:spPr>
          <a:xfrm>
            <a:off x="750472" y="2141835"/>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Overflow Detection</a:t>
            </a:r>
            <a:endParaRPr lang="en-US" sz="800" dirty="0"/>
          </a:p>
        </p:txBody>
      </p:sp>
      <p:sp>
        <p:nvSpPr>
          <p:cNvPr id="15" name="Text 13"/>
          <p:cNvSpPr/>
          <p:nvPr/>
        </p:nvSpPr>
        <p:spPr>
          <a:xfrm>
            <a:off x="750472" y="2295823"/>
            <a:ext cx="5235742" cy="322163"/>
          </a:xfrm>
          <a:prstGeom prst="rect">
            <a:avLst/>
          </a:prstGeom>
          <a:noFill/>
          <a:ln/>
        </p:spPr>
        <p:txBody>
          <a:bodyPr wrap="square" lIns="0" tIns="0" rIns="0" bIns="0" rtlCol="0" anchor="t">
            <a:normAutofit/>
          </a:bodyPr>
          <a:lstStyle/>
          <a:p>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A dedicated XOR gate compares the </a:t>
            </a:r>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carry-in and carry-out of the MSB</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(bit 3) stage. Overflow flag is asserted when these differ — indicating the result has exceeded the signed representable range.</a:t>
            </a:r>
            <a:endParaRPr lang="en-US" sz="650" dirty="0"/>
          </a:p>
          <a:p>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OVF = Cin,MSB XOR Cout,MSB</a:t>
            </a:r>
            <a:endParaRPr lang="en-US" sz="650" dirty="0"/>
          </a:p>
        </p:txBody>
      </p:sp>
      <p:sp>
        <p:nvSpPr>
          <p:cNvPr id="16" name="Shape 14"/>
          <p:cNvSpPr/>
          <p:nvPr/>
        </p:nvSpPr>
        <p:spPr>
          <a:xfrm>
            <a:off x="6116484" y="2052836"/>
            <a:ext cx="5413736" cy="678954"/>
          </a:xfrm>
          <a:prstGeom prst="roundRect">
            <a:avLst>
              <a:gd name="adj" fmla="val 5116"/>
            </a:avLst>
          </a:prstGeom>
          <a:solidFill>
            <a:srgbClr val="D6F5EE"/>
          </a:solidFill>
          <a:ln w="6350">
            <a:solidFill>
              <a:srgbClr val="BCDBD4"/>
            </a:solidFill>
            <a:prstDash val="solid"/>
          </a:ln>
        </p:spPr>
      </p:sp>
      <p:sp>
        <p:nvSpPr>
          <p:cNvPr id="17" name="Text 15"/>
          <p:cNvSpPr/>
          <p:nvPr/>
        </p:nvSpPr>
        <p:spPr>
          <a:xfrm>
            <a:off x="6205481" y="2141835"/>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Output Specification</a:t>
            </a:r>
            <a:endParaRPr lang="en-US" sz="800" dirty="0"/>
          </a:p>
        </p:txBody>
      </p:sp>
      <p:sp>
        <p:nvSpPr>
          <p:cNvPr id="18" name="Text 16"/>
          <p:cNvSpPr/>
          <p:nvPr/>
        </p:nvSpPr>
        <p:spPr>
          <a:xfrm>
            <a:off x="6205481" y="2295823"/>
            <a:ext cx="5235742" cy="346968"/>
          </a:xfrm>
          <a:prstGeom prst="rect">
            <a:avLst/>
          </a:prstGeom>
          <a:noFill/>
          <a:ln/>
        </p:spPr>
        <p:txBody>
          <a:bodyPr wrap="square" lIns="0" tIns="0" rIns="0" bIns="0" rtlCol="0" anchor="t"/>
          <a:lstStyle/>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Result[3:0]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4-bit arithmetic result</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OVF</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1-bit overflow flag</a:t>
            </a:r>
            <a:endParaRPr lang="en-US" sz="650" dirty="0"/>
          </a:p>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Gate-level implementation using Boolean sum-of-products expressions throughout</a:t>
            </a:r>
            <a:endParaRPr lang="en-US" sz="650" dirty="0"/>
          </a:p>
        </p:txBody>
      </p:sp>
      <p:pic>
        <p:nvPicPr>
          <p:cNvPr id="19" name="Image 0" descr="preencoded.png">    </p:cNvPr>
          <p:cNvPicPr>
            <a:picLocks noChangeAspect="1"/>
          </p:cNvPicPr>
          <p:nvPr/>
        </p:nvPicPr>
        <p:blipFill>
          <a:blip r:embed="rId1"/>
          <a:stretch>
            <a:fillRect/>
          </a:stretch>
        </p:blipFill>
        <p:spPr>
          <a:xfrm>
            <a:off x="706221" y="2778224"/>
            <a:ext cx="10779153" cy="4648299"/>
          </a:xfrm>
          <a:prstGeom prst="rect">
            <a:avLst/>
          </a:prstGeom>
        </p:spPr>
      </p:pic>
      <p:sp>
        <p:nvSpPr>
          <p:cNvPr id="20" name="Text 17"/>
          <p:cNvSpPr/>
          <p:nvPr/>
        </p:nvSpPr>
        <p:spPr>
          <a:xfrm>
            <a:off x="1431583" y="6545032"/>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Outputs</a:t>
            </a:r>
            <a:endParaRPr lang="en-US" sz="1900" dirty="0"/>
          </a:p>
        </p:txBody>
      </p:sp>
      <p:sp>
        <p:nvSpPr>
          <p:cNvPr id="21" name="Text 18"/>
          <p:cNvSpPr/>
          <p:nvPr/>
        </p:nvSpPr>
        <p:spPr>
          <a:xfrm>
            <a:off x="1431583" y="5469026"/>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4-bit Adder</a:t>
            </a:r>
            <a:endParaRPr lang="en-US" sz="1900" dirty="0"/>
          </a:p>
        </p:txBody>
      </p:sp>
      <p:sp>
        <p:nvSpPr>
          <p:cNvPr id="22" name="Text 19"/>
          <p:cNvSpPr/>
          <p:nvPr/>
        </p:nvSpPr>
        <p:spPr>
          <a:xfrm>
            <a:off x="1431583" y="4403889"/>
            <a:ext cx="2445408" cy="305683"/>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Control Logic</a:t>
            </a:r>
            <a:endParaRPr lang="en-US" sz="1900" dirty="0"/>
          </a:p>
        </p:txBody>
      </p:sp>
      <p:sp>
        <p:nvSpPr>
          <p:cNvPr id="23" name="Text 20"/>
          <p:cNvSpPr/>
          <p:nvPr/>
        </p:nvSpPr>
        <p:spPr>
          <a:xfrm>
            <a:off x="1431583" y="3327882"/>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Inputs</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518716"/>
            <a:ext cx="584086" cy="172641"/>
          </a:xfrm>
          <a:prstGeom prst="roundRect">
            <a:avLst>
              <a:gd name="adj" fmla="val 22130"/>
            </a:avLst>
          </a:prstGeom>
          <a:solidFill>
            <a:srgbClr val="D6F5EE"/>
          </a:solidFill>
          <a:ln/>
        </p:spPr>
      </p:sp>
      <p:sp>
        <p:nvSpPr>
          <p:cNvPr id="3" name="Text 1"/>
          <p:cNvSpPr/>
          <p:nvPr/>
        </p:nvSpPr>
        <p:spPr>
          <a:xfrm>
            <a:off x="729636" y="552748"/>
            <a:ext cx="1057348" cy="104577"/>
          </a:xfrm>
          <a:prstGeom prst="rect">
            <a:avLst/>
          </a:prstGeom>
          <a:noFill/>
          <a:ln/>
        </p:spPr>
        <p:txBody>
          <a:bodyPr wrap="none" lIns="0" tIns="0" rIns="0" bIns="0" rtlCol="0" anchor="t"/>
          <a:lstStyle/>
          <a:p>
            <a:pPr algn="l" indent="0" marL="0">
              <a:lnSpc>
                <a:spcPct val="96000"/>
              </a:lnSpc>
              <a:buNone/>
            </a:pPr>
            <a:r>
              <a:rPr lang="en-US" sz="700" dirty="0">
                <a:solidFill>
                  <a:srgbClr val="333F70"/>
                </a:solidFill>
                <a:latin typeface="Open Sans" pitchFamily="34" charset="0"/>
                <a:ea typeface="Open Sans" pitchFamily="34" charset="-122"/>
                <a:cs typeface="Open Sans" pitchFamily="34" charset="-120"/>
              </a:rPr>
              <a:t>SECTION 6</a:t>
            </a:r>
            <a:endParaRPr lang="en-US" sz="700" dirty="0"/>
          </a:p>
        </p:txBody>
      </p:sp>
      <p:sp>
        <p:nvSpPr>
          <p:cNvPr id="4" name="Text 2"/>
          <p:cNvSpPr/>
          <p:nvPr/>
        </p:nvSpPr>
        <p:spPr>
          <a:xfrm>
            <a:off x="661475" y="722610"/>
            <a:ext cx="10868745" cy="355302"/>
          </a:xfrm>
          <a:prstGeom prst="rect">
            <a:avLst/>
          </a:prstGeom>
          <a:noFill/>
          <a:ln/>
        </p:spPr>
        <p:txBody>
          <a:bodyPr wrap="none" lIns="0" tIns="0" rIns="0" bIns="0" rtlCol="0" anchor="t"/>
          <a:lstStyle/>
          <a:p>
            <a:pPr algn="l" indent="0" marL="0">
              <a:lnSpc>
                <a:spcPct val="104000"/>
              </a:lnSpc>
              <a:buNone/>
            </a:pPr>
            <a:r>
              <a:rPr lang="en-US" sz="2200" b="1" dirty="0">
                <a:solidFill>
                  <a:srgbClr val="333F70"/>
                </a:solidFill>
                <a:latin typeface="Unbounded Bold" pitchFamily="34" charset="0"/>
                <a:ea typeface="Unbounded Bold" pitchFamily="34" charset="-122"/>
                <a:cs typeface="Unbounded Bold" pitchFamily="34" charset="-120"/>
              </a:rPr>
              <a:t>System Architecture &amp; Block Diagram</a:t>
            </a:r>
            <a:endParaRPr lang="en-US" sz="2200" dirty="0"/>
          </a:p>
        </p:txBody>
      </p:sp>
      <p:sp>
        <p:nvSpPr>
          <p:cNvPr id="5" name="Text 3"/>
          <p:cNvSpPr/>
          <p:nvPr/>
        </p:nvSpPr>
        <p:spPr>
          <a:xfrm>
            <a:off x="661475" y="1273175"/>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Architectural Components</a:t>
            </a:r>
            <a:endParaRPr lang="en-US" sz="1100" dirty="0"/>
          </a:p>
        </p:txBody>
      </p:sp>
      <p:sp>
        <p:nvSpPr>
          <p:cNvPr id="6" name="Text 4"/>
          <p:cNvSpPr/>
          <p:nvPr/>
        </p:nvSpPr>
        <p:spPr>
          <a:xfrm>
            <a:off x="661475" y="1538784"/>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01</a:t>
            </a:r>
            <a:endParaRPr lang="en-US" sz="850" dirty="0"/>
          </a:p>
        </p:txBody>
      </p:sp>
      <p:sp>
        <p:nvSpPr>
          <p:cNvPr id="7" name="Shape 5"/>
          <p:cNvSpPr/>
          <p:nvPr/>
        </p:nvSpPr>
        <p:spPr>
          <a:xfrm>
            <a:off x="661475" y="1719263"/>
            <a:ext cx="4738271" cy="12700"/>
          </a:xfrm>
          <a:prstGeom prst="rect">
            <a:avLst/>
          </a:prstGeom>
          <a:solidFill>
            <a:srgbClr val="26A688"/>
          </a:solidFill>
          <a:ln/>
        </p:spPr>
      </p:sp>
      <p:sp>
        <p:nvSpPr>
          <p:cNvPr id="8" name="Text 6"/>
          <p:cNvSpPr/>
          <p:nvPr/>
        </p:nvSpPr>
        <p:spPr>
          <a:xfrm>
            <a:off x="661475" y="1801515"/>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Input Stage</a:t>
            </a:r>
            <a:endParaRPr lang="en-US" sz="1100" dirty="0"/>
          </a:p>
        </p:txBody>
      </p:sp>
      <p:sp>
        <p:nvSpPr>
          <p:cNvPr id="9" name="Text 7"/>
          <p:cNvSpPr/>
          <p:nvPr/>
        </p:nvSpPr>
        <p:spPr>
          <a:xfrm>
            <a:off x="661475" y="2057301"/>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Two 4-bit input registers hold operands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A[3:0]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and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B[3:0]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 single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Mode</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bit selects add (0) or subtract (1).</a:t>
            </a:r>
            <a:endParaRPr lang="en-US" sz="850" dirty="0"/>
          </a:p>
        </p:txBody>
      </p:sp>
      <p:sp>
        <p:nvSpPr>
          <p:cNvPr id="10" name="Text 8"/>
          <p:cNvSpPr/>
          <p:nvPr/>
        </p:nvSpPr>
        <p:spPr>
          <a:xfrm>
            <a:off x="661475" y="2527598"/>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02</a:t>
            </a:r>
            <a:endParaRPr lang="en-US" sz="850" dirty="0"/>
          </a:p>
        </p:txBody>
      </p:sp>
      <p:sp>
        <p:nvSpPr>
          <p:cNvPr id="11" name="Shape 9"/>
          <p:cNvSpPr/>
          <p:nvPr/>
        </p:nvSpPr>
        <p:spPr>
          <a:xfrm>
            <a:off x="661475" y="2708077"/>
            <a:ext cx="4738271" cy="12700"/>
          </a:xfrm>
          <a:prstGeom prst="rect">
            <a:avLst/>
          </a:prstGeom>
          <a:solidFill>
            <a:srgbClr val="26A688"/>
          </a:solidFill>
          <a:ln/>
        </p:spPr>
      </p:sp>
      <p:sp>
        <p:nvSpPr>
          <p:cNvPr id="12" name="Text 10"/>
          <p:cNvSpPr/>
          <p:nvPr/>
        </p:nvSpPr>
        <p:spPr>
          <a:xfrm>
            <a:off x="661475" y="2790329"/>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B-Input XOR Array</a:t>
            </a:r>
            <a:endParaRPr lang="en-US" sz="1100" dirty="0"/>
          </a:p>
        </p:txBody>
      </p:sp>
      <p:sp>
        <p:nvSpPr>
          <p:cNvPr id="13" name="Text 11"/>
          <p:cNvSpPr/>
          <p:nvPr/>
        </p:nvSpPr>
        <p:spPr>
          <a:xfrm>
            <a:off x="661475" y="3046115"/>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Four XOR gates on B inputs: each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B[i] XOR Mode</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passes B unchanged for addition or inverts B for subtraction. Mode is also injected as Cin of FA-0.</a:t>
            </a:r>
            <a:endParaRPr lang="en-US" sz="850" dirty="0"/>
          </a:p>
        </p:txBody>
      </p:sp>
      <p:sp>
        <p:nvSpPr>
          <p:cNvPr id="14" name="Text 12"/>
          <p:cNvSpPr/>
          <p:nvPr/>
        </p:nvSpPr>
        <p:spPr>
          <a:xfrm>
            <a:off x="661475" y="3516412"/>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03</a:t>
            </a:r>
            <a:endParaRPr lang="en-US" sz="850" dirty="0"/>
          </a:p>
        </p:txBody>
      </p:sp>
      <p:sp>
        <p:nvSpPr>
          <p:cNvPr id="15" name="Shape 13"/>
          <p:cNvSpPr/>
          <p:nvPr/>
        </p:nvSpPr>
        <p:spPr>
          <a:xfrm>
            <a:off x="661475" y="3696891"/>
            <a:ext cx="4738271" cy="12700"/>
          </a:xfrm>
          <a:prstGeom prst="rect">
            <a:avLst/>
          </a:prstGeom>
          <a:solidFill>
            <a:srgbClr val="26A688"/>
          </a:solidFill>
          <a:ln/>
        </p:spPr>
      </p:sp>
      <p:sp>
        <p:nvSpPr>
          <p:cNvPr id="16" name="Text 14"/>
          <p:cNvSpPr/>
          <p:nvPr/>
        </p:nvSpPr>
        <p:spPr>
          <a:xfrm>
            <a:off x="661475" y="3779143"/>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Ripple-Carry Adder Unit</a:t>
            </a:r>
            <a:endParaRPr lang="en-US" sz="1100" dirty="0"/>
          </a:p>
        </p:txBody>
      </p:sp>
      <p:sp>
        <p:nvSpPr>
          <p:cNvPr id="17" name="Text 15"/>
          <p:cNvSpPr/>
          <p:nvPr/>
        </p:nvSpPr>
        <p:spPr>
          <a:xfrm>
            <a:off x="661475" y="4034929"/>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Four full adders (FA-0 through FA-3) cascaded in sequence. Carry-out of FA-i connects to carry-in of FA-(i+1), propagating through all bit stages.</a:t>
            </a:r>
            <a:endParaRPr lang="en-US" sz="850" dirty="0"/>
          </a:p>
        </p:txBody>
      </p:sp>
      <p:sp>
        <p:nvSpPr>
          <p:cNvPr id="18" name="Text 16"/>
          <p:cNvSpPr/>
          <p:nvPr/>
        </p:nvSpPr>
        <p:spPr>
          <a:xfrm>
            <a:off x="661475" y="4505226"/>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04</a:t>
            </a:r>
            <a:endParaRPr lang="en-US" sz="850" dirty="0"/>
          </a:p>
        </p:txBody>
      </p:sp>
      <p:sp>
        <p:nvSpPr>
          <p:cNvPr id="19" name="Shape 17"/>
          <p:cNvSpPr/>
          <p:nvPr/>
        </p:nvSpPr>
        <p:spPr>
          <a:xfrm>
            <a:off x="661475" y="4685705"/>
            <a:ext cx="4738271" cy="12700"/>
          </a:xfrm>
          <a:prstGeom prst="rect">
            <a:avLst/>
          </a:prstGeom>
          <a:solidFill>
            <a:srgbClr val="26A688"/>
          </a:solidFill>
          <a:ln/>
        </p:spPr>
      </p:sp>
      <p:sp>
        <p:nvSpPr>
          <p:cNvPr id="20" name="Text 18"/>
          <p:cNvSpPr/>
          <p:nvPr/>
        </p:nvSpPr>
        <p:spPr>
          <a:xfrm>
            <a:off x="661475" y="4767957"/>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Overflow Detection Logic</a:t>
            </a:r>
            <a:endParaRPr lang="en-US" sz="1100" dirty="0"/>
          </a:p>
        </p:txBody>
      </p:sp>
      <p:sp>
        <p:nvSpPr>
          <p:cNvPr id="21" name="Text 19"/>
          <p:cNvSpPr/>
          <p:nvPr/>
        </p:nvSpPr>
        <p:spPr>
          <a:xfrm>
            <a:off x="661475" y="5023743"/>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Single XOR gate: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OVF = Cin,3 XOR Cout,3</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Compares MSB carry signals to detect signed overflow.</a:t>
            </a:r>
            <a:endParaRPr lang="en-US" sz="850" dirty="0"/>
          </a:p>
        </p:txBody>
      </p:sp>
      <p:sp>
        <p:nvSpPr>
          <p:cNvPr id="22" name="Text 20"/>
          <p:cNvSpPr/>
          <p:nvPr/>
        </p:nvSpPr>
        <p:spPr>
          <a:xfrm>
            <a:off x="661475" y="5494040"/>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05</a:t>
            </a:r>
            <a:endParaRPr lang="en-US" sz="850" dirty="0"/>
          </a:p>
        </p:txBody>
      </p:sp>
      <p:sp>
        <p:nvSpPr>
          <p:cNvPr id="23" name="Shape 21"/>
          <p:cNvSpPr/>
          <p:nvPr/>
        </p:nvSpPr>
        <p:spPr>
          <a:xfrm>
            <a:off x="661475" y="5674519"/>
            <a:ext cx="4738271" cy="12700"/>
          </a:xfrm>
          <a:prstGeom prst="rect">
            <a:avLst/>
          </a:prstGeom>
          <a:solidFill>
            <a:srgbClr val="26A688"/>
          </a:solidFill>
          <a:ln/>
        </p:spPr>
      </p:sp>
      <p:sp>
        <p:nvSpPr>
          <p:cNvPr id="24" name="Text 22"/>
          <p:cNvSpPr/>
          <p:nvPr/>
        </p:nvSpPr>
        <p:spPr>
          <a:xfrm>
            <a:off x="661475" y="5756771"/>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Output Stage</a:t>
            </a:r>
            <a:endParaRPr lang="en-US" sz="1100" dirty="0"/>
          </a:p>
        </p:txBody>
      </p:sp>
      <p:sp>
        <p:nvSpPr>
          <p:cNvPr id="25" name="Text 23"/>
          <p:cNvSpPr/>
          <p:nvPr/>
        </p:nvSpPr>
        <p:spPr>
          <a:xfrm>
            <a:off x="661475" y="6012557"/>
            <a:ext cx="4738271" cy="153491"/>
          </a:xfrm>
          <a:prstGeom prst="rect">
            <a:avLst/>
          </a:prstGeom>
          <a:noFill/>
          <a:ln/>
        </p:spPr>
        <p:txBody>
          <a:bodyPr wrap="none" lIns="0" tIns="0" rIns="0" bIns="0" rtlCol="0" anchor="t"/>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4-bit result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S[3:0]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and 1-bit overflow flag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OVF</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are produced as final circuit outputs.</a:t>
            </a:r>
            <a:endParaRPr lang="en-US" sz="850" dirty="0"/>
          </a:p>
        </p:txBody>
      </p:sp>
      <p:sp>
        <p:nvSpPr>
          <p:cNvPr id="26" name="Text 24"/>
          <p:cNvSpPr/>
          <p:nvPr/>
        </p:nvSpPr>
        <p:spPr>
          <a:xfrm>
            <a:off x="5683505" y="1273175"/>
            <a:ext cx="5852966"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Data Flow Summary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83505" y="1538784"/>
          <a:ext cx="9143771" cy="914400"/>
        </p:xfrm>
        <a:graphic>
          <a:graphicData uri="http://schemas.openxmlformats.org/drawingml/2006/table">
            <a:tbl>
              <a:tblPr/>
              <a:tblGrid>
                <a:gridCol w="1950989"/>
                <a:gridCol w="1950989"/>
                <a:gridCol w="1950989"/>
              </a:tblGrid>
              <a:tr h="263022">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Signal</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Width</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Description</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A[3:0]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First operand (signed)</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Second operand (signed)</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Mode</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0 = Add, 1 = Subtract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419685">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 XOR Mode (conditional inversion)</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419685">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Cin,0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Mode (carry seed for two's complement)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Arithmetic result output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3022">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OVF</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Signed overflow flag</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bl>
          </a:graphicData>
        </a:graphic>
      </p:graphicFrame>
      <p:sp>
        <p:nvSpPr>
          <p:cNvPr id="28" name="Shape 25"/>
          <p:cNvSpPr/>
          <p:nvPr/>
        </p:nvSpPr>
        <p:spPr>
          <a:xfrm>
            <a:off x="5683505" y="4069655"/>
            <a:ext cx="5852966" cy="504428"/>
          </a:xfrm>
          <a:prstGeom prst="roundRect">
            <a:avLst>
              <a:gd name="adj" fmla="val 9467"/>
            </a:avLst>
          </a:prstGeom>
          <a:solidFill>
            <a:srgbClr val="D6F5EE"/>
          </a:solidFill>
          <a:ln/>
        </p:spPr>
      </p:sp>
      <p:pic>
        <p:nvPicPr>
          <p:cNvPr id="29" name="Image 0" descr="preencoded.png">    </p:cNvPr>
          <p:cNvPicPr>
            <a:picLocks noChangeAspect="1"/>
          </p:cNvPicPr>
          <p:nvPr/>
        </p:nvPicPr>
        <p:blipFill>
          <a:blip r:embed="rId1"/>
          <a:stretch>
            <a:fillRect/>
          </a:stretch>
        </p:blipFill>
        <p:spPr>
          <a:xfrm>
            <a:off x="5797207" y="4197251"/>
            <a:ext cx="142078" cy="113705"/>
          </a:xfrm>
          <a:prstGeom prst="rect">
            <a:avLst/>
          </a:prstGeom>
        </p:spPr>
      </p:pic>
      <p:sp>
        <p:nvSpPr>
          <p:cNvPr id="30" name="Text 26"/>
          <p:cNvSpPr/>
          <p:nvPr/>
        </p:nvSpPr>
        <p:spPr>
          <a:xfrm>
            <a:off x="6052986" y="4168378"/>
            <a:ext cx="5369783"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000000"/>
                </a:solidFill>
                <a:latin typeface="Open Sans" pitchFamily="34" charset="0"/>
                <a:ea typeface="Open Sans" pitchFamily="34" charset="-122"/>
                <a:cs typeface="Open Sans" pitchFamily="34" charset="-120"/>
              </a:rPr>
              <a:t>The XOR trick — feeding Mode into both the B input gates and carry-in — is what allows a single cascaded adder to serve as both an adder and a two's complement subtractor.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508893"/>
            <a:ext cx="504316" cy="149027"/>
          </a:xfrm>
          <a:prstGeom prst="roundRect">
            <a:avLst>
              <a:gd name="adj" fmla="val 22141"/>
            </a:avLst>
          </a:prstGeom>
          <a:solidFill>
            <a:srgbClr val="D6F5EE"/>
          </a:solidFill>
          <a:ln/>
        </p:spPr>
      </p:sp>
      <p:sp>
        <p:nvSpPr>
          <p:cNvPr id="3" name="Text 1"/>
          <p:cNvSpPr/>
          <p:nvPr/>
        </p:nvSpPr>
        <p:spPr>
          <a:xfrm>
            <a:off x="720310" y="538262"/>
            <a:ext cx="996231" cy="90289"/>
          </a:xfrm>
          <a:prstGeom prst="rect">
            <a:avLst/>
          </a:prstGeom>
          <a:noFill/>
          <a:ln/>
        </p:spPr>
        <p:txBody>
          <a:bodyPr wrap="none" lIns="0" tIns="0" rIns="0" bIns="0" rtlCol="0" anchor="t"/>
          <a:lstStyle/>
          <a:p>
            <a:pPr algn="l" indent="0" marL="0">
              <a:lnSpc>
                <a:spcPct val="96000"/>
              </a:lnSpc>
              <a:buNone/>
            </a:pPr>
            <a:r>
              <a:rPr lang="en-US" sz="600" dirty="0">
                <a:solidFill>
                  <a:srgbClr val="333F70"/>
                </a:solidFill>
                <a:latin typeface="Open Sans" pitchFamily="34" charset="0"/>
                <a:ea typeface="Open Sans" pitchFamily="34" charset="-122"/>
                <a:cs typeface="Open Sans" pitchFamily="34" charset="-120"/>
              </a:rPr>
              <a:t>SECTION 7</a:t>
            </a:r>
            <a:endParaRPr lang="en-US" sz="600" dirty="0"/>
          </a:p>
        </p:txBody>
      </p:sp>
      <p:sp>
        <p:nvSpPr>
          <p:cNvPr id="4" name="Text 2"/>
          <p:cNvSpPr/>
          <p:nvPr/>
        </p:nvSpPr>
        <p:spPr>
          <a:xfrm>
            <a:off x="661475" y="681236"/>
            <a:ext cx="10868745" cy="306784"/>
          </a:xfrm>
          <a:prstGeom prst="rect">
            <a:avLst/>
          </a:prstGeom>
          <a:noFill/>
          <a:ln/>
        </p:spPr>
        <p:txBody>
          <a:bodyPr wrap="none" lIns="0" tIns="0" rIns="0" bIns="0" rtlCol="0" anchor="t"/>
          <a:lstStyle/>
          <a:p>
            <a:pPr algn="l" indent="0" marL="0">
              <a:lnSpc>
                <a:spcPct val="104000"/>
              </a:lnSpc>
              <a:buNone/>
            </a:pPr>
            <a:r>
              <a:rPr lang="en-US" sz="1900" b="1" dirty="0">
                <a:solidFill>
                  <a:srgbClr val="333F70"/>
                </a:solidFill>
                <a:latin typeface="Unbounded Bold" pitchFamily="34" charset="0"/>
                <a:ea typeface="Unbounded Bold" pitchFamily="34" charset="-122"/>
                <a:cs typeface="Unbounded Bold" pitchFamily="34" charset="-120"/>
              </a:rPr>
              <a:t>Methodology &amp; Implementation</a:t>
            </a:r>
            <a:endParaRPr lang="en-US" sz="19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141016"/>
            <a:ext cx="2628140" cy="1063625"/>
          </a:xfrm>
          <a:prstGeom prst="rect">
            <a:avLst/>
          </a:prstGeom>
        </p:spPr>
      </p:pic>
      <p:sp>
        <p:nvSpPr>
          <p:cNvPr id="6" name="Text 3"/>
          <p:cNvSpPr/>
          <p:nvPr/>
        </p:nvSpPr>
        <p:spPr>
          <a:xfrm>
            <a:off x="1901877"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1</a:t>
            </a:r>
            <a:endParaRPr lang="en-US" sz="1150" dirty="0"/>
          </a:p>
        </p:txBody>
      </p:sp>
      <p:sp>
        <p:nvSpPr>
          <p:cNvPr id="7" name="Text 4"/>
          <p:cNvSpPr/>
          <p:nvPr/>
        </p:nvSpPr>
        <p:spPr>
          <a:xfrm>
            <a:off x="772299" y="1506538"/>
            <a:ext cx="2406491"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Number Representation</a:t>
            </a:r>
            <a:endParaRPr lang="en-US" sz="950" dirty="0"/>
          </a:p>
        </p:txBody>
      </p:sp>
      <p:sp>
        <p:nvSpPr>
          <p:cNvPr id="8" name="Text 5"/>
          <p:cNvSpPr/>
          <p:nvPr/>
        </p:nvSpPr>
        <p:spPr>
          <a:xfrm>
            <a:off x="772299" y="1718171"/>
            <a:ext cx="2406491"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Define binary, hexadecimal, and two's complement encoding for 4-bit signed integers. Signed range: −8 (1000) to +7 (0111).</a:t>
            </a:r>
            <a:endParaRPr lang="en-US" sz="7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47855" y="1141016"/>
            <a:ext cx="2628239" cy="1063625"/>
          </a:xfrm>
          <a:prstGeom prst="rect">
            <a:avLst/>
          </a:prstGeom>
        </p:spPr>
      </p:pic>
      <p:sp>
        <p:nvSpPr>
          <p:cNvPr id="10" name="Text 6"/>
          <p:cNvSpPr/>
          <p:nvPr/>
        </p:nvSpPr>
        <p:spPr>
          <a:xfrm>
            <a:off x="4588356"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2</a:t>
            </a:r>
            <a:endParaRPr lang="en-US" sz="1150" dirty="0"/>
          </a:p>
        </p:txBody>
      </p:sp>
      <p:sp>
        <p:nvSpPr>
          <p:cNvPr id="11" name="Text 7"/>
          <p:cNvSpPr/>
          <p:nvPr/>
        </p:nvSpPr>
        <p:spPr>
          <a:xfrm>
            <a:off x="3458679" y="1506538"/>
            <a:ext cx="2406590"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Truth Tables</a:t>
            </a:r>
            <a:endParaRPr lang="en-US" sz="950" dirty="0"/>
          </a:p>
        </p:txBody>
      </p:sp>
      <p:sp>
        <p:nvSpPr>
          <p:cNvPr id="12" name="Text 8"/>
          <p:cNvSpPr/>
          <p:nvPr/>
        </p:nvSpPr>
        <p:spPr>
          <a:xfrm>
            <a:off x="3458679" y="1718171"/>
            <a:ext cx="2406590"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Derive truth tables for the half adder (2 inputs → Sum, Carry) and full adder (3 inputs: A, B, Cin → Sum, Cout). Full adder: 2³ =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8 rows</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a:t>
            </a:r>
            <a:endParaRPr lang="en-US" sz="75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1475" y="2262882"/>
            <a:ext cx="2628140" cy="1188839"/>
          </a:xfrm>
          <a:prstGeom prst="rect">
            <a:avLst/>
          </a:prstGeom>
        </p:spPr>
      </p:pic>
      <p:sp>
        <p:nvSpPr>
          <p:cNvPr id="14" name="Text 9"/>
          <p:cNvSpPr/>
          <p:nvPr/>
        </p:nvSpPr>
        <p:spPr>
          <a:xfrm>
            <a:off x="1901877" y="2327672"/>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3</a:t>
            </a:r>
            <a:endParaRPr lang="en-US" sz="1150" dirty="0"/>
          </a:p>
        </p:txBody>
      </p:sp>
      <p:sp>
        <p:nvSpPr>
          <p:cNvPr id="15" name="Text 10"/>
          <p:cNvSpPr/>
          <p:nvPr/>
        </p:nvSpPr>
        <p:spPr>
          <a:xfrm>
            <a:off x="772299" y="2628404"/>
            <a:ext cx="2406491"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Boolean Expressions</a:t>
            </a:r>
            <a:endParaRPr lang="en-US" sz="950" dirty="0"/>
          </a:p>
        </p:txBody>
      </p:sp>
      <p:sp>
        <p:nvSpPr>
          <p:cNvPr id="16" name="Text 11"/>
          <p:cNvSpPr/>
          <p:nvPr/>
        </p:nvSpPr>
        <p:spPr>
          <a:xfrm>
            <a:off x="772299" y="2840038"/>
            <a:ext cx="2406491"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Convert truth tables to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sum-of-products (SOP)</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 expressions. Full adder: Sum = A⊕B⊕Cin; Cout = AB + BCin + ACin.</a:t>
            </a:r>
            <a:endParaRPr lang="en-US" sz="750" dirty="0"/>
          </a:p>
        </p:txBody>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347855" y="2262882"/>
            <a:ext cx="2628239" cy="1188839"/>
          </a:xfrm>
          <a:prstGeom prst="rect">
            <a:avLst/>
          </a:prstGeom>
        </p:spPr>
      </p:pic>
      <p:sp>
        <p:nvSpPr>
          <p:cNvPr id="18" name="Text 12"/>
          <p:cNvSpPr/>
          <p:nvPr/>
        </p:nvSpPr>
        <p:spPr>
          <a:xfrm>
            <a:off x="4588356" y="2327672"/>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4</a:t>
            </a:r>
            <a:endParaRPr lang="en-US" sz="1150" dirty="0"/>
          </a:p>
        </p:txBody>
      </p:sp>
      <p:sp>
        <p:nvSpPr>
          <p:cNvPr id="19" name="Text 13"/>
          <p:cNvSpPr/>
          <p:nvPr/>
        </p:nvSpPr>
        <p:spPr>
          <a:xfrm>
            <a:off x="3458679" y="2628404"/>
            <a:ext cx="2406590"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Gate-Level Circuits</a:t>
            </a:r>
            <a:endParaRPr lang="en-US" sz="950" dirty="0"/>
          </a:p>
        </p:txBody>
      </p:sp>
      <p:sp>
        <p:nvSpPr>
          <p:cNvPr id="20" name="Text 14"/>
          <p:cNvSpPr/>
          <p:nvPr/>
        </p:nvSpPr>
        <p:spPr>
          <a:xfrm>
            <a:off x="3458679" y="2840038"/>
            <a:ext cx="2406590" cy="500856"/>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Implement SOP expressions using AND, OR, and NOT gates. Recognize XOR gate patterns to simplify the sum output. Draw schematic for each sub-circuit.</a:t>
            </a:r>
            <a:endParaRPr lang="en-US" sz="750" dirty="0"/>
          </a:p>
        </p:txBody>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21951" y="1141016"/>
            <a:ext cx="5314619" cy="938411"/>
          </a:xfrm>
          <a:prstGeom prst="rect">
            <a:avLst/>
          </a:prstGeom>
        </p:spPr>
      </p:pic>
      <p:sp>
        <p:nvSpPr>
          <p:cNvPr id="22" name="Text 15"/>
          <p:cNvSpPr/>
          <p:nvPr/>
        </p:nvSpPr>
        <p:spPr>
          <a:xfrm>
            <a:off x="8805642"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1</a:t>
            </a:r>
            <a:endParaRPr lang="en-US" sz="1150" dirty="0"/>
          </a:p>
        </p:txBody>
      </p:sp>
      <p:sp>
        <p:nvSpPr>
          <p:cNvPr id="23" name="Text 16"/>
          <p:cNvSpPr/>
          <p:nvPr/>
        </p:nvSpPr>
        <p:spPr>
          <a:xfrm>
            <a:off x="6332776" y="1506538"/>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4-Bit Adder Construction</a:t>
            </a:r>
            <a:endParaRPr lang="en-US" sz="950" dirty="0"/>
          </a:p>
        </p:txBody>
      </p:sp>
      <p:sp>
        <p:nvSpPr>
          <p:cNvPr id="24" name="Text 17"/>
          <p:cNvSpPr/>
          <p:nvPr/>
        </p:nvSpPr>
        <p:spPr>
          <a:xfrm>
            <a:off x="6332776" y="1718171"/>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Cascade four full adders (FA-0 to FA-3). Insert XOR gates on all B inputs: B'[i] = B[i] XOR Mode. Feed Mode into Cin of FA-0.</a:t>
            </a:r>
            <a:endParaRPr lang="en-US" sz="750" dirty="0"/>
          </a:p>
        </p:txBody>
      </p:sp>
      <p:pic>
        <p:nvPicPr>
          <p:cNvPr id="25"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221951" y="2137668"/>
            <a:ext cx="5314619" cy="938411"/>
          </a:xfrm>
          <a:prstGeom prst="rect">
            <a:avLst/>
          </a:prstGeom>
        </p:spPr>
      </p:pic>
      <p:sp>
        <p:nvSpPr>
          <p:cNvPr id="26" name="Text 18"/>
          <p:cNvSpPr/>
          <p:nvPr/>
        </p:nvSpPr>
        <p:spPr>
          <a:xfrm>
            <a:off x="8805642" y="2202458"/>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2</a:t>
            </a:r>
            <a:endParaRPr lang="en-US" sz="1150" dirty="0"/>
          </a:p>
        </p:txBody>
      </p:sp>
      <p:sp>
        <p:nvSpPr>
          <p:cNvPr id="27" name="Text 19"/>
          <p:cNvSpPr/>
          <p:nvPr/>
        </p:nvSpPr>
        <p:spPr>
          <a:xfrm>
            <a:off x="6332776" y="2503190"/>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Overflow Detection Addition</a:t>
            </a:r>
            <a:endParaRPr lang="en-US" sz="950" dirty="0"/>
          </a:p>
        </p:txBody>
      </p:sp>
      <p:sp>
        <p:nvSpPr>
          <p:cNvPr id="28" name="Text 20"/>
          <p:cNvSpPr/>
          <p:nvPr/>
        </p:nvSpPr>
        <p:spPr>
          <a:xfrm>
            <a:off x="6332776" y="2714823"/>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Connect a single XOR gate: OVF = Cin,3 XOR Cout,3. Wire carry signals from FA-2 output and FA-3 output to this gate.</a:t>
            </a:r>
            <a:endParaRPr lang="en-US" sz="750" dirty="0"/>
          </a:p>
        </p:txBody>
      </p:sp>
      <p:pic>
        <p:nvPicPr>
          <p:cNvPr id="2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221951" y="3134320"/>
            <a:ext cx="5314619" cy="938411"/>
          </a:xfrm>
          <a:prstGeom prst="rect">
            <a:avLst/>
          </a:prstGeom>
        </p:spPr>
      </p:pic>
      <p:sp>
        <p:nvSpPr>
          <p:cNvPr id="30" name="Text 21"/>
          <p:cNvSpPr/>
          <p:nvPr/>
        </p:nvSpPr>
        <p:spPr>
          <a:xfrm>
            <a:off x="8805642" y="3199110"/>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3</a:t>
            </a:r>
            <a:endParaRPr lang="en-US" sz="1150" dirty="0"/>
          </a:p>
        </p:txBody>
      </p:sp>
      <p:sp>
        <p:nvSpPr>
          <p:cNvPr id="31" name="Text 22"/>
          <p:cNvSpPr/>
          <p:nvPr/>
        </p:nvSpPr>
        <p:spPr>
          <a:xfrm>
            <a:off x="6332776" y="3499842"/>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Simulation &amp; Testing</a:t>
            </a:r>
            <a:endParaRPr lang="en-US" sz="950" dirty="0"/>
          </a:p>
        </p:txBody>
      </p:sp>
      <p:sp>
        <p:nvSpPr>
          <p:cNvPr id="32" name="Text 23"/>
          <p:cNvSpPr/>
          <p:nvPr/>
        </p:nvSpPr>
        <p:spPr>
          <a:xfrm>
            <a:off x="6332776" y="3711476"/>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Build the full circuit in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Logisim / Digital</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 Apply a comprehensive set of test vectors covering addition, subtraction, boundary values, and overflow cases. Record all outputs.</a:t>
            </a:r>
            <a:endParaRPr lang="en-US" sz="750" dirty="0"/>
          </a:p>
        </p:txBody>
      </p:sp>
      <p:sp>
        <p:nvSpPr>
          <p:cNvPr id="33" name="Text 24"/>
          <p:cNvSpPr/>
          <p:nvPr/>
        </p:nvSpPr>
        <p:spPr>
          <a:xfrm>
            <a:off x="661475" y="4225727"/>
            <a:ext cx="10868745"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Full Adder Truth Table</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1475" y="4466530"/>
          <a:ext cx="9143771" cy="914400"/>
        </p:xfrm>
        <a:graphic>
          <a:graphicData uri="http://schemas.openxmlformats.org/drawingml/2006/table">
            <a:tbl>
              <a:tblPr/>
              <a:tblGrid>
                <a:gridCol w="2173749"/>
                <a:gridCol w="2173749"/>
                <a:gridCol w="2173749"/>
                <a:gridCol w="2173749"/>
                <a:gridCol w="2173749"/>
              </a:tblGrid>
              <a:tr h="207759">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A</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B</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Cin</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Sum</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Cout</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483691"/>
            <a:ext cx="663856" cy="196255"/>
          </a:xfrm>
          <a:prstGeom prst="roundRect">
            <a:avLst>
              <a:gd name="adj" fmla="val 22122"/>
            </a:avLst>
          </a:prstGeom>
          <a:solidFill>
            <a:srgbClr val="D6F5EE"/>
          </a:solidFill>
          <a:ln/>
        </p:spPr>
      </p:sp>
      <p:sp>
        <p:nvSpPr>
          <p:cNvPr id="3" name="Text 1"/>
          <p:cNvSpPr/>
          <p:nvPr/>
        </p:nvSpPr>
        <p:spPr>
          <a:xfrm>
            <a:off x="738963" y="522387"/>
            <a:ext cx="1118465" cy="118864"/>
          </a:xfrm>
          <a:prstGeom prst="rect">
            <a:avLst/>
          </a:prstGeom>
          <a:noFill/>
          <a:ln/>
        </p:spPr>
        <p:txBody>
          <a:bodyPr wrap="none" lIns="0" tIns="0" rIns="0" bIns="0" rtlCol="0" anchor="t"/>
          <a:lstStyle/>
          <a:p>
            <a:pPr algn="l" indent="0" marL="0">
              <a:lnSpc>
                <a:spcPct val="96000"/>
              </a:lnSpc>
              <a:buNone/>
            </a:pPr>
            <a:r>
              <a:rPr lang="en-US" sz="800" dirty="0">
                <a:solidFill>
                  <a:srgbClr val="333F70"/>
                </a:solidFill>
                <a:latin typeface="Open Sans" pitchFamily="34" charset="0"/>
                <a:ea typeface="Open Sans" pitchFamily="34" charset="-122"/>
                <a:cs typeface="Open Sans" pitchFamily="34" charset="-120"/>
              </a:rPr>
              <a:t>SECTION 8</a:t>
            </a:r>
            <a:endParaRPr lang="en-US" sz="800" dirty="0"/>
          </a:p>
        </p:txBody>
      </p:sp>
      <p:sp>
        <p:nvSpPr>
          <p:cNvPr id="4" name="Text 2"/>
          <p:cNvSpPr/>
          <p:nvPr/>
        </p:nvSpPr>
        <p:spPr>
          <a:xfrm>
            <a:off x="661475" y="720229"/>
            <a:ext cx="10868745" cy="403820"/>
          </a:xfrm>
          <a:prstGeom prst="rect">
            <a:avLst/>
          </a:prstGeom>
          <a:noFill/>
          <a:ln/>
        </p:spPr>
        <p:txBody>
          <a:bodyPr wrap="none" lIns="0" tIns="0" rIns="0" bIns="0" rtlCol="0" anchor="t"/>
          <a:lstStyle/>
          <a:p>
            <a:pPr algn="l" indent="0" marL="0">
              <a:lnSpc>
                <a:spcPct val="104000"/>
              </a:lnSpc>
              <a:buNone/>
            </a:pPr>
            <a:r>
              <a:rPr lang="en-US" sz="2500" b="1" dirty="0">
                <a:solidFill>
                  <a:srgbClr val="333F70"/>
                </a:solidFill>
                <a:latin typeface="Unbounded Bold" pitchFamily="34" charset="0"/>
                <a:ea typeface="Unbounded Bold" pitchFamily="34" charset="-122"/>
                <a:cs typeface="Unbounded Bold" pitchFamily="34" charset="-120"/>
              </a:rPr>
              <a:t>Results &amp; Discussion</a:t>
            </a:r>
            <a:endParaRPr lang="en-US" sz="2500" dirty="0"/>
          </a:p>
        </p:txBody>
      </p:sp>
      <p:sp>
        <p:nvSpPr>
          <p:cNvPr id="5" name="Text 3"/>
          <p:cNvSpPr/>
          <p:nvPr/>
        </p:nvSpPr>
        <p:spPr>
          <a:xfrm>
            <a:off x="661475" y="1376362"/>
            <a:ext cx="6395183"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Test Case Verification</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1475" y="1691779"/>
          <a:ext cx="9143771" cy="914400"/>
        </p:xfrm>
        <a:graphic>
          <a:graphicData uri="http://schemas.openxmlformats.org/drawingml/2006/table">
            <a:tbl>
              <a:tblPr/>
              <a:tblGrid>
                <a:gridCol w="1279037"/>
                <a:gridCol w="1279037"/>
                <a:gridCol w="1279037"/>
                <a:gridCol w="1279037"/>
                <a:gridCol w="1279037"/>
              </a:tblGrid>
              <a:tr h="320965">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Operation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A</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B</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Result</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OVF</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Addition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0101 (+5)</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Addition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0100 (+4)</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Subtraction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0101 (+5)</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0010 (+2)</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Overflow</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0001 (+1)</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0965">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Neg. Overflow</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1111 (−1)</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bl>
          </a:graphicData>
        </a:graphic>
      </p:graphicFrame>
      <p:sp>
        <p:nvSpPr>
          <p:cNvPr id="7" name="Text 4"/>
          <p:cNvSpPr/>
          <p:nvPr/>
        </p:nvSpPr>
        <p:spPr>
          <a:xfrm>
            <a:off x="661475" y="3756521"/>
            <a:ext cx="6395183"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All test cases produced results matching mathematically expected values. The overflow flag was correctly asserted in all out-of-range cases and de-asserted for all valid results, confirming correct implementation of the OVF = Cin,3 XOR Cout,3 logic.</a:t>
            </a:r>
            <a:endParaRPr lang="en-US" sz="1000" dirty="0"/>
          </a:p>
        </p:txBody>
      </p:sp>
      <p:sp>
        <p:nvSpPr>
          <p:cNvPr id="8" name="Text 5"/>
          <p:cNvSpPr/>
          <p:nvPr/>
        </p:nvSpPr>
        <p:spPr>
          <a:xfrm>
            <a:off x="7378119" y="1376362"/>
            <a:ext cx="4158352"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Key Findings</a:t>
            </a:r>
            <a:endParaRPr lang="en-US" sz="125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59069" y="1672729"/>
            <a:ext cx="4177402" cy="709017"/>
          </a:xfrm>
          <a:prstGeom prst="rect">
            <a:avLst/>
          </a:prstGeom>
        </p:spPr>
      </p:pic>
      <p:sp>
        <p:nvSpPr>
          <p:cNvPr id="10" name="Text 6"/>
          <p:cNvSpPr/>
          <p:nvPr/>
        </p:nvSpPr>
        <p:spPr>
          <a:xfrm>
            <a:off x="7545397" y="1691779"/>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Full Adder Verification</a:t>
            </a:r>
            <a:endParaRPr lang="en-US" sz="1250" dirty="0"/>
          </a:p>
        </p:txBody>
      </p:sp>
      <p:sp>
        <p:nvSpPr>
          <p:cNvPr id="11" name="Text 7"/>
          <p:cNvSpPr/>
          <p:nvPr/>
        </p:nvSpPr>
        <p:spPr>
          <a:xfrm>
            <a:off x="7545397" y="1994595"/>
            <a:ext cx="3991074" cy="36810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Full adder truth table verified across all </a:t>
            </a:r>
            <a:pPr algn="l" indent="0" marL="0">
              <a:lnSpc>
                <a:spcPct val="119000"/>
              </a:lnSpc>
              <a:buNone/>
            </a:pPr>
            <a:r>
              <a:rPr lang="en-US" sz="1000" b="1" dirty="0">
                <a:solidFill>
                  <a:srgbClr val="333F70"/>
                </a:solidFill>
                <a:latin typeface="Open Sans Bold" pitchFamily="34" charset="0"/>
                <a:ea typeface="Open Sans Bold" pitchFamily="34" charset="-122"/>
                <a:cs typeface="Open Sans Bold" pitchFamily="34" charset="-120"/>
              </a:rPr>
              <a:t>8 input combinations</a:t>
            </a:r>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 sum and carry outputs correct in all cases.</a:t>
            </a:r>
            <a:endParaRPr lang="en-US" sz="1000" dirty="0"/>
          </a:p>
        </p:txBody>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59069" y="2545457"/>
            <a:ext cx="4177402" cy="709017"/>
          </a:xfrm>
          <a:prstGeom prst="rect">
            <a:avLst/>
          </a:prstGeom>
        </p:spPr>
      </p:pic>
      <p:sp>
        <p:nvSpPr>
          <p:cNvPr id="13" name="Text 8"/>
          <p:cNvSpPr/>
          <p:nvPr/>
        </p:nvSpPr>
        <p:spPr>
          <a:xfrm>
            <a:off x="7545397" y="2564507"/>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Overflow Detection</a:t>
            </a:r>
            <a:endParaRPr lang="en-US" sz="1250" dirty="0"/>
          </a:p>
        </p:txBody>
      </p:sp>
      <p:sp>
        <p:nvSpPr>
          <p:cNvPr id="14" name="Text 9"/>
          <p:cNvSpPr/>
          <p:nvPr/>
        </p:nvSpPr>
        <p:spPr>
          <a:xfrm>
            <a:off x="7545397" y="2867323"/>
            <a:ext cx="3991074" cy="36810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OVF flag correctly identifies positive-overflow (two positive operands producing negative result) and negative-overflow cases.</a:t>
            </a:r>
            <a:endParaRPr lang="en-US" sz="1000" dirty="0"/>
          </a:p>
        </p:txBody>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59069" y="3418185"/>
            <a:ext cx="4177402" cy="893068"/>
          </a:xfrm>
          <a:prstGeom prst="rect">
            <a:avLst/>
          </a:prstGeom>
        </p:spPr>
      </p:pic>
      <p:sp>
        <p:nvSpPr>
          <p:cNvPr id="16" name="Text 10"/>
          <p:cNvSpPr/>
          <p:nvPr/>
        </p:nvSpPr>
        <p:spPr>
          <a:xfrm>
            <a:off x="7545397" y="3437235"/>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Observed Limitations</a:t>
            </a:r>
            <a:endParaRPr lang="en-US" sz="1250" dirty="0"/>
          </a:p>
        </p:txBody>
      </p:sp>
      <p:sp>
        <p:nvSpPr>
          <p:cNvPr id="17" name="Text 11"/>
          <p:cNvSpPr/>
          <p:nvPr/>
        </p:nvSpPr>
        <p:spPr>
          <a:xfrm>
            <a:off x="7545397" y="3740051"/>
            <a:ext cx="3991074"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Ripple-carry propagation delay grows linearly with bit width. Overflow detection assumes strict </a:t>
            </a:r>
            <a:pPr algn="l" indent="0" marL="0">
              <a:lnSpc>
                <a:spcPct val="119000"/>
              </a:lnSpc>
              <a:buNone/>
            </a:pPr>
            <a:r>
              <a:rPr lang="en-US" sz="1000" b="1" dirty="0">
                <a:solidFill>
                  <a:srgbClr val="333F70"/>
                </a:solidFill>
                <a:latin typeface="Open Sans Bold" pitchFamily="34" charset="0"/>
                <a:ea typeface="Open Sans Bold" pitchFamily="34" charset="-122"/>
                <a:cs typeface="Open Sans Bold" pitchFamily="34" charset="-120"/>
              </a:rPr>
              <a:t>two's complement interpretation</a:t>
            </a:r>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 of inputs.</a:t>
            </a:r>
            <a:endParaRPr lang="en-US" sz="1000" dirty="0"/>
          </a:p>
        </p:txBody>
      </p:sp>
      <p:pic>
        <p:nvPicPr>
          <p:cNvPr id="1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359069" y="4474964"/>
            <a:ext cx="4177402" cy="893068"/>
          </a:xfrm>
          <a:prstGeom prst="rect">
            <a:avLst/>
          </a:prstGeom>
        </p:spPr>
      </p:pic>
      <p:sp>
        <p:nvSpPr>
          <p:cNvPr id="19" name="Text 12"/>
          <p:cNvSpPr/>
          <p:nvPr/>
        </p:nvSpPr>
        <p:spPr>
          <a:xfrm>
            <a:off x="7545397" y="4494014"/>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Performance Notes</a:t>
            </a:r>
            <a:endParaRPr lang="en-US" sz="1250" dirty="0"/>
          </a:p>
        </p:txBody>
      </p:sp>
      <p:sp>
        <p:nvSpPr>
          <p:cNvPr id="20" name="Text 13"/>
          <p:cNvSpPr/>
          <p:nvPr/>
        </p:nvSpPr>
        <p:spPr>
          <a:xfrm>
            <a:off x="7545397" y="4796830"/>
            <a:ext cx="3991074"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Gate count and propagation delay are appropriate for educational demonstration. Circuit is not optimized for production speed or area.</a:t>
            </a:r>
            <a:endParaRPr lang="en-US" sz="1000" dirty="0"/>
          </a:p>
        </p:txBody>
      </p:sp>
      <p:sp>
        <p:nvSpPr>
          <p:cNvPr id="21" name="Shape 14"/>
          <p:cNvSpPr/>
          <p:nvPr/>
        </p:nvSpPr>
        <p:spPr>
          <a:xfrm>
            <a:off x="7378119" y="5462488"/>
            <a:ext cx="4158352" cy="798215"/>
          </a:xfrm>
          <a:prstGeom prst="roundRect">
            <a:avLst>
              <a:gd name="adj" fmla="val 6799"/>
            </a:avLst>
          </a:prstGeom>
          <a:solidFill>
            <a:srgbClr val="D6F5EE"/>
          </a:solidFill>
          <a:ln/>
        </p:spPr>
      </p:sp>
      <p:pic>
        <p:nvPicPr>
          <p:cNvPr id="22" name="Image 4" descr="preencoded.png">    </p:cNvPr>
          <p:cNvPicPr>
            <a:picLocks noChangeAspect="1"/>
          </p:cNvPicPr>
          <p:nvPr/>
        </p:nvPicPr>
        <p:blipFill>
          <a:blip r:embed="rId9"/>
          <a:stretch>
            <a:fillRect/>
          </a:stretch>
        </p:blipFill>
        <p:spPr>
          <a:xfrm>
            <a:off x="7507298" y="5622230"/>
            <a:ext cx="161425" cy="129183"/>
          </a:xfrm>
          <a:prstGeom prst="rect">
            <a:avLst/>
          </a:prstGeom>
        </p:spPr>
      </p:pic>
      <p:sp>
        <p:nvSpPr>
          <p:cNvPr id="23" name="Text 15"/>
          <p:cNvSpPr/>
          <p:nvPr/>
        </p:nvSpPr>
        <p:spPr>
          <a:xfrm>
            <a:off x="7797903" y="5585520"/>
            <a:ext cx="3609389"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000000"/>
                </a:solidFill>
                <a:latin typeface="Open Sans" pitchFamily="34" charset="0"/>
                <a:ea typeface="Open Sans" pitchFamily="34" charset="-122"/>
                <a:cs typeface="Open Sans" pitchFamily="34" charset="-120"/>
              </a:rPr>
              <a:t>Simulation screenshots from Logisim / Digital — showing gate connections and active signal states — should be inserted here as evidence of correctness.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490537"/>
            <a:ext cx="770216" cy="227806"/>
          </a:xfrm>
          <a:prstGeom prst="roundRect">
            <a:avLst>
              <a:gd name="adj" fmla="val 22107"/>
            </a:avLst>
          </a:prstGeom>
          <a:solidFill>
            <a:srgbClr val="D6F5EE"/>
          </a:solidFill>
          <a:ln/>
        </p:spPr>
      </p:sp>
      <p:sp>
        <p:nvSpPr>
          <p:cNvPr id="3" name="Text 1"/>
          <p:cNvSpPr/>
          <p:nvPr/>
        </p:nvSpPr>
        <p:spPr>
          <a:xfrm>
            <a:off x="751365" y="535484"/>
            <a:ext cx="1200021" cy="137914"/>
          </a:xfrm>
          <a:prstGeom prst="rect">
            <a:avLst/>
          </a:prstGeom>
          <a:noFill/>
          <a:ln/>
        </p:spPr>
        <p:txBody>
          <a:bodyPr wrap="none" lIns="0" tIns="0" rIns="0" bIns="0" rtlCol="0" anchor="t"/>
          <a:lstStyle/>
          <a:p>
            <a:pPr algn="l" indent="0" marL="0">
              <a:lnSpc>
                <a:spcPct val="96000"/>
              </a:lnSpc>
              <a:buNone/>
            </a:pPr>
            <a:r>
              <a:rPr lang="en-US" sz="900" dirty="0">
                <a:solidFill>
                  <a:srgbClr val="333F70"/>
                </a:solidFill>
                <a:latin typeface="Open Sans" pitchFamily="34" charset="0"/>
                <a:ea typeface="Open Sans" pitchFamily="34" charset="-122"/>
                <a:cs typeface="Open Sans" pitchFamily="34" charset="-120"/>
              </a:rPr>
              <a:t>SECTION 9</a:t>
            </a:r>
            <a:endParaRPr lang="en-US" sz="900" dirty="0"/>
          </a:p>
        </p:txBody>
      </p:sp>
      <p:sp>
        <p:nvSpPr>
          <p:cNvPr id="4" name="Text 2"/>
          <p:cNvSpPr/>
          <p:nvPr/>
        </p:nvSpPr>
        <p:spPr>
          <a:xfrm>
            <a:off x="661475" y="772616"/>
            <a:ext cx="10868745" cy="468412"/>
          </a:xfrm>
          <a:prstGeom prst="rect">
            <a:avLst/>
          </a:prstGeom>
          <a:noFill/>
          <a:ln/>
        </p:spPr>
        <p:txBody>
          <a:bodyPr wrap="none" lIns="0" tIns="0" rIns="0" bIns="0" rtlCol="0" anchor="t"/>
          <a:lstStyle/>
          <a:p>
            <a:pPr algn="l" indent="0" marL="0">
              <a:lnSpc>
                <a:spcPct val="104000"/>
              </a:lnSpc>
              <a:buNone/>
            </a:pPr>
            <a:r>
              <a:rPr lang="en-US" sz="2950" b="1" dirty="0">
                <a:solidFill>
                  <a:srgbClr val="333F70"/>
                </a:solidFill>
                <a:latin typeface="Unbounded Bold" pitchFamily="34" charset="0"/>
                <a:ea typeface="Unbounded Bold" pitchFamily="34" charset="-122"/>
                <a:cs typeface="Unbounded Bold" pitchFamily="34" charset="-120"/>
              </a:rPr>
              <a:t>Conclusion</a:t>
            </a:r>
            <a:endParaRPr lang="en-US" sz="2950" dirty="0"/>
          </a:p>
        </p:txBody>
      </p:sp>
      <p:sp>
        <p:nvSpPr>
          <p:cNvPr id="5" name="Shape 3"/>
          <p:cNvSpPr/>
          <p:nvPr/>
        </p:nvSpPr>
        <p:spPr>
          <a:xfrm>
            <a:off x="553528" y="1444724"/>
            <a:ext cx="5467412" cy="4922639"/>
          </a:xfrm>
          <a:prstGeom prst="roundRect">
            <a:avLst>
              <a:gd name="adj" fmla="val 2192"/>
            </a:avLst>
          </a:prstGeom>
          <a:solidFill>
            <a:srgbClr val="26A688"/>
          </a:solidFill>
          <a:ln/>
        </p:spPr>
      </p:sp>
      <p:sp>
        <p:nvSpPr>
          <p:cNvPr id="6" name="Text 4"/>
          <p:cNvSpPr/>
          <p:nvPr/>
        </p:nvSpPr>
        <p:spPr>
          <a:xfrm>
            <a:off x="703344" y="1580555"/>
            <a:ext cx="5167779" cy="234156"/>
          </a:xfrm>
          <a:prstGeom prst="rect">
            <a:avLst/>
          </a:prstGeom>
          <a:noFill/>
          <a:ln/>
        </p:spPr>
        <p:txBody>
          <a:bodyPr wrap="none" lIns="0" tIns="0" rIns="0" bIns="0" rtlCol="0" anchor="t"/>
          <a:lstStyle/>
          <a:p>
            <a:pPr algn="l" indent="0" marL="0">
              <a:lnSpc>
                <a:spcPct val="104000"/>
              </a:lnSpc>
              <a:buNone/>
            </a:pPr>
            <a:r>
              <a:rPr lang="en-US" sz="1450" b="1" dirty="0">
                <a:solidFill>
                  <a:srgbClr val="000000"/>
                </a:solidFill>
                <a:latin typeface="Unbounded Bold" pitchFamily="34" charset="0"/>
                <a:ea typeface="Unbounded Bold" pitchFamily="34" charset="-122"/>
                <a:cs typeface="Unbounded Bold" pitchFamily="34" charset="-120"/>
              </a:rPr>
              <a:t>Design Achievements</a:t>
            </a:r>
            <a:endParaRPr lang="en-US" sz="1450" dirty="0"/>
          </a:p>
        </p:txBody>
      </p:sp>
      <p:sp>
        <p:nvSpPr>
          <p:cNvPr id="7" name="Text 5"/>
          <p:cNvSpPr/>
          <p:nvPr/>
        </p:nvSpPr>
        <p:spPr>
          <a:xfrm>
            <a:off x="703344" y="1950541"/>
            <a:ext cx="5167779" cy="6858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A complete 4-bit binary arithmetic calculator was successfully </a:t>
            </a:r>
            <a:pPr algn="l" indent="0" marL="0">
              <a:lnSpc>
                <a:spcPct val="127000"/>
              </a:lnSpc>
              <a:buNone/>
            </a:pPr>
            <a:r>
              <a:rPr lang="en-US" sz="1150" b="1" dirty="0">
                <a:solidFill>
                  <a:srgbClr val="000000"/>
                </a:solidFill>
                <a:latin typeface="Open Sans Bold" pitchFamily="34" charset="0"/>
                <a:ea typeface="Open Sans Bold" pitchFamily="34" charset="-122"/>
                <a:cs typeface="Open Sans Bold" pitchFamily="34" charset="-120"/>
              </a:rPr>
              <a:t>designed, implemented, and simulated</a:t>
            </a:r>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 from fundamental logic gates. All stated objectives were met in full.</a:t>
            </a:r>
            <a:endParaRPr lang="en-US" sz="1150" dirty="0"/>
          </a:p>
        </p:txBody>
      </p:sp>
      <p:sp>
        <p:nvSpPr>
          <p:cNvPr id="8" name="Text 6"/>
          <p:cNvSpPr/>
          <p:nvPr/>
        </p:nvSpPr>
        <p:spPr>
          <a:xfrm>
            <a:off x="703344" y="2758579"/>
            <a:ext cx="5167779" cy="1056977"/>
          </a:xfrm>
          <a:prstGeom prst="rect">
            <a:avLst/>
          </a:prstGeom>
          <a:noFill/>
          <a:ln/>
        </p:spPr>
        <p:txBody>
          <a:bodyPr wrap="square" lIns="0" tIns="0" rIns="0" bIns="0" rtlCol="0" anchor="t">
            <a:normAutofit/>
          </a:bodyPr>
          <a:lstStyle/>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Adder/subtractor circuit constructed at gate level</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Two's complement signed arithmetic implemented</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Overflow detection logic designed and verified</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Circuit simulated and all test cases validated</a:t>
            </a:r>
            <a:endParaRPr lang="en-US" sz="1150" dirty="0"/>
          </a:p>
        </p:txBody>
      </p:sp>
      <p:sp>
        <p:nvSpPr>
          <p:cNvPr id="9" name="Text 7"/>
          <p:cNvSpPr/>
          <p:nvPr/>
        </p:nvSpPr>
        <p:spPr>
          <a:xfrm>
            <a:off x="703344" y="3951387"/>
            <a:ext cx="5167779" cy="234156"/>
          </a:xfrm>
          <a:prstGeom prst="rect">
            <a:avLst/>
          </a:prstGeom>
          <a:noFill/>
          <a:ln/>
        </p:spPr>
        <p:txBody>
          <a:bodyPr wrap="none" lIns="0" tIns="0" rIns="0" bIns="0" rtlCol="0" anchor="t"/>
          <a:lstStyle/>
          <a:p>
            <a:pPr algn="l" indent="0" marL="0">
              <a:lnSpc>
                <a:spcPct val="104000"/>
              </a:lnSpc>
              <a:buNone/>
            </a:pPr>
            <a:r>
              <a:rPr lang="en-US" sz="1450" b="1" dirty="0">
                <a:solidFill>
                  <a:srgbClr val="000000"/>
                </a:solidFill>
                <a:latin typeface="Unbounded Bold" pitchFamily="34" charset="0"/>
                <a:ea typeface="Unbounded Bold" pitchFamily="34" charset="-122"/>
                <a:cs typeface="Unbounded Bold" pitchFamily="34" charset="-120"/>
              </a:rPr>
              <a:t>Key Learning</a:t>
            </a:r>
            <a:endParaRPr lang="en-US" sz="1450" dirty="0"/>
          </a:p>
        </p:txBody>
      </p:sp>
      <p:sp>
        <p:nvSpPr>
          <p:cNvPr id="10" name="Text 8"/>
          <p:cNvSpPr/>
          <p:nvPr/>
        </p:nvSpPr>
        <p:spPr>
          <a:xfrm>
            <a:off x="703344" y="4321373"/>
            <a:ext cx="5167779" cy="9144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The project concretely demonstrated how </a:t>
            </a:r>
            <a:pPr algn="l" indent="0" marL="0">
              <a:lnSpc>
                <a:spcPct val="127000"/>
              </a:lnSpc>
              <a:buNone/>
            </a:pPr>
            <a:r>
              <a:rPr lang="en-US" sz="1150" b="1" dirty="0">
                <a:solidFill>
                  <a:srgbClr val="000000"/>
                </a:solidFill>
                <a:latin typeface="Open Sans Bold" pitchFamily="34" charset="0"/>
                <a:ea typeface="Open Sans Bold" pitchFamily="34" charset="-122"/>
                <a:cs typeface="Open Sans Bold" pitchFamily="34" charset="-120"/>
              </a:rPr>
              <a:t>complex arithmetic behavior emerges from simple Boolean logic</a:t>
            </a:r>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 bridging the gap between Boolean algebra theory and physical gate-level circuit practice — a core competency in digital systems engineering.</a:t>
            </a:r>
            <a:endParaRPr lang="en-US" sz="1150" dirty="0"/>
          </a:p>
        </p:txBody>
      </p:sp>
      <p:sp>
        <p:nvSpPr>
          <p:cNvPr id="11" name="Text 9"/>
          <p:cNvSpPr/>
          <p:nvPr/>
        </p:nvSpPr>
        <p:spPr>
          <a:xfrm>
            <a:off x="6285053" y="1580555"/>
            <a:ext cx="525151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Future Extensions</a:t>
            </a:r>
            <a:endParaRPr lang="en-US" sz="1450" dirty="0"/>
          </a:p>
        </p:txBody>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341209" y="1972121"/>
            <a:ext cx="224824" cy="224830"/>
          </a:xfrm>
          <a:prstGeom prst="rect">
            <a:avLst/>
          </a:prstGeom>
        </p:spPr>
      </p:pic>
      <p:sp>
        <p:nvSpPr>
          <p:cNvPr id="13" name="Text 10"/>
          <p:cNvSpPr/>
          <p:nvPr/>
        </p:nvSpPr>
        <p:spPr>
          <a:xfrm>
            <a:off x="6772106" y="1967508"/>
            <a:ext cx="205377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Multiplication</a:t>
            </a:r>
            <a:endParaRPr lang="en-US" sz="1450" dirty="0"/>
          </a:p>
        </p:txBody>
      </p:sp>
      <p:sp>
        <p:nvSpPr>
          <p:cNvPr id="14" name="Text 11"/>
          <p:cNvSpPr/>
          <p:nvPr/>
        </p:nvSpPr>
        <p:spPr>
          <a:xfrm>
            <a:off x="6772106" y="2337495"/>
            <a:ext cx="2053777" cy="9144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Implement 4-bit multiplication using repeated addition or array multiplier structures.</a:t>
            </a:r>
            <a:endParaRPr lang="en-US" sz="1150" dirty="0"/>
          </a:p>
        </p:txBody>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51798" y="1972121"/>
            <a:ext cx="224824" cy="224830"/>
          </a:xfrm>
          <a:prstGeom prst="rect">
            <a:avLst/>
          </a:prstGeom>
        </p:spPr>
      </p:pic>
      <p:sp>
        <p:nvSpPr>
          <p:cNvPr id="16" name="Text 12"/>
          <p:cNvSpPr/>
          <p:nvPr/>
        </p:nvSpPr>
        <p:spPr>
          <a:xfrm>
            <a:off x="9482694" y="1967508"/>
            <a:ext cx="2053876"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Full ALU</a:t>
            </a:r>
            <a:endParaRPr lang="en-US" sz="1450" dirty="0"/>
          </a:p>
        </p:txBody>
      </p:sp>
      <p:sp>
        <p:nvSpPr>
          <p:cNvPr id="17" name="Text 13"/>
          <p:cNvSpPr/>
          <p:nvPr/>
        </p:nvSpPr>
        <p:spPr>
          <a:xfrm>
            <a:off x="9482694" y="2337495"/>
            <a:ext cx="2053876" cy="11430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Extend to a complete ALU supporting bitwise AND, OR, XOR, and shift operations via operation-select multiplexing.</a:t>
            </a:r>
            <a:endParaRPr lang="en-US" sz="115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1209" y="3756769"/>
            <a:ext cx="224824" cy="224830"/>
          </a:xfrm>
          <a:prstGeom prst="rect">
            <a:avLst/>
          </a:prstGeom>
        </p:spPr>
      </p:pic>
      <p:sp>
        <p:nvSpPr>
          <p:cNvPr id="19" name="Text 14"/>
          <p:cNvSpPr/>
          <p:nvPr/>
        </p:nvSpPr>
        <p:spPr>
          <a:xfrm>
            <a:off x="6772106" y="3752155"/>
            <a:ext cx="4764464"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Wider Datapaths</a:t>
            </a:r>
            <a:endParaRPr lang="en-US" sz="1450" dirty="0"/>
          </a:p>
        </p:txBody>
      </p:sp>
      <p:sp>
        <p:nvSpPr>
          <p:cNvPr id="20" name="Text 15"/>
          <p:cNvSpPr/>
          <p:nvPr/>
        </p:nvSpPr>
        <p:spPr>
          <a:xfrm>
            <a:off x="6772106" y="4122142"/>
            <a:ext cx="4764464" cy="4572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Scale design to 8-bit or 16-bit with carry-lookahead optimization to address ripple-carry delay limitations.</a:t>
            </a:r>
            <a:endParaRPr lang="en-US" sz="1150" dirty="0"/>
          </a:p>
        </p:txBody>
      </p:sp>
      <p:sp>
        <p:nvSpPr>
          <p:cNvPr id="21" name="Text 16"/>
          <p:cNvSpPr/>
          <p:nvPr/>
        </p:nvSpPr>
        <p:spPr>
          <a:xfrm>
            <a:off x="6285053" y="4732139"/>
            <a:ext cx="525151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Real-World Relevance</a:t>
            </a:r>
            <a:endParaRPr lang="en-US" sz="1450" dirty="0"/>
          </a:p>
        </p:txBody>
      </p:sp>
      <p:sp>
        <p:nvSpPr>
          <p:cNvPr id="22" name="Text 17"/>
          <p:cNvSpPr/>
          <p:nvPr/>
        </p:nvSpPr>
        <p:spPr>
          <a:xfrm>
            <a:off x="6285053" y="5102126"/>
            <a:ext cx="5251517" cy="11430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The principles demonstrated in this project apply directly to </a:t>
            </a:r>
            <a:pPr algn="l" indent="0" marL="0">
              <a:lnSpc>
                <a:spcPct val="127000"/>
              </a:lnSpc>
              <a:buNone/>
            </a:pPr>
            <a:r>
              <a:rPr lang="en-US" sz="1150" b="1" dirty="0">
                <a:solidFill>
                  <a:srgbClr val="26A688"/>
                </a:solidFill>
                <a:latin typeface="Open Sans Bold" pitchFamily="34" charset="0"/>
                <a:ea typeface="Open Sans Bold" pitchFamily="34" charset="-122"/>
                <a:cs typeface="Open Sans Bold" pitchFamily="34" charset="-120"/>
              </a:rPr>
              <a:t>CPU ALU design, microcontroller arithmetic units, and digital signal processors</a:t>
            </a:r>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 Every production processor implements these same fundamental operations at scale — making this project an authentic entry point into professional digital design.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2026-09-19T08:11:03Z</dcterms:created>
  <dcterms:modified xsi:type="dcterms:W3CDTF">2026-09-19T08:11:03Z</dcterms:modified>
</cp:coreProperties>
</file>