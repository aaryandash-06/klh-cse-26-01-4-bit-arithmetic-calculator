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Open Sans" panose="020B0606030504020204" pitchFamily="34" charset="0"/>
      <p:regular r:id="rId13"/>
    </p:embeddedFont>
    <p:embeddedFont>
      <p:font typeface="Open Sans Bold" panose="020B0604020202020204" charset="0"/>
      <p:regular r:id="rId14"/>
    </p:embeddedFont>
    <p:embeddedFont>
      <p:font typeface="Unbounded 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441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6F5EE"/>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594717"/>
            <a:ext cx="10868745" cy="258465"/>
          </a:xfrm>
          <a:prstGeom prst="rect">
            <a:avLst/>
          </a:prstGeom>
          <a:noFill/>
          <a:ln/>
        </p:spPr>
        <p:txBody>
          <a:bodyPr wrap="none" lIns="0" tIns="0" rIns="0" bIns="0" rtlCol="0" anchor="t"/>
          <a:lstStyle/>
          <a:p>
            <a:pPr marL="0" indent="0" algn="ctr">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Academic Project Report</a:t>
            </a:r>
            <a:endParaRPr lang="en-US" sz="1600" dirty="0"/>
          </a:p>
        </p:txBody>
      </p:sp>
      <p:sp>
        <p:nvSpPr>
          <p:cNvPr id="3" name="Text 1"/>
          <p:cNvSpPr/>
          <p:nvPr/>
        </p:nvSpPr>
        <p:spPr>
          <a:xfrm>
            <a:off x="661475" y="919262"/>
            <a:ext cx="10868745" cy="1033463"/>
          </a:xfrm>
          <a:prstGeom prst="rect">
            <a:avLst/>
          </a:prstGeom>
          <a:noFill/>
          <a:ln/>
        </p:spPr>
        <p:txBody>
          <a:bodyPr wrap="square" lIns="0" tIns="0" rIns="0" bIns="0" rtlCol="0" anchor="t">
            <a:normAutofit/>
          </a:bodyPr>
          <a:lstStyle/>
          <a:p>
            <a:pPr marL="0" indent="0" algn="ctr">
              <a:lnSpc>
                <a:spcPct val="104000"/>
              </a:lnSpc>
              <a:buNone/>
            </a:pPr>
            <a:r>
              <a:rPr lang="en-US" sz="3250" b="1" dirty="0">
                <a:solidFill>
                  <a:srgbClr val="333F70"/>
                </a:solidFill>
                <a:latin typeface="Unbounded Bold" pitchFamily="34" charset="0"/>
                <a:ea typeface="Unbounded Bold" pitchFamily="34" charset="-122"/>
                <a:cs typeface="Unbounded Bold" pitchFamily="34" charset="-120"/>
              </a:rPr>
              <a:t>Design and Simulation of a 4-Bit Binary Arithmetic Calculator</a:t>
            </a:r>
            <a:endParaRPr lang="en-US" sz="3250" dirty="0"/>
          </a:p>
        </p:txBody>
      </p:sp>
      <p:sp>
        <p:nvSpPr>
          <p:cNvPr id="4" name="Shape 2"/>
          <p:cNvSpPr/>
          <p:nvPr/>
        </p:nvSpPr>
        <p:spPr>
          <a:xfrm>
            <a:off x="661475" y="2242046"/>
            <a:ext cx="10868745" cy="19050"/>
          </a:xfrm>
          <a:prstGeom prst="roundRect">
            <a:avLst>
              <a:gd name="adj" fmla="val 49999"/>
            </a:avLst>
          </a:prstGeom>
          <a:solidFill>
            <a:srgbClr val="333F70">
              <a:alpha val="50000"/>
            </a:srgbClr>
          </a:solidFill>
          <a:ln/>
        </p:spPr>
      </p:sp>
      <p:sp>
        <p:nvSpPr>
          <p:cNvPr id="5" name="Shape 3"/>
          <p:cNvSpPr/>
          <p:nvPr/>
        </p:nvSpPr>
        <p:spPr>
          <a:xfrm>
            <a:off x="542415" y="2488406"/>
            <a:ext cx="5470785" cy="2623245"/>
          </a:xfrm>
          <a:prstGeom prst="roundRect">
            <a:avLst>
              <a:gd name="adj" fmla="val 4539"/>
            </a:avLst>
          </a:prstGeom>
          <a:solidFill>
            <a:srgbClr val="26A688"/>
          </a:solidFill>
          <a:ln/>
        </p:spPr>
      </p:sp>
      <p:sp>
        <p:nvSpPr>
          <p:cNvPr id="6" name="Text 4"/>
          <p:cNvSpPr/>
          <p:nvPr/>
        </p:nvSpPr>
        <p:spPr>
          <a:xfrm>
            <a:off x="707710" y="2653705"/>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Unbounded Bold" pitchFamily="34" charset="0"/>
                <a:ea typeface="Unbounded Bold" pitchFamily="34" charset="-122"/>
                <a:cs typeface="Unbounded Bold" pitchFamily="34" charset="-120"/>
              </a:rPr>
              <a:t>Project Details</a:t>
            </a:r>
            <a:endParaRPr lang="en-US" sz="1600" dirty="0"/>
          </a:p>
        </p:txBody>
      </p:sp>
      <p:sp>
        <p:nvSpPr>
          <p:cNvPr id="7" name="Text 5"/>
          <p:cNvSpPr/>
          <p:nvPr/>
        </p:nvSpPr>
        <p:spPr>
          <a:xfrm>
            <a:off x="707710" y="3077468"/>
            <a:ext cx="5140196" cy="1885355"/>
          </a:xfrm>
          <a:prstGeom prst="rect">
            <a:avLst/>
          </a:prstGeom>
          <a:noFill/>
          <a:ln/>
        </p:spPr>
        <p:txBody>
          <a:bodyPr wrap="square" lIns="0" tIns="0" rIns="0" bIns="0" rtlCol="0" anchor="t"/>
          <a:lstStyle/>
          <a:p>
            <a:pPr marL="0" indent="0" algn="l">
              <a:lnSpc>
                <a:spcPct val="133000"/>
              </a:lnSpc>
              <a:spcAft>
                <a:spcPts val="1150"/>
              </a:spcAft>
              <a:buNone/>
            </a:pPr>
            <a:r>
              <a:rPr lang="en-US" sz="1300" b="1" dirty="0">
                <a:solidFill>
                  <a:srgbClr val="000000"/>
                </a:solidFill>
                <a:latin typeface="Open Sans Bold" pitchFamily="34" charset="0"/>
                <a:ea typeface="Open Sans Bold" pitchFamily="34" charset="-122"/>
                <a:cs typeface="Open Sans Bold" pitchFamily="34" charset="-120"/>
              </a:rPr>
              <a:t>Student Name(s):</a:t>
            </a:r>
            <a:r>
              <a:rPr lang="en-US" sz="1300" dirty="0">
                <a:solidFill>
                  <a:srgbClr val="000000"/>
                </a:solidFill>
                <a:latin typeface="Open Sans" pitchFamily="34" charset="0"/>
                <a:ea typeface="Open Sans" pitchFamily="34" charset="-122"/>
                <a:cs typeface="Open Sans" pitchFamily="34" charset="-120"/>
              </a:rPr>
              <a:t> </a:t>
            </a:r>
            <a:endParaRPr lang="en-US" sz="1300" dirty="0"/>
          </a:p>
          <a:p>
            <a:pPr marL="0" indent="0" algn="l">
              <a:lnSpc>
                <a:spcPct val="133000"/>
              </a:lnSpc>
              <a:buNone/>
            </a:pPr>
            <a:r>
              <a:rPr lang="en-US" sz="1300" dirty="0">
                <a:solidFill>
                  <a:srgbClr val="000000"/>
                </a:solidFill>
                <a:latin typeface="Open Sans" pitchFamily="34" charset="0"/>
                <a:ea typeface="Open Sans" pitchFamily="34" charset="-122"/>
                <a:cs typeface="Open Sans" pitchFamily="34" charset="-120"/>
              </a:rPr>
              <a:t>Aaryan - 2620030009</a:t>
            </a:r>
            <a:endParaRPr lang="en-US" sz="1300" dirty="0"/>
          </a:p>
          <a:p>
            <a:pPr marL="0" indent="0" algn="l">
              <a:lnSpc>
                <a:spcPct val="133000"/>
              </a:lnSpc>
              <a:buNone/>
            </a:pPr>
            <a:r>
              <a:rPr lang="en-US" sz="1300" dirty="0">
                <a:solidFill>
                  <a:srgbClr val="000000"/>
                </a:solidFill>
                <a:latin typeface="Open Sans" pitchFamily="34" charset="0"/>
                <a:ea typeface="Open Sans" pitchFamily="34" charset="-122"/>
                <a:cs typeface="Open Sans" pitchFamily="34" charset="-120"/>
              </a:rPr>
              <a:t>Neha - 2620030017</a:t>
            </a:r>
            <a:endParaRPr lang="en-US" sz="1300" dirty="0"/>
          </a:p>
          <a:p>
            <a:pPr marL="0" indent="0" algn="l">
              <a:lnSpc>
                <a:spcPct val="133000"/>
              </a:lnSpc>
              <a:buNone/>
            </a:pPr>
            <a:r>
              <a:rPr lang="en-US" sz="1300" dirty="0">
                <a:solidFill>
                  <a:srgbClr val="000000"/>
                </a:solidFill>
                <a:latin typeface="Open Sans" pitchFamily="34" charset="0"/>
                <a:ea typeface="Open Sans" pitchFamily="34" charset="-122"/>
                <a:cs typeface="Open Sans" pitchFamily="34" charset="-120"/>
              </a:rPr>
              <a:t>Rishith - 2620030021</a:t>
            </a:r>
            <a:endParaRPr lang="en-US" sz="1300" dirty="0"/>
          </a:p>
          <a:p>
            <a:pPr marL="0" indent="0" algn="l">
              <a:lnSpc>
                <a:spcPct val="133000"/>
              </a:lnSpc>
              <a:spcAft>
                <a:spcPts val="1150"/>
              </a:spcAft>
              <a:buNone/>
            </a:pPr>
            <a:r>
              <a:rPr lang="en-US" sz="1300" dirty="0">
                <a:solidFill>
                  <a:srgbClr val="000000"/>
                </a:solidFill>
                <a:latin typeface="Open Sans" pitchFamily="34" charset="0"/>
                <a:ea typeface="Open Sans" pitchFamily="34" charset="-122"/>
                <a:cs typeface="Open Sans" pitchFamily="34" charset="-120"/>
              </a:rPr>
              <a:t>Sruthi - 2620030044</a:t>
            </a:r>
            <a:endParaRPr lang="en-US" sz="1300" dirty="0"/>
          </a:p>
          <a:p>
            <a:pPr marL="0" indent="0" algn="l">
              <a:lnSpc>
                <a:spcPct val="133000"/>
              </a:lnSpc>
              <a:buNone/>
            </a:pPr>
            <a:r>
              <a:rPr lang="en-US" sz="1300" b="1" dirty="0">
                <a:solidFill>
                  <a:srgbClr val="000000"/>
                </a:solidFill>
                <a:latin typeface="Open Sans Bold" pitchFamily="34" charset="0"/>
                <a:ea typeface="Open Sans Bold" pitchFamily="34" charset="-122"/>
                <a:cs typeface="Open Sans Bold" pitchFamily="34" charset="-120"/>
              </a:rPr>
              <a:t>Guide / Supervisor:</a:t>
            </a:r>
            <a:r>
              <a:rPr lang="en-US" sz="1300" dirty="0">
                <a:solidFill>
                  <a:srgbClr val="000000"/>
                </a:solidFill>
                <a:latin typeface="Open Sans" pitchFamily="34" charset="0"/>
                <a:ea typeface="Open Sans" pitchFamily="34" charset="-122"/>
                <a:cs typeface="Open Sans" pitchFamily="34" charset="-120"/>
              </a:rPr>
              <a:t> Dr. Kartheek V</a:t>
            </a:r>
            <a:endParaRPr lang="en-US" sz="1300" dirty="0"/>
          </a:p>
        </p:txBody>
      </p:sp>
      <p:sp>
        <p:nvSpPr>
          <p:cNvPr id="8" name="Text 6"/>
          <p:cNvSpPr/>
          <p:nvPr/>
        </p:nvSpPr>
        <p:spPr>
          <a:xfrm>
            <a:off x="6303904" y="2653705"/>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Institution Details</a:t>
            </a:r>
            <a:endParaRPr lang="en-US" sz="1600" dirty="0"/>
          </a:p>
        </p:txBody>
      </p:sp>
      <p:sp>
        <p:nvSpPr>
          <p:cNvPr id="9" name="Text 7"/>
          <p:cNvSpPr/>
          <p:nvPr/>
        </p:nvSpPr>
        <p:spPr>
          <a:xfrm>
            <a:off x="6303904" y="3077468"/>
            <a:ext cx="5232666" cy="1091505"/>
          </a:xfrm>
          <a:prstGeom prst="rect">
            <a:avLst/>
          </a:prstGeom>
          <a:noFill/>
          <a:ln/>
        </p:spPr>
        <p:txBody>
          <a:bodyPr wrap="square" lIns="0" tIns="0" rIns="0" bIns="0" rtlCol="0" anchor="t"/>
          <a:lstStyle/>
          <a:p>
            <a:pPr marL="0" indent="0" algn="l">
              <a:lnSpc>
                <a:spcPct val="133000"/>
              </a:lnSpc>
              <a:spcAft>
                <a:spcPts val="1150"/>
              </a:spcAft>
              <a:buNone/>
            </a:pPr>
            <a:r>
              <a:rPr lang="en-US" sz="1300" b="1" dirty="0">
                <a:solidFill>
                  <a:srgbClr val="333F70"/>
                </a:solidFill>
                <a:latin typeface="Open Sans Bold" pitchFamily="34" charset="0"/>
                <a:ea typeface="Open Sans Bold" pitchFamily="34" charset="-122"/>
                <a:cs typeface="Open Sans Bold" pitchFamily="34" charset="-120"/>
              </a:rPr>
              <a:t>Department:</a:t>
            </a:r>
            <a:r>
              <a:rPr lang="en-US" sz="1300" dirty="0">
                <a:solidFill>
                  <a:srgbClr val="333F70"/>
                </a:solidFill>
                <a:latin typeface="Open Sans" pitchFamily="34" charset="0"/>
                <a:ea typeface="Open Sans" pitchFamily="34" charset="-122"/>
                <a:cs typeface="Open Sans" pitchFamily="34" charset="-120"/>
              </a:rPr>
              <a:t> CSE</a:t>
            </a:r>
            <a:endParaRPr lang="en-US" sz="1300" dirty="0"/>
          </a:p>
          <a:p>
            <a:pPr marL="0" indent="0" algn="l">
              <a:lnSpc>
                <a:spcPct val="133000"/>
              </a:lnSpc>
              <a:spcAft>
                <a:spcPts val="1150"/>
              </a:spcAft>
              <a:buNone/>
            </a:pPr>
            <a:r>
              <a:rPr lang="en-US" sz="1300" b="1" dirty="0">
                <a:solidFill>
                  <a:srgbClr val="333F70"/>
                </a:solidFill>
                <a:latin typeface="Open Sans Bold" pitchFamily="34" charset="0"/>
                <a:ea typeface="Open Sans Bold" pitchFamily="34" charset="-122"/>
                <a:cs typeface="Open Sans Bold" pitchFamily="34" charset="-120"/>
              </a:rPr>
              <a:t>College / Institution:</a:t>
            </a:r>
            <a:r>
              <a:rPr lang="en-US" sz="1300" dirty="0">
                <a:solidFill>
                  <a:srgbClr val="333F70"/>
                </a:solidFill>
                <a:latin typeface="Open Sans" pitchFamily="34" charset="0"/>
                <a:ea typeface="Open Sans" pitchFamily="34" charset="-122"/>
                <a:cs typeface="Open Sans" pitchFamily="34" charset="-120"/>
              </a:rPr>
              <a:t> KLH Bachupally</a:t>
            </a:r>
            <a:endParaRPr lang="en-US" sz="1300" dirty="0"/>
          </a:p>
          <a:p>
            <a:pPr marL="0" indent="0" algn="l">
              <a:lnSpc>
                <a:spcPct val="133000"/>
              </a:lnSpc>
              <a:buNone/>
            </a:pPr>
            <a:r>
              <a:rPr lang="en-US" sz="1300" b="1" dirty="0">
                <a:solidFill>
                  <a:srgbClr val="333F70"/>
                </a:solidFill>
                <a:latin typeface="Open Sans Bold" pitchFamily="34" charset="0"/>
                <a:ea typeface="Open Sans Bold" pitchFamily="34" charset="-122"/>
                <a:cs typeface="Open Sans Bold" pitchFamily="34" charset="-120"/>
              </a:rPr>
              <a:t>Academic Year:</a:t>
            </a:r>
            <a:r>
              <a:rPr lang="en-US" sz="1300" dirty="0">
                <a:solidFill>
                  <a:srgbClr val="333F70"/>
                </a:solidFill>
                <a:latin typeface="Open Sans" pitchFamily="34" charset="0"/>
                <a:ea typeface="Open Sans" pitchFamily="34" charset="-122"/>
                <a:cs typeface="Open Sans" pitchFamily="34" charset="-120"/>
              </a:rPr>
              <a:t> 2026 - 2027</a:t>
            </a:r>
            <a:endParaRPr lang="en-US" sz="1300" dirty="0"/>
          </a:p>
        </p:txBody>
      </p:sp>
      <p:sp>
        <p:nvSpPr>
          <p:cNvPr id="10" name="Shape 8"/>
          <p:cNvSpPr/>
          <p:nvPr/>
        </p:nvSpPr>
        <p:spPr>
          <a:xfrm>
            <a:off x="661475" y="5297686"/>
            <a:ext cx="2593216" cy="965597"/>
          </a:xfrm>
          <a:prstGeom prst="roundRect">
            <a:avLst>
              <a:gd name="adj" fmla="val 7194"/>
            </a:avLst>
          </a:prstGeom>
          <a:solidFill>
            <a:srgbClr val="D6F5EE"/>
          </a:solidFill>
          <a:ln w="6350">
            <a:solidFill>
              <a:srgbClr val="BCDBD4"/>
            </a:solidFill>
            <a:prstDash val="solid"/>
          </a:ln>
        </p:spPr>
      </p:sp>
      <p:sp>
        <p:nvSpPr>
          <p:cNvPr id="11" name="Text 9"/>
          <p:cNvSpPr/>
          <p:nvPr/>
        </p:nvSpPr>
        <p:spPr>
          <a:xfrm>
            <a:off x="833119" y="5469334"/>
            <a:ext cx="22499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Domain</a:t>
            </a:r>
            <a:endParaRPr lang="en-US" sz="1600" dirty="0"/>
          </a:p>
        </p:txBody>
      </p:sp>
      <p:sp>
        <p:nvSpPr>
          <p:cNvPr id="12" name="Text 10"/>
          <p:cNvSpPr/>
          <p:nvPr/>
        </p:nvSpPr>
        <p:spPr>
          <a:xfrm>
            <a:off x="833119" y="5827018"/>
            <a:ext cx="2249927"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Digital Logic Design</a:t>
            </a:r>
            <a:endParaRPr lang="en-US" sz="1300" dirty="0"/>
          </a:p>
        </p:txBody>
      </p:sp>
      <p:sp>
        <p:nvSpPr>
          <p:cNvPr id="13" name="Shape 11"/>
          <p:cNvSpPr/>
          <p:nvPr/>
        </p:nvSpPr>
        <p:spPr>
          <a:xfrm>
            <a:off x="3419985" y="5297686"/>
            <a:ext cx="2593216" cy="965597"/>
          </a:xfrm>
          <a:prstGeom prst="roundRect">
            <a:avLst>
              <a:gd name="adj" fmla="val 7194"/>
            </a:avLst>
          </a:prstGeom>
          <a:solidFill>
            <a:srgbClr val="D6F5EE"/>
          </a:solidFill>
          <a:ln w="6350">
            <a:solidFill>
              <a:srgbClr val="BCDBD4"/>
            </a:solidFill>
            <a:prstDash val="solid"/>
          </a:ln>
        </p:spPr>
      </p:sp>
      <p:sp>
        <p:nvSpPr>
          <p:cNvPr id="14" name="Text 12"/>
          <p:cNvSpPr/>
          <p:nvPr/>
        </p:nvSpPr>
        <p:spPr>
          <a:xfrm>
            <a:off x="3591629" y="5469334"/>
            <a:ext cx="22499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Scope</a:t>
            </a:r>
            <a:endParaRPr lang="en-US" sz="1600" dirty="0"/>
          </a:p>
        </p:txBody>
      </p:sp>
      <p:sp>
        <p:nvSpPr>
          <p:cNvPr id="15" name="Text 13"/>
          <p:cNvSpPr/>
          <p:nvPr/>
        </p:nvSpPr>
        <p:spPr>
          <a:xfrm>
            <a:off x="3591629" y="5827018"/>
            <a:ext cx="2249927"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4-Bit Binary Arithmetic</a:t>
            </a:r>
            <a:endParaRPr lang="en-US" sz="1300" dirty="0"/>
          </a:p>
        </p:txBody>
      </p:sp>
      <p:sp>
        <p:nvSpPr>
          <p:cNvPr id="16" name="Shape 14"/>
          <p:cNvSpPr/>
          <p:nvPr/>
        </p:nvSpPr>
        <p:spPr>
          <a:xfrm>
            <a:off x="6178495" y="5297686"/>
            <a:ext cx="2593216" cy="965597"/>
          </a:xfrm>
          <a:prstGeom prst="roundRect">
            <a:avLst>
              <a:gd name="adj" fmla="val 7194"/>
            </a:avLst>
          </a:prstGeom>
          <a:solidFill>
            <a:srgbClr val="D6F5EE"/>
          </a:solidFill>
          <a:ln w="6350">
            <a:solidFill>
              <a:srgbClr val="BCDBD4"/>
            </a:solidFill>
            <a:prstDash val="solid"/>
          </a:ln>
        </p:spPr>
      </p:sp>
      <p:sp>
        <p:nvSpPr>
          <p:cNvPr id="17" name="Text 15"/>
          <p:cNvSpPr/>
          <p:nvPr/>
        </p:nvSpPr>
        <p:spPr>
          <a:xfrm>
            <a:off x="6350139" y="5469334"/>
            <a:ext cx="22499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Tool</a:t>
            </a:r>
            <a:endParaRPr lang="en-US" sz="1600" dirty="0"/>
          </a:p>
        </p:txBody>
      </p:sp>
      <p:sp>
        <p:nvSpPr>
          <p:cNvPr id="18" name="Text 16"/>
          <p:cNvSpPr/>
          <p:nvPr/>
        </p:nvSpPr>
        <p:spPr>
          <a:xfrm>
            <a:off x="6350139" y="5827018"/>
            <a:ext cx="2249927"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Logisim / Digital Simulator</a:t>
            </a:r>
            <a:endParaRPr lang="en-US" sz="1300" dirty="0"/>
          </a:p>
        </p:txBody>
      </p:sp>
      <p:sp>
        <p:nvSpPr>
          <p:cNvPr id="19" name="Shape 17"/>
          <p:cNvSpPr/>
          <p:nvPr/>
        </p:nvSpPr>
        <p:spPr>
          <a:xfrm>
            <a:off x="8937005" y="5297686"/>
            <a:ext cx="2593216" cy="965597"/>
          </a:xfrm>
          <a:prstGeom prst="roundRect">
            <a:avLst>
              <a:gd name="adj" fmla="val 7194"/>
            </a:avLst>
          </a:prstGeom>
          <a:solidFill>
            <a:srgbClr val="D6F5EE"/>
          </a:solidFill>
          <a:ln w="6350">
            <a:solidFill>
              <a:srgbClr val="BCDBD4"/>
            </a:solidFill>
            <a:prstDash val="solid"/>
          </a:ln>
        </p:spPr>
      </p:sp>
      <p:sp>
        <p:nvSpPr>
          <p:cNvPr id="20" name="Text 18"/>
          <p:cNvSpPr/>
          <p:nvPr/>
        </p:nvSpPr>
        <p:spPr>
          <a:xfrm>
            <a:off x="9108649" y="5469334"/>
            <a:ext cx="22499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Type</a:t>
            </a:r>
            <a:endParaRPr lang="en-US" sz="1600" dirty="0"/>
          </a:p>
        </p:txBody>
      </p:sp>
      <p:sp>
        <p:nvSpPr>
          <p:cNvPr id="21" name="Text 19"/>
          <p:cNvSpPr/>
          <p:nvPr/>
        </p:nvSpPr>
        <p:spPr>
          <a:xfrm>
            <a:off x="9108649" y="5827018"/>
            <a:ext cx="2249927"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Gate-Level Implementation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04230"/>
            <a:ext cx="796409" cy="235446"/>
          </a:xfrm>
          <a:prstGeom prst="roundRect">
            <a:avLst>
              <a:gd name="adj" fmla="val 22127"/>
            </a:avLst>
          </a:prstGeom>
          <a:solidFill>
            <a:srgbClr val="D6F5EE"/>
          </a:solidFill>
          <a:ln/>
        </p:spPr>
      </p:sp>
      <p:sp>
        <p:nvSpPr>
          <p:cNvPr id="3" name="Text 1"/>
          <p:cNvSpPr/>
          <p:nvPr/>
        </p:nvSpPr>
        <p:spPr>
          <a:xfrm>
            <a:off x="754441" y="550664"/>
            <a:ext cx="1220062" cy="142577"/>
          </a:xfrm>
          <a:prstGeom prst="rect">
            <a:avLst/>
          </a:prstGeom>
          <a:noFill/>
          <a:ln/>
        </p:spPr>
        <p:txBody>
          <a:bodyPr wrap="none" lIns="0" tIns="0" rIns="0" bIns="0" rtlCol="0" anchor="t"/>
          <a:lstStyle/>
          <a:p>
            <a:pPr marL="0" indent="0" algn="l">
              <a:lnSpc>
                <a:spcPct val="96000"/>
              </a:lnSpc>
              <a:buNone/>
            </a:pPr>
            <a:r>
              <a:rPr lang="en-US" sz="950" dirty="0">
                <a:solidFill>
                  <a:srgbClr val="333F70"/>
                </a:solidFill>
                <a:latin typeface="Open Sans" pitchFamily="34" charset="0"/>
                <a:ea typeface="Open Sans" pitchFamily="34" charset="-122"/>
                <a:cs typeface="Open Sans" pitchFamily="34" charset="-120"/>
              </a:rPr>
              <a:t>SECTION 1</a:t>
            </a:r>
            <a:endParaRPr lang="en-US" sz="950" dirty="0"/>
          </a:p>
        </p:txBody>
      </p:sp>
      <p:sp>
        <p:nvSpPr>
          <p:cNvPr id="4" name="Text 2"/>
          <p:cNvSpPr/>
          <p:nvPr/>
        </p:nvSpPr>
        <p:spPr>
          <a:xfrm>
            <a:off x="661475" y="797818"/>
            <a:ext cx="10868745" cy="484485"/>
          </a:xfrm>
          <a:prstGeom prst="rect">
            <a:avLst/>
          </a:prstGeom>
          <a:noFill/>
          <a:ln/>
        </p:spPr>
        <p:txBody>
          <a:bodyPr wrap="none" lIns="0" tIns="0" rIns="0" bIns="0" rtlCol="0" anchor="t"/>
          <a:lstStyle/>
          <a:p>
            <a:pPr marL="0" indent="0" algn="l">
              <a:lnSpc>
                <a:spcPct val="104000"/>
              </a:lnSpc>
              <a:buNone/>
            </a:pPr>
            <a:r>
              <a:rPr lang="en-US" sz="3050" b="1" dirty="0">
                <a:solidFill>
                  <a:srgbClr val="333F70"/>
                </a:solidFill>
                <a:latin typeface="Unbounded Bold" pitchFamily="34" charset="0"/>
                <a:ea typeface="Unbounded Bold" pitchFamily="34" charset="-122"/>
                <a:cs typeface="Unbounded Bold" pitchFamily="34" charset="-120"/>
              </a:rPr>
              <a:t>Introduction</a:t>
            </a:r>
            <a:endParaRPr lang="en-US" sz="3050" dirty="0"/>
          </a:p>
        </p:txBody>
      </p:sp>
      <p:sp>
        <p:nvSpPr>
          <p:cNvPr id="5" name="Text 3"/>
          <p:cNvSpPr/>
          <p:nvPr/>
        </p:nvSpPr>
        <p:spPr>
          <a:xfrm>
            <a:off x="661475" y="1645642"/>
            <a:ext cx="5245266"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Background of Digital Logic Design</a:t>
            </a:r>
            <a:endParaRPr lang="en-US" sz="1500" dirty="0"/>
          </a:p>
        </p:txBody>
      </p:sp>
      <p:sp>
        <p:nvSpPr>
          <p:cNvPr id="6" name="Text 4"/>
          <p:cNvSpPr/>
          <p:nvPr/>
        </p:nvSpPr>
        <p:spPr>
          <a:xfrm>
            <a:off x="661475" y="2033191"/>
            <a:ext cx="5245266" cy="1201539"/>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All modern computing systems are founded on </a:t>
            </a:r>
            <a:r>
              <a:rPr lang="en-US" sz="1200" b="1" dirty="0">
                <a:solidFill>
                  <a:srgbClr val="333F70"/>
                </a:solidFill>
                <a:latin typeface="Open Sans Bold" pitchFamily="34" charset="0"/>
                <a:ea typeface="Open Sans Bold" pitchFamily="34" charset="-122"/>
                <a:cs typeface="Open Sans Bold" pitchFamily="34" charset="-120"/>
              </a:rPr>
              <a:t>digital logic design</a:t>
            </a:r>
            <a:r>
              <a:rPr lang="en-US" sz="1200" dirty="0">
                <a:solidFill>
                  <a:srgbClr val="333F70"/>
                </a:solidFill>
                <a:latin typeface="Open Sans" pitchFamily="34" charset="0"/>
                <a:ea typeface="Open Sans" pitchFamily="34" charset="-122"/>
                <a:cs typeface="Open Sans" pitchFamily="34" charset="-120"/>
              </a:rPr>
              <a:t> — the discipline of constructing circuits from elementary logic gates (AND, OR, NOT) that perform Boolean operations. Every processor, memory unit, and communication interface ultimately reduces to combinations of these primitives following Boolean algebra rules.</a:t>
            </a:r>
            <a:endParaRPr lang="en-US" sz="1200" dirty="0"/>
          </a:p>
        </p:txBody>
      </p:sp>
      <p:sp>
        <p:nvSpPr>
          <p:cNvPr id="7" name="Text 5"/>
          <p:cNvSpPr/>
          <p:nvPr/>
        </p:nvSpPr>
        <p:spPr>
          <a:xfrm>
            <a:off x="661475" y="3380085"/>
            <a:ext cx="5245266"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Binary Arithmetic as the Native Language</a:t>
            </a:r>
            <a:endParaRPr lang="en-US" sz="1500" dirty="0"/>
          </a:p>
        </p:txBody>
      </p:sp>
      <p:sp>
        <p:nvSpPr>
          <p:cNvPr id="8" name="Text 6"/>
          <p:cNvSpPr/>
          <p:nvPr/>
        </p:nvSpPr>
        <p:spPr>
          <a:xfrm>
            <a:off x="661475" y="3767634"/>
            <a:ext cx="5245266" cy="1201539"/>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Digital systems communicate exclusively in binary. All computation — from simple addition to floating-point operations — reduces to </a:t>
            </a:r>
            <a:r>
              <a:rPr lang="en-US" sz="1200" b="1" dirty="0">
                <a:solidFill>
                  <a:srgbClr val="26A688"/>
                </a:solidFill>
                <a:latin typeface="Open Sans Bold" pitchFamily="34" charset="0"/>
                <a:ea typeface="Open Sans Bold" pitchFamily="34" charset="-122"/>
                <a:cs typeface="Open Sans Bold" pitchFamily="34" charset="-120"/>
              </a:rPr>
              <a:t>binary addition and subtraction</a:t>
            </a:r>
            <a:r>
              <a:rPr lang="en-US" sz="1200" dirty="0">
                <a:solidFill>
                  <a:srgbClr val="333F70"/>
                </a:solidFill>
                <a:latin typeface="Open Sans" pitchFamily="34" charset="0"/>
                <a:ea typeface="Open Sans" pitchFamily="34" charset="-122"/>
                <a:cs typeface="Open Sans" pitchFamily="34" charset="-120"/>
              </a:rPr>
              <a:t> at the hardware level. Understanding binary arithmetic is therefore the gateway to understanding all digital computation.</a:t>
            </a:r>
            <a:endParaRPr lang="en-US" sz="1200" dirty="0"/>
          </a:p>
        </p:txBody>
      </p:sp>
      <p:sp>
        <p:nvSpPr>
          <p:cNvPr id="9" name="Text 7"/>
          <p:cNvSpPr/>
          <p:nvPr/>
        </p:nvSpPr>
        <p:spPr>
          <a:xfrm>
            <a:off x="661475" y="5114528"/>
            <a:ext cx="5245266"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Input → Process → Output Model</a:t>
            </a:r>
            <a:endParaRPr lang="en-US" sz="1500" dirty="0"/>
          </a:p>
        </p:txBody>
      </p:sp>
      <p:sp>
        <p:nvSpPr>
          <p:cNvPr id="10" name="Text 8"/>
          <p:cNvSpPr/>
          <p:nvPr/>
        </p:nvSpPr>
        <p:spPr>
          <a:xfrm>
            <a:off x="661475" y="5502077"/>
            <a:ext cx="5245266"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Every digital system follows this fundamental paradigm: accept binary inputs, perform logic operations, and produce outputs. The arithmetic calculator studied in this project is a pure embodiment of this model.</a:t>
            </a:r>
            <a:endParaRPr lang="en-US" sz="1200" dirty="0"/>
          </a:p>
        </p:txBody>
      </p:sp>
      <p:sp>
        <p:nvSpPr>
          <p:cNvPr id="11" name="Text 9"/>
          <p:cNvSpPr/>
          <p:nvPr/>
        </p:nvSpPr>
        <p:spPr>
          <a:xfrm>
            <a:off x="6291304" y="1645642"/>
            <a:ext cx="5245266" cy="484386"/>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Why Arithmetic Calculators Are Foundational</a:t>
            </a:r>
            <a:endParaRPr lang="en-US" sz="1500" dirty="0"/>
          </a:p>
        </p:txBody>
      </p:sp>
      <p:sp>
        <p:nvSpPr>
          <p:cNvPr id="12" name="Text 10"/>
          <p:cNvSpPr/>
          <p:nvPr/>
        </p:nvSpPr>
        <p:spPr>
          <a:xfrm>
            <a:off x="6291304" y="2275384"/>
            <a:ext cx="5245266"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The arithmetic logic unit (ALU) is the computational heart of every CPU. Hardware-level arithmetic circuits are the </a:t>
            </a:r>
            <a:r>
              <a:rPr lang="en-US" sz="1200" b="1" dirty="0">
                <a:solidFill>
                  <a:srgbClr val="333F70"/>
                </a:solidFill>
                <a:latin typeface="Open Sans Bold" pitchFamily="34" charset="0"/>
                <a:ea typeface="Open Sans Bold" pitchFamily="34" charset="-122"/>
                <a:cs typeface="Open Sans Bold" pitchFamily="34" charset="-120"/>
              </a:rPr>
              <a:t>core building blocks</a:t>
            </a:r>
            <a:r>
              <a:rPr lang="en-US" sz="1200" dirty="0">
                <a:solidFill>
                  <a:srgbClr val="333F70"/>
                </a:solidFill>
                <a:latin typeface="Open Sans" pitchFamily="34" charset="0"/>
                <a:ea typeface="Open Sans" pitchFamily="34" charset="-122"/>
                <a:cs typeface="Open Sans" pitchFamily="34" charset="-120"/>
              </a:rPr>
              <a:t> of ALUs, and mastering their design is essential to understanding computer architecture at a fundamental level.</a:t>
            </a:r>
            <a:endParaRPr lang="en-US" sz="1200" dirty="0"/>
          </a:p>
        </p:txBody>
      </p:sp>
      <p:sp>
        <p:nvSpPr>
          <p:cNvPr id="13" name="Shape 11"/>
          <p:cNvSpPr/>
          <p:nvPr/>
        </p:nvSpPr>
        <p:spPr>
          <a:xfrm>
            <a:off x="6291304" y="3400127"/>
            <a:ext cx="5245266" cy="1059855"/>
          </a:xfrm>
          <a:prstGeom prst="roundRect">
            <a:avLst>
              <a:gd name="adj" fmla="val 6144"/>
            </a:avLst>
          </a:prstGeom>
          <a:solidFill>
            <a:srgbClr val="D6F5EE"/>
          </a:solidFill>
          <a:ln/>
        </p:spPr>
      </p:sp>
      <p:pic>
        <p:nvPicPr>
          <p:cNvPr id="14" name="Image 0" descr="preencoded.png"/>
          <p:cNvPicPr>
            <a:picLocks noChangeAspect="1"/>
          </p:cNvPicPr>
          <p:nvPr/>
        </p:nvPicPr>
        <p:blipFill>
          <a:blip r:embed="rId3"/>
          <a:stretch>
            <a:fillRect/>
          </a:stretch>
        </p:blipFill>
        <p:spPr>
          <a:xfrm>
            <a:off x="6446279" y="3626346"/>
            <a:ext cx="193769" cy="154980"/>
          </a:xfrm>
          <a:prstGeom prst="rect">
            <a:avLst/>
          </a:prstGeom>
        </p:spPr>
      </p:pic>
      <p:sp>
        <p:nvSpPr>
          <p:cNvPr id="15" name="Text 12"/>
          <p:cNvSpPr/>
          <p:nvPr/>
        </p:nvSpPr>
        <p:spPr>
          <a:xfrm>
            <a:off x="6795025" y="3569593"/>
            <a:ext cx="4586570"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000000"/>
                </a:solidFill>
                <a:latin typeface="Open Sans" pitchFamily="34" charset="0"/>
                <a:ea typeface="Open Sans" pitchFamily="34" charset="-122"/>
                <a:cs typeface="Open Sans" pitchFamily="34" charset="-120"/>
              </a:rPr>
              <a:t>Complex processors emerge from combining basic gates (AND, OR, NOT) following Boolean algebra — a principle this project demonstrates end-to-end.</a:t>
            </a:r>
            <a:endParaRPr lang="en-US" sz="1200" dirty="0"/>
          </a:p>
        </p:txBody>
      </p:sp>
      <p:sp>
        <p:nvSpPr>
          <p:cNvPr id="16" name="Text 13"/>
          <p:cNvSpPr/>
          <p:nvPr/>
        </p:nvSpPr>
        <p:spPr>
          <a:xfrm>
            <a:off x="6291304" y="4623495"/>
            <a:ext cx="5245266"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Hardware from Simple Logic</a:t>
            </a:r>
            <a:endParaRPr lang="en-US" sz="1500" dirty="0"/>
          </a:p>
        </p:txBody>
      </p:sp>
      <p:sp>
        <p:nvSpPr>
          <p:cNvPr id="17" name="Text 14"/>
          <p:cNvSpPr/>
          <p:nvPr/>
        </p:nvSpPr>
        <p:spPr>
          <a:xfrm>
            <a:off x="6291304" y="5011043"/>
            <a:ext cx="5245266" cy="1201539"/>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The power of digital design lies in </a:t>
            </a:r>
            <a:r>
              <a:rPr lang="en-US" sz="1200" b="1" dirty="0">
                <a:solidFill>
                  <a:srgbClr val="333F70"/>
                </a:solidFill>
                <a:latin typeface="Open Sans Bold" pitchFamily="34" charset="0"/>
                <a:ea typeface="Open Sans Bold" pitchFamily="34" charset="-122"/>
                <a:cs typeface="Open Sans Bold" pitchFamily="34" charset="-120"/>
              </a:rPr>
              <a:t>composability</a:t>
            </a:r>
            <a:r>
              <a:rPr lang="en-US" sz="1200" dirty="0">
                <a:solidFill>
                  <a:srgbClr val="333F70"/>
                </a:solidFill>
                <a:latin typeface="Open Sans" pitchFamily="34" charset="0"/>
                <a:ea typeface="Open Sans" pitchFamily="34" charset="-122"/>
                <a:cs typeface="Open Sans" pitchFamily="34" charset="-120"/>
              </a:rPr>
              <a:t>: simple gates combine into half adders, half adders combine into full adders, full adders cascade into multi-bit arithmetic units, and those units form complete ALUs. This hierarchical abstraction is the foundation of all processor design.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486767"/>
            <a:ext cx="796409" cy="235446"/>
          </a:xfrm>
          <a:prstGeom prst="roundRect">
            <a:avLst>
              <a:gd name="adj" fmla="val 22127"/>
            </a:avLst>
          </a:prstGeom>
          <a:solidFill>
            <a:srgbClr val="D6F5EE"/>
          </a:solidFill>
          <a:ln/>
        </p:spPr>
      </p:sp>
      <p:sp>
        <p:nvSpPr>
          <p:cNvPr id="3" name="Text 1"/>
          <p:cNvSpPr/>
          <p:nvPr/>
        </p:nvSpPr>
        <p:spPr>
          <a:xfrm>
            <a:off x="754441" y="533202"/>
            <a:ext cx="1220062" cy="142577"/>
          </a:xfrm>
          <a:prstGeom prst="rect">
            <a:avLst/>
          </a:prstGeom>
          <a:noFill/>
          <a:ln/>
        </p:spPr>
        <p:txBody>
          <a:bodyPr wrap="none" lIns="0" tIns="0" rIns="0" bIns="0" rtlCol="0" anchor="t"/>
          <a:lstStyle/>
          <a:p>
            <a:pPr marL="0" indent="0" algn="l">
              <a:lnSpc>
                <a:spcPct val="96000"/>
              </a:lnSpc>
              <a:buNone/>
            </a:pPr>
            <a:r>
              <a:rPr lang="en-US" sz="950" dirty="0">
                <a:solidFill>
                  <a:srgbClr val="333F70"/>
                </a:solidFill>
                <a:latin typeface="Open Sans" pitchFamily="34" charset="0"/>
                <a:ea typeface="Open Sans" pitchFamily="34" charset="-122"/>
                <a:cs typeface="Open Sans" pitchFamily="34" charset="-120"/>
              </a:rPr>
              <a:t>SECTION 2</a:t>
            </a:r>
            <a:endParaRPr lang="en-US" sz="950" dirty="0"/>
          </a:p>
        </p:txBody>
      </p:sp>
      <p:sp>
        <p:nvSpPr>
          <p:cNvPr id="4" name="Text 2"/>
          <p:cNvSpPr/>
          <p:nvPr/>
        </p:nvSpPr>
        <p:spPr>
          <a:xfrm>
            <a:off x="661475" y="780355"/>
            <a:ext cx="10868745" cy="484485"/>
          </a:xfrm>
          <a:prstGeom prst="rect">
            <a:avLst/>
          </a:prstGeom>
          <a:noFill/>
          <a:ln/>
        </p:spPr>
        <p:txBody>
          <a:bodyPr wrap="none" lIns="0" tIns="0" rIns="0" bIns="0" rtlCol="0" anchor="t"/>
          <a:lstStyle/>
          <a:p>
            <a:pPr marL="0" indent="0" algn="l">
              <a:lnSpc>
                <a:spcPct val="104000"/>
              </a:lnSpc>
              <a:buNone/>
            </a:pPr>
            <a:r>
              <a:rPr lang="en-US" sz="3050" b="1" dirty="0">
                <a:solidFill>
                  <a:srgbClr val="333F70"/>
                </a:solidFill>
                <a:latin typeface="Unbounded Bold" pitchFamily="34" charset="0"/>
                <a:ea typeface="Unbounded Bold" pitchFamily="34" charset="-122"/>
                <a:cs typeface="Unbounded Bold" pitchFamily="34" charset="-120"/>
              </a:rPr>
              <a:t>Problem Statement</a:t>
            </a:r>
            <a:endParaRPr lang="en-US" sz="30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482824"/>
            <a:ext cx="3525948" cy="2844006"/>
          </a:xfrm>
          <a:prstGeom prst="rect">
            <a:avLst/>
          </a:prstGeom>
        </p:spPr>
      </p:pic>
      <p:sp>
        <p:nvSpPr>
          <p:cNvPr id="6" name="Text 3"/>
          <p:cNvSpPr/>
          <p:nvPr/>
        </p:nvSpPr>
        <p:spPr>
          <a:xfrm>
            <a:off x="911698" y="1656854"/>
            <a:ext cx="3101699" cy="484386"/>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Hardware-Level Circuit Necessity</a:t>
            </a:r>
            <a:endParaRPr lang="en-US" sz="1500" dirty="0"/>
          </a:p>
        </p:txBody>
      </p:sp>
      <p:sp>
        <p:nvSpPr>
          <p:cNvPr id="7" name="Text 4"/>
          <p:cNvSpPr/>
          <p:nvPr/>
        </p:nvSpPr>
        <p:spPr>
          <a:xfrm>
            <a:off x="911698" y="2228453"/>
            <a:ext cx="3101699" cy="1441847"/>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Software simulation alone cannot reveal how physical circuits perform arithmetic reliably at the gate level. A hardware-level design study is required to observe actual signal propagation, timing behavior, and gate interactions.</a:t>
            </a:r>
            <a:endParaRPr lang="en-US" sz="12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32774" y="1482824"/>
            <a:ext cx="3526047" cy="2844006"/>
          </a:xfrm>
          <a:prstGeom prst="rect">
            <a:avLst/>
          </a:prstGeom>
        </p:spPr>
      </p:pic>
      <p:sp>
        <p:nvSpPr>
          <p:cNvPr id="9" name="Text 5"/>
          <p:cNvSpPr/>
          <p:nvPr/>
        </p:nvSpPr>
        <p:spPr>
          <a:xfrm>
            <a:off x="4582998" y="1656854"/>
            <a:ext cx="3101798" cy="484386"/>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Limitations of Manual Computation</a:t>
            </a:r>
            <a:endParaRPr lang="en-US" sz="1500" dirty="0"/>
          </a:p>
        </p:txBody>
      </p:sp>
      <p:sp>
        <p:nvSpPr>
          <p:cNvPr id="10" name="Text 6"/>
          <p:cNvSpPr/>
          <p:nvPr/>
        </p:nvSpPr>
        <p:spPr>
          <a:xfrm>
            <a:off x="4582998" y="2228453"/>
            <a:ext cx="3101798" cy="1441847"/>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Manual binary arithmetic is inherently error-prone and, more critically, fails to illuminate circuit design principles. A working hardware implementation is needed to bridge theoretical arithmetic with practical logic design.</a:t>
            </a:r>
            <a:endParaRPr lang="en-US" sz="12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4173" y="1482824"/>
            <a:ext cx="3526047" cy="2844006"/>
          </a:xfrm>
          <a:prstGeom prst="rect">
            <a:avLst/>
          </a:prstGeom>
        </p:spPr>
      </p:pic>
      <p:sp>
        <p:nvSpPr>
          <p:cNvPr id="12" name="Text 7"/>
          <p:cNvSpPr/>
          <p:nvPr/>
        </p:nvSpPr>
        <p:spPr>
          <a:xfrm>
            <a:off x="8254397" y="1656854"/>
            <a:ext cx="3101798" cy="726579"/>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Signed Number Representation Challenge</a:t>
            </a:r>
            <a:endParaRPr lang="en-US" sz="1500" dirty="0"/>
          </a:p>
        </p:txBody>
      </p:sp>
      <p:sp>
        <p:nvSpPr>
          <p:cNvPr id="13" name="Text 8"/>
          <p:cNvSpPr/>
          <p:nvPr/>
        </p:nvSpPr>
        <p:spPr>
          <a:xfrm>
            <a:off x="8254397" y="2470646"/>
            <a:ext cx="3101798" cy="1682155"/>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Representing negative numbers within a fixed-width binary format requires careful encoding. </a:t>
            </a:r>
            <a:r>
              <a:rPr lang="en-US" sz="1200" b="1" dirty="0">
                <a:solidFill>
                  <a:srgbClr val="333F70"/>
                </a:solidFill>
                <a:latin typeface="Open Sans Bold" pitchFamily="34" charset="0"/>
                <a:ea typeface="Open Sans Bold" pitchFamily="34" charset="-122"/>
                <a:cs typeface="Open Sans Bold" pitchFamily="34" charset="-120"/>
              </a:rPr>
              <a:t>Two's complement</a:t>
            </a:r>
            <a:r>
              <a:rPr lang="en-US" sz="1200" dirty="0">
                <a:solidFill>
                  <a:srgbClr val="333F70"/>
                </a:solidFill>
                <a:latin typeface="Open Sans" pitchFamily="34" charset="0"/>
                <a:ea typeface="Open Sans" pitchFamily="34" charset="-122"/>
                <a:cs typeface="Open Sans" pitchFamily="34" charset="-120"/>
              </a:rPr>
              <a:t> is the industry-standard approach, but its correct implementation at the gate level demands systematic design and verification.</a:t>
            </a:r>
            <a:endParaRPr lang="en-US" sz="12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490343"/>
            <a:ext cx="5361647" cy="1880890"/>
          </a:xfrm>
          <a:prstGeom prst="rect">
            <a:avLst/>
          </a:prstGeom>
        </p:spPr>
      </p:pic>
      <p:sp>
        <p:nvSpPr>
          <p:cNvPr id="15" name="Text 9"/>
          <p:cNvSpPr/>
          <p:nvPr/>
        </p:nvSpPr>
        <p:spPr>
          <a:xfrm>
            <a:off x="911698" y="4664373"/>
            <a:ext cx="4937398" cy="484386"/>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Overflow Detection in Fixed-Width Arithmetic</a:t>
            </a:r>
            <a:endParaRPr lang="en-US" sz="1500" dirty="0"/>
          </a:p>
        </p:txBody>
      </p:sp>
      <p:sp>
        <p:nvSpPr>
          <p:cNvPr id="16" name="Text 10"/>
          <p:cNvSpPr/>
          <p:nvPr/>
        </p:nvSpPr>
        <p:spPr>
          <a:xfrm>
            <a:off x="911698" y="5235972"/>
            <a:ext cx="4937398"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4-bit binary arithmetic operates within a constrained numeric range. Results that exceed this range produce </a:t>
            </a:r>
            <a:r>
              <a:rPr lang="en-US" sz="1200" b="1" dirty="0">
                <a:solidFill>
                  <a:srgbClr val="333F70"/>
                </a:solidFill>
                <a:latin typeface="Open Sans Bold" pitchFamily="34" charset="0"/>
                <a:ea typeface="Open Sans Bold" pitchFamily="34" charset="-122"/>
                <a:cs typeface="Open Sans Bold" pitchFamily="34" charset="-120"/>
              </a:rPr>
              <a:t>silent errors</a:t>
            </a:r>
            <a:r>
              <a:rPr lang="en-US" sz="1200" dirty="0">
                <a:solidFill>
                  <a:srgbClr val="333F70"/>
                </a:solidFill>
                <a:latin typeface="Open Sans" pitchFamily="34" charset="0"/>
                <a:ea typeface="Open Sans" pitchFamily="34" charset="-122"/>
                <a:cs typeface="Open Sans" pitchFamily="34" charset="-120"/>
              </a:rPr>
              <a:t> without explicit overflow detection logic. Detecting and flagging overflow is critical for arithmetic correctness.</a:t>
            </a:r>
            <a:endParaRPr lang="en-US" sz="12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8474" y="4490343"/>
            <a:ext cx="5361746" cy="1880890"/>
          </a:xfrm>
          <a:prstGeom prst="rect">
            <a:avLst/>
          </a:prstGeom>
        </p:spPr>
      </p:pic>
      <p:sp>
        <p:nvSpPr>
          <p:cNvPr id="18" name="Text 11"/>
          <p:cNvSpPr/>
          <p:nvPr/>
        </p:nvSpPr>
        <p:spPr>
          <a:xfrm>
            <a:off x="6418697" y="4664373"/>
            <a:ext cx="4937498"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System Integration Complexity</a:t>
            </a:r>
            <a:endParaRPr lang="en-US" sz="1500" dirty="0"/>
          </a:p>
        </p:txBody>
      </p:sp>
      <p:sp>
        <p:nvSpPr>
          <p:cNvPr id="19" name="Text 12"/>
          <p:cNvSpPr/>
          <p:nvPr/>
        </p:nvSpPr>
        <p:spPr>
          <a:xfrm>
            <a:off x="6418697" y="4993779"/>
            <a:ext cx="4937498"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Combining multiple full adders, mode-control logic, two's complement negation, and overflow detection into a single cohesive, correctly functioning system requires a </a:t>
            </a:r>
            <a:r>
              <a:rPr lang="en-US" sz="1200" b="1" dirty="0">
                <a:solidFill>
                  <a:srgbClr val="333F70"/>
                </a:solidFill>
                <a:latin typeface="Open Sans Bold" pitchFamily="34" charset="0"/>
                <a:ea typeface="Open Sans Bold" pitchFamily="34" charset="-122"/>
                <a:cs typeface="Open Sans Bold" pitchFamily="34" charset="-120"/>
              </a:rPr>
              <a:t>systematic design methodology</a:t>
            </a:r>
            <a:r>
              <a:rPr lang="en-US" sz="1200" dirty="0">
                <a:solidFill>
                  <a:srgbClr val="333F70"/>
                </a:solidFill>
                <a:latin typeface="Open Sans" pitchFamily="34" charset="0"/>
                <a:ea typeface="Open Sans" pitchFamily="34" charset="-122"/>
                <a:cs typeface="Open Sans" pitchFamily="34" charset="-120"/>
              </a:rPr>
              <a:t> — not ad hoc assembly of components.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459383"/>
            <a:ext cx="849986" cy="251420"/>
          </a:xfrm>
          <a:prstGeom prst="roundRect">
            <a:avLst>
              <a:gd name="adj" fmla="val 22103"/>
            </a:avLst>
          </a:prstGeom>
          <a:solidFill>
            <a:srgbClr val="D6F5EE"/>
          </a:solidFill>
          <a:ln/>
        </p:spPr>
      </p:sp>
      <p:sp>
        <p:nvSpPr>
          <p:cNvPr id="3" name="Text 1"/>
          <p:cNvSpPr/>
          <p:nvPr/>
        </p:nvSpPr>
        <p:spPr>
          <a:xfrm>
            <a:off x="760691" y="508992"/>
            <a:ext cx="1261138" cy="152202"/>
          </a:xfrm>
          <a:prstGeom prst="rect">
            <a:avLst/>
          </a:prstGeom>
          <a:noFill/>
          <a:ln/>
        </p:spPr>
        <p:txBody>
          <a:bodyPr wrap="none" lIns="0" tIns="0" rIns="0" bIns="0" rtlCol="0" anchor="t"/>
          <a:lstStyle/>
          <a:p>
            <a:pPr marL="0" indent="0" algn="l">
              <a:lnSpc>
                <a:spcPct val="96000"/>
              </a:lnSpc>
              <a:buNone/>
            </a:pPr>
            <a:r>
              <a:rPr lang="en-US" sz="1000" dirty="0">
                <a:solidFill>
                  <a:srgbClr val="333F70"/>
                </a:solidFill>
                <a:latin typeface="Open Sans" pitchFamily="34" charset="0"/>
                <a:ea typeface="Open Sans" pitchFamily="34" charset="-122"/>
                <a:cs typeface="Open Sans" pitchFamily="34" charset="-120"/>
              </a:rPr>
              <a:t>SECTION 3</a:t>
            </a:r>
            <a:endParaRPr lang="en-US" sz="1000" dirty="0"/>
          </a:p>
        </p:txBody>
      </p:sp>
      <p:sp>
        <p:nvSpPr>
          <p:cNvPr id="4" name="Text 2"/>
          <p:cNvSpPr/>
          <p:nvPr/>
        </p:nvSpPr>
        <p:spPr>
          <a:xfrm>
            <a:off x="661475" y="776883"/>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Unbounded Bold" pitchFamily="34" charset="0"/>
                <a:ea typeface="Unbounded Bold" pitchFamily="34" charset="-122"/>
                <a:cs typeface="Unbounded Bold" pitchFamily="34" charset="-120"/>
              </a:rPr>
              <a:t>Objectives</a:t>
            </a:r>
            <a:endParaRPr lang="en-US" sz="3250" dirty="0"/>
          </a:p>
        </p:txBody>
      </p:sp>
      <p:sp>
        <p:nvSpPr>
          <p:cNvPr id="5" name="Shape 3"/>
          <p:cNvSpPr/>
          <p:nvPr/>
        </p:nvSpPr>
        <p:spPr>
          <a:xfrm>
            <a:off x="661475" y="1727696"/>
            <a:ext cx="372061" cy="372070"/>
          </a:xfrm>
          <a:prstGeom prst="roundRect">
            <a:avLst>
              <a:gd name="adj" fmla="val 18670"/>
            </a:avLst>
          </a:prstGeom>
          <a:solidFill>
            <a:srgbClr val="D6F5EE"/>
          </a:solidFill>
          <a:ln w="6350">
            <a:solidFill>
              <a:srgbClr val="BCDBD4"/>
            </a:solidFill>
            <a:prstDash val="solid"/>
          </a:ln>
        </p:spPr>
      </p:sp>
      <p:sp>
        <p:nvSpPr>
          <p:cNvPr id="6" name="Text 4"/>
          <p:cNvSpPr/>
          <p:nvPr/>
        </p:nvSpPr>
        <p:spPr>
          <a:xfrm>
            <a:off x="723485" y="1758702"/>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1</a:t>
            </a:r>
            <a:endParaRPr lang="en-US" sz="1950" dirty="0"/>
          </a:p>
        </p:txBody>
      </p:sp>
      <p:sp>
        <p:nvSpPr>
          <p:cNvPr id="7" name="Text 5"/>
          <p:cNvSpPr/>
          <p:nvPr/>
        </p:nvSpPr>
        <p:spPr>
          <a:xfrm>
            <a:off x="1198830" y="1784548"/>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Design the Core Adder/Subtractor</a:t>
            </a:r>
            <a:endParaRPr lang="en-US" sz="1600" dirty="0"/>
          </a:p>
        </p:txBody>
      </p:sp>
      <p:sp>
        <p:nvSpPr>
          <p:cNvPr id="8" name="Text 6"/>
          <p:cNvSpPr/>
          <p:nvPr/>
        </p:nvSpPr>
        <p:spPr>
          <a:xfrm>
            <a:off x="1198830" y="2208312"/>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Design a complete 4-bit adder/subtractor circuit built entirely from fundamental logic gates: AND, OR, NOT, NAND, NOR, XOR, and XNOR.</a:t>
            </a:r>
            <a:endParaRPr lang="en-US" sz="1300" dirty="0"/>
          </a:p>
        </p:txBody>
      </p:sp>
      <p:sp>
        <p:nvSpPr>
          <p:cNvPr id="9" name="Shape 7"/>
          <p:cNvSpPr/>
          <p:nvPr/>
        </p:nvSpPr>
        <p:spPr>
          <a:xfrm>
            <a:off x="661475" y="3332857"/>
            <a:ext cx="372061" cy="372070"/>
          </a:xfrm>
          <a:prstGeom prst="roundRect">
            <a:avLst>
              <a:gd name="adj" fmla="val 18670"/>
            </a:avLst>
          </a:prstGeom>
          <a:solidFill>
            <a:srgbClr val="D6F5EE"/>
          </a:solidFill>
          <a:ln w="6350">
            <a:solidFill>
              <a:srgbClr val="BCDBD4"/>
            </a:solidFill>
            <a:prstDash val="solid"/>
          </a:ln>
        </p:spPr>
      </p:sp>
      <p:sp>
        <p:nvSpPr>
          <p:cNvPr id="10" name="Text 8"/>
          <p:cNvSpPr/>
          <p:nvPr/>
        </p:nvSpPr>
        <p:spPr>
          <a:xfrm>
            <a:off x="723485" y="3363863"/>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2</a:t>
            </a:r>
            <a:endParaRPr lang="en-US" sz="1950" dirty="0"/>
          </a:p>
        </p:txBody>
      </p:sp>
      <p:sp>
        <p:nvSpPr>
          <p:cNvPr id="11" name="Text 9"/>
          <p:cNvSpPr/>
          <p:nvPr/>
        </p:nvSpPr>
        <p:spPr>
          <a:xfrm>
            <a:off x="1198830" y="3389709"/>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Implement Two's Complement</a:t>
            </a:r>
            <a:endParaRPr lang="en-US" sz="1600" dirty="0"/>
          </a:p>
        </p:txBody>
      </p:sp>
      <p:sp>
        <p:nvSpPr>
          <p:cNvPr id="12" name="Text 10"/>
          <p:cNvSpPr/>
          <p:nvPr/>
        </p:nvSpPr>
        <p:spPr>
          <a:xfrm>
            <a:off x="1198830" y="3813473"/>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Apply two's complement representation for signed arithmetic, enabling the circuit to correctly process both positive and negative integer operands.</a:t>
            </a:r>
            <a:endParaRPr lang="en-US" sz="1300" dirty="0"/>
          </a:p>
        </p:txBody>
      </p:sp>
      <p:sp>
        <p:nvSpPr>
          <p:cNvPr id="13" name="Shape 11"/>
          <p:cNvSpPr/>
          <p:nvPr/>
        </p:nvSpPr>
        <p:spPr>
          <a:xfrm>
            <a:off x="661475" y="4938018"/>
            <a:ext cx="372061" cy="372070"/>
          </a:xfrm>
          <a:prstGeom prst="roundRect">
            <a:avLst>
              <a:gd name="adj" fmla="val 18670"/>
            </a:avLst>
          </a:prstGeom>
          <a:solidFill>
            <a:srgbClr val="D6F5EE"/>
          </a:solidFill>
          <a:ln w="6350">
            <a:solidFill>
              <a:srgbClr val="BCDBD4"/>
            </a:solidFill>
            <a:prstDash val="solid"/>
          </a:ln>
        </p:spPr>
      </p:sp>
      <p:sp>
        <p:nvSpPr>
          <p:cNvPr id="14" name="Text 12"/>
          <p:cNvSpPr/>
          <p:nvPr/>
        </p:nvSpPr>
        <p:spPr>
          <a:xfrm>
            <a:off x="723485" y="4969024"/>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3</a:t>
            </a:r>
            <a:endParaRPr lang="en-US" sz="1950" dirty="0"/>
          </a:p>
        </p:txBody>
      </p:sp>
      <p:sp>
        <p:nvSpPr>
          <p:cNvPr id="15" name="Text 13"/>
          <p:cNvSpPr/>
          <p:nvPr/>
        </p:nvSpPr>
        <p:spPr>
          <a:xfrm>
            <a:off x="1198830" y="4994870"/>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Detect Overflow Conditions</a:t>
            </a:r>
            <a:endParaRPr lang="en-US" sz="1600" dirty="0"/>
          </a:p>
        </p:txBody>
      </p:sp>
      <p:sp>
        <p:nvSpPr>
          <p:cNvPr id="16" name="Text 14"/>
          <p:cNvSpPr/>
          <p:nvPr/>
        </p:nvSpPr>
        <p:spPr>
          <a:xfrm>
            <a:off x="1198830" y="5418634"/>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Design dedicated overflow detection logic and expose a 1-bit overflow flag output that correctly identifies out-of-range arithmetic results.</a:t>
            </a:r>
            <a:endParaRPr lang="en-US" sz="1300" dirty="0"/>
          </a:p>
        </p:txBody>
      </p:sp>
      <p:sp>
        <p:nvSpPr>
          <p:cNvPr id="17" name="Shape 15"/>
          <p:cNvSpPr/>
          <p:nvPr/>
        </p:nvSpPr>
        <p:spPr>
          <a:xfrm>
            <a:off x="6303904" y="1727696"/>
            <a:ext cx="372061" cy="372070"/>
          </a:xfrm>
          <a:prstGeom prst="roundRect">
            <a:avLst>
              <a:gd name="adj" fmla="val 18670"/>
            </a:avLst>
          </a:prstGeom>
          <a:solidFill>
            <a:srgbClr val="D6F5EE"/>
          </a:solidFill>
          <a:ln w="6350">
            <a:solidFill>
              <a:srgbClr val="BCDBD4"/>
            </a:solidFill>
            <a:prstDash val="solid"/>
          </a:ln>
        </p:spPr>
      </p:sp>
      <p:sp>
        <p:nvSpPr>
          <p:cNvPr id="18" name="Text 16"/>
          <p:cNvSpPr/>
          <p:nvPr/>
        </p:nvSpPr>
        <p:spPr>
          <a:xfrm>
            <a:off x="6365914" y="1758702"/>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1</a:t>
            </a:r>
            <a:endParaRPr lang="en-US" sz="1950" dirty="0"/>
          </a:p>
        </p:txBody>
      </p:sp>
      <p:sp>
        <p:nvSpPr>
          <p:cNvPr id="19" name="Text 17"/>
          <p:cNvSpPr/>
          <p:nvPr/>
        </p:nvSpPr>
        <p:spPr>
          <a:xfrm>
            <a:off x="6841259" y="1784548"/>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Simulate the Complete Circuit</a:t>
            </a:r>
            <a:endParaRPr lang="en-US" sz="1600" dirty="0"/>
          </a:p>
        </p:txBody>
      </p:sp>
      <p:sp>
        <p:nvSpPr>
          <p:cNvPr id="20" name="Text 18"/>
          <p:cNvSpPr/>
          <p:nvPr/>
        </p:nvSpPr>
        <p:spPr>
          <a:xfrm>
            <a:off x="6841259" y="2208312"/>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Build and simulate the full system in a digital logic simulator (Logisim or Digital), observing signal behavior across all gate levels.</a:t>
            </a:r>
            <a:endParaRPr lang="en-US" sz="1300" dirty="0"/>
          </a:p>
        </p:txBody>
      </p:sp>
      <p:sp>
        <p:nvSpPr>
          <p:cNvPr id="21" name="Shape 19"/>
          <p:cNvSpPr/>
          <p:nvPr/>
        </p:nvSpPr>
        <p:spPr>
          <a:xfrm>
            <a:off x="6303904" y="3332857"/>
            <a:ext cx="372061" cy="372070"/>
          </a:xfrm>
          <a:prstGeom prst="roundRect">
            <a:avLst>
              <a:gd name="adj" fmla="val 18670"/>
            </a:avLst>
          </a:prstGeom>
          <a:solidFill>
            <a:srgbClr val="D6F5EE"/>
          </a:solidFill>
          <a:ln w="6350">
            <a:solidFill>
              <a:srgbClr val="BCDBD4"/>
            </a:solidFill>
            <a:prstDash val="solid"/>
          </a:ln>
        </p:spPr>
      </p:sp>
      <p:sp>
        <p:nvSpPr>
          <p:cNvPr id="22" name="Text 20"/>
          <p:cNvSpPr/>
          <p:nvPr/>
        </p:nvSpPr>
        <p:spPr>
          <a:xfrm>
            <a:off x="6365914" y="3363863"/>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2</a:t>
            </a:r>
            <a:endParaRPr lang="en-US" sz="1950" dirty="0"/>
          </a:p>
        </p:txBody>
      </p:sp>
      <p:sp>
        <p:nvSpPr>
          <p:cNvPr id="23" name="Text 21"/>
          <p:cNvSpPr/>
          <p:nvPr/>
        </p:nvSpPr>
        <p:spPr>
          <a:xfrm>
            <a:off x="6841259" y="3389709"/>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Verify Correctness</a:t>
            </a:r>
            <a:endParaRPr lang="en-US" sz="1600" dirty="0"/>
          </a:p>
        </p:txBody>
      </p:sp>
      <p:sp>
        <p:nvSpPr>
          <p:cNvPr id="24" name="Text 22"/>
          <p:cNvSpPr/>
          <p:nvPr/>
        </p:nvSpPr>
        <p:spPr>
          <a:xfrm>
            <a:off x="6841259" y="3813473"/>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Validate the design through truth tables, structured test cases, and simulation results; confirm all outputs match mathematically expected values.</a:t>
            </a:r>
            <a:endParaRPr lang="en-US" sz="1300" dirty="0"/>
          </a:p>
        </p:txBody>
      </p:sp>
      <p:sp>
        <p:nvSpPr>
          <p:cNvPr id="25" name="Shape 23"/>
          <p:cNvSpPr/>
          <p:nvPr/>
        </p:nvSpPr>
        <p:spPr>
          <a:xfrm>
            <a:off x="6303904" y="4938018"/>
            <a:ext cx="372061" cy="372070"/>
          </a:xfrm>
          <a:prstGeom prst="roundRect">
            <a:avLst>
              <a:gd name="adj" fmla="val 18670"/>
            </a:avLst>
          </a:prstGeom>
          <a:solidFill>
            <a:srgbClr val="D6F5EE"/>
          </a:solidFill>
          <a:ln w="6350">
            <a:solidFill>
              <a:srgbClr val="BCDBD4"/>
            </a:solidFill>
            <a:prstDash val="solid"/>
          </a:ln>
        </p:spPr>
      </p:sp>
      <p:sp>
        <p:nvSpPr>
          <p:cNvPr id="26" name="Text 24"/>
          <p:cNvSpPr/>
          <p:nvPr/>
        </p:nvSpPr>
        <p:spPr>
          <a:xfrm>
            <a:off x="6365914" y="4969024"/>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3</a:t>
            </a:r>
            <a:endParaRPr lang="en-US" sz="1950" dirty="0"/>
          </a:p>
        </p:txBody>
      </p:sp>
      <p:sp>
        <p:nvSpPr>
          <p:cNvPr id="27" name="Text 25"/>
          <p:cNvSpPr/>
          <p:nvPr/>
        </p:nvSpPr>
        <p:spPr>
          <a:xfrm>
            <a:off x="6841259" y="4994870"/>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Document the Design Hierarchy</a:t>
            </a:r>
            <a:endParaRPr lang="en-US" sz="1600" dirty="0"/>
          </a:p>
        </p:txBody>
      </p:sp>
      <p:sp>
        <p:nvSpPr>
          <p:cNvPr id="28" name="Text 26"/>
          <p:cNvSpPr/>
          <p:nvPr/>
        </p:nvSpPr>
        <p:spPr>
          <a:xfrm>
            <a:off x="6841259" y="5418634"/>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Produce a complete documentation trail: from primitive gates → half/full adders → 4-bit adder → integrated calculator system.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616049"/>
            <a:ext cx="730133" cy="215801"/>
          </a:xfrm>
          <a:prstGeom prst="roundRect">
            <a:avLst>
              <a:gd name="adj" fmla="val 22130"/>
            </a:avLst>
          </a:prstGeom>
          <a:solidFill>
            <a:srgbClr val="D6F5EE"/>
          </a:solidFill>
          <a:ln/>
        </p:spPr>
      </p:sp>
      <p:sp>
        <p:nvSpPr>
          <p:cNvPr id="3" name="Text 1"/>
          <p:cNvSpPr/>
          <p:nvPr/>
        </p:nvSpPr>
        <p:spPr>
          <a:xfrm>
            <a:off x="746702" y="658614"/>
            <a:ext cx="1169264" cy="130671"/>
          </a:xfrm>
          <a:prstGeom prst="rect">
            <a:avLst/>
          </a:prstGeom>
          <a:noFill/>
          <a:ln/>
        </p:spPr>
        <p:txBody>
          <a:bodyPr wrap="none" lIns="0" tIns="0" rIns="0" bIns="0" rtlCol="0" anchor="t"/>
          <a:lstStyle/>
          <a:p>
            <a:pPr marL="0" indent="0" algn="l">
              <a:lnSpc>
                <a:spcPct val="96000"/>
              </a:lnSpc>
              <a:buNone/>
            </a:pPr>
            <a:r>
              <a:rPr lang="en-US" sz="850" dirty="0">
                <a:solidFill>
                  <a:srgbClr val="333F70"/>
                </a:solidFill>
                <a:latin typeface="Open Sans" pitchFamily="34" charset="0"/>
                <a:ea typeface="Open Sans" pitchFamily="34" charset="-122"/>
                <a:cs typeface="Open Sans" pitchFamily="34" charset="-120"/>
              </a:rPr>
              <a:t>SECTION 4</a:t>
            </a:r>
            <a:endParaRPr lang="en-US" sz="850" dirty="0"/>
          </a:p>
        </p:txBody>
      </p:sp>
      <p:sp>
        <p:nvSpPr>
          <p:cNvPr id="4" name="Text 2"/>
          <p:cNvSpPr/>
          <p:nvPr/>
        </p:nvSpPr>
        <p:spPr>
          <a:xfrm>
            <a:off x="661475" y="880666"/>
            <a:ext cx="10868745" cy="444103"/>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Literature Survey &amp; Existing Systems</a:t>
            </a:r>
            <a:endParaRPr lang="en-US" sz="2750" dirty="0"/>
          </a:p>
        </p:txBody>
      </p:sp>
      <p:sp>
        <p:nvSpPr>
          <p:cNvPr id="5" name="Text 3"/>
          <p:cNvSpPr/>
          <p:nvPr/>
        </p:nvSpPr>
        <p:spPr>
          <a:xfrm>
            <a:off x="661475" y="1630065"/>
            <a:ext cx="5821812"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Ripple-Carry Adders</a:t>
            </a:r>
            <a:endParaRPr lang="en-US" sz="1350" dirty="0"/>
          </a:p>
        </p:txBody>
      </p:sp>
      <p:sp>
        <p:nvSpPr>
          <p:cNvPr id="6" name="Text 4"/>
          <p:cNvSpPr/>
          <p:nvPr/>
        </p:nvSpPr>
        <p:spPr>
          <a:xfrm>
            <a:off x="661475" y="1974255"/>
            <a:ext cx="5821812" cy="1057176"/>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333F70"/>
                </a:solidFill>
                <a:latin typeface="Open Sans" pitchFamily="34" charset="0"/>
                <a:ea typeface="Open Sans" pitchFamily="34" charset="-122"/>
                <a:cs typeface="Open Sans" pitchFamily="34" charset="-120"/>
              </a:rPr>
              <a:t>The </a:t>
            </a:r>
            <a:r>
              <a:rPr lang="en-US" sz="1100" b="1" dirty="0">
                <a:solidFill>
                  <a:srgbClr val="333F70"/>
                </a:solidFill>
                <a:latin typeface="Open Sans Bold" pitchFamily="34" charset="0"/>
                <a:ea typeface="Open Sans Bold" pitchFamily="34" charset="-122"/>
                <a:cs typeface="Open Sans Bold" pitchFamily="34" charset="-120"/>
              </a:rPr>
              <a:t>ripple-carry adder (RCA)</a:t>
            </a:r>
            <a:r>
              <a:rPr lang="en-US" sz="1100" dirty="0">
                <a:solidFill>
                  <a:srgbClr val="333F70"/>
                </a:solidFill>
                <a:latin typeface="Open Sans" pitchFamily="34" charset="0"/>
                <a:ea typeface="Open Sans" pitchFamily="34" charset="-122"/>
                <a:cs typeface="Open Sans" pitchFamily="34" charset="-120"/>
              </a:rPr>
              <a:t> is the canonical gate-level design, where carry propagates sequentially through each bit stage. It is conceptually simple and uses minimal logic, making it the standard choice for educational implementations. The trade-off is propagation delay that grows linearly with bit width — a significant limitation for wide datapaths.</a:t>
            </a:r>
            <a:endParaRPr lang="en-US" sz="1100" dirty="0"/>
          </a:p>
        </p:txBody>
      </p:sp>
      <p:sp>
        <p:nvSpPr>
          <p:cNvPr id="7" name="Text 5"/>
          <p:cNvSpPr/>
          <p:nvPr/>
        </p:nvSpPr>
        <p:spPr>
          <a:xfrm>
            <a:off x="661475" y="3153569"/>
            <a:ext cx="5821812"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Carry-Lookahead Adders</a:t>
            </a:r>
            <a:endParaRPr lang="en-US" sz="1350" dirty="0"/>
          </a:p>
        </p:txBody>
      </p:sp>
      <p:sp>
        <p:nvSpPr>
          <p:cNvPr id="8" name="Text 6"/>
          <p:cNvSpPr/>
          <p:nvPr/>
        </p:nvSpPr>
        <p:spPr>
          <a:xfrm>
            <a:off x="661475" y="3497759"/>
            <a:ext cx="5821812" cy="845741"/>
          </a:xfrm>
          <a:prstGeom prst="rect">
            <a:avLst/>
          </a:prstGeom>
          <a:noFill/>
          <a:ln/>
        </p:spPr>
        <p:txBody>
          <a:bodyPr wrap="square" lIns="0" tIns="0" rIns="0" bIns="0" rtlCol="0" anchor="t">
            <a:normAutofit/>
          </a:bodyPr>
          <a:lstStyle/>
          <a:p>
            <a:pPr marL="0" indent="0" algn="l">
              <a:lnSpc>
                <a:spcPct val="124000"/>
              </a:lnSpc>
              <a:buNone/>
            </a:pPr>
            <a:r>
              <a:rPr lang="en-US" sz="1100" b="1" dirty="0">
                <a:solidFill>
                  <a:srgbClr val="333F70"/>
                </a:solidFill>
                <a:latin typeface="Open Sans Bold" pitchFamily="34" charset="0"/>
                <a:ea typeface="Open Sans Bold" pitchFamily="34" charset="-122"/>
                <a:cs typeface="Open Sans Bold" pitchFamily="34" charset="-120"/>
              </a:rPr>
              <a:t>Carry-lookahead adders (CLA)</a:t>
            </a:r>
            <a:r>
              <a:rPr lang="en-US" sz="1100" dirty="0">
                <a:solidFill>
                  <a:srgbClr val="333F70"/>
                </a:solidFill>
                <a:latin typeface="Open Sans" pitchFamily="34" charset="0"/>
                <a:ea typeface="Open Sans" pitchFamily="34" charset="-122"/>
                <a:cs typeface="Open Sans" pitchFamily="34" charset="-120"/>
              </a:rPr>
              <a:t> overcome RCA latency by computing carry signals in parallel using generate and propagate signals. This reduces critical path delay to O(log n) at the cost of substantially greater gate complexity — typically impractical for manual gate-level educational design.</a:t>
            </a:r>
            <a:endParaRPr lang="en-US" sz="1100" dirty="0"/>
          </a:p>
        </p:txBody>
      </p:sp>
      <p:sp>
        <p:nvSpPr>
          <p:cNvPr id="9" name="Text 7"/>
          <p:cNvSpPr/>
          <p:nvPr/>
        </p:nvSpPr>
        <p:spPr>
          <a:xfrm>
            <a:off x="661475" y="4465638"/>
            <a:ext cx="5821812"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ALU Designs in Real CPUs</a:t>
            </a:r>
            <a:endParaRPr lang="en-US" sz="1350" dirty="0"/>
          </a:p>
        </p:txBody>
      </p:sp>
      <p:sp>
        <p:nvSpPr>
          <p:cNvPr id="10" name="Text 8"/>
          <p:cNvSpPr/>
          <p:nvPr/>
        </p:nvSpPr>
        <p:spPr>
          <a:xfrm>
            <a:off x="661475" y="4809827"/>
            <a:ext cx="5821812" cy="845741"/>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333F70"/>
                </a:solidFill>
                <a:latin typeface="Open Sans" pitchFamily="34" charset="0"/>
                <a:ea typeface="Open Sans" pitchFamily="34" charset="-122"/>
                <a:cs typeface="Open Sans" pitchFamily="34" charset="-120"/>
              </a:rPr>
              <a:t>Modern processor ALUs combine optimized adder structures with multiplexers to support multiple operations: ADD, SUB, AND, OR, XOR, and shift. Real ALU designs abstract the adder as a sub-component and layer control logic on top, exactly the hierarchy this project simulates at the 4-bit educational scale.</a:t>
            </a:r>
            <a:endParaRPr lang="en-US" sz="1100" dirty="0"/>
          </a:p>
        </p:txBody>
      </p:sp>
      <p:sp>
        <p:nvSpPr>
          <p:cNvPr id="11" name="Shape 9"/>
          <p:cNvSpPr/>
          <p:nvPr/>
        </p:nvSpPr>
        <p:spPr>
          <a:xfrm>
            <a:off x="6734007" y="1507927"/>
            <a:ext cx="4904855" cy="4733925"/>
          </a:xfrm>
          <a:prstGeom prst="roundRect">
            <a:avLst>
              <a:gd name="adj" fmla="val 2162"/>
            </a:avLst>
          </a:prstGeom>
          <a:solidFill>
            <a:srgbClr val="DDF8F2"/>
          </a:solidFill>
          <a:ln/>
        </p:spPr>
      </p:sp>
      <p:sp>
        <p:nvSpPr>
          <p:cNvPr id="12" name="Text 10"/>
          <p:cNvSpPr/>
          <p:nvPr/>
        </p:nvSpPr>
        <p:spPr>
          <a:xfrm>
            <a:off x="6876084" y="1630065"/>
            <a:ext cx="4620700"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Comparison of Adder Architectures</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76084" y="1989435"/>
          <a:ext cx="9143771" cy="914400"/>
        </p:xfrm>
        <a:graphic>
          <a:graphicData uri="http://schemas.openxmlformats.org/drawingml/2006/table">
            <a:tbl>
              <a:tblPr/>
              <a:tblGrid>
                <a:gridCol w="1540233">
                  <a:extLst>
                    <a:ext uri="{9D8B030D-6E8A-4147-A177-3AD203B41FA5}">
                      <a16:colId xmlns:a16="http://schemas.microsoft.com/office/drawing/2014/main" val="20000"/>
                    </a:ext>
                  </a:extLst>
                </a:gridCol>
                <a:gridCol w="1540233">
                  <a:extLst>
                    <a:ext uri="{9D8B030D-6E8A-4147-A177-3AD203B41FA5}">
                      <a16:colId xmlns:a16="http://schemas.microsoft.com/office/drawing/2014/main" val="20001"/>
                    </a:ext>
                  </a:extLst>
                </a:gridCol>
                <a:gridCol w="1540233">
                  <a:extLst>
                    <a:ext uri="{9D8B030D-6E8A-4147-A177-3AD203B41FA5}">
                      <a16:colId xmlns:a16="http://schemas.microsoft.com/office/drawing/2014/main" val="20002"/>
                    </a:ext>
                  </a:extLst>
                </a:gridCol>
              </a:tblGrid>
              <a:tr h="373748">
                <a:tc>
                  <a:txBody>
                    <a:bodyPr/>
                    <a:lstStyle/>
                    <a:p>
                      <a:pPr marL="0" indent="0">
                        <a:buNone/>
                      </a:pPr>
                      <a:r>
                        <a:rPr lang="en-US" sz="1100" b="1" dirty="0">
                          <a:solidFill>
                            <a:srgbClr val="333F70"/>
                          </a:solidFill>
                          <a:latin typeface="Open Sans" pitchFamily="34" charset="0"/>
                          <a:ea typeface="Open Sans" pitchFamily="34" charset="-122"/>
                          <a:cs typeface="Open Sans" pitchFamily="34" charset="-120"/>
                        </a:rPr>
                        <a:t>Architecture</a:t>
                      </a:r>
                      <a:endParaRPr lang="en-US" sz="1100" dirty="0">
                        <a:latin typeface="Open Sans" charset="0"/>
                        <a:ea typeface="Open Sans" charset="0"/>
                        <a:cs typeface="Open Sans" charset="0"/>
                      </a:endParaRPr>
                    </a:p>
                  </a:txBody>
                  <a:tcPr marL="142133" marR="142133" marT="6350" marB="6350" anchor="ctr">
                    <a:lnL w="12700" cap="flat" cmpd="sng" algn="ctr">
                      <a:solidFill>
                        <a:srgbClr val="BCDBD4"/>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b="1" dirty="0">
                          <a:solidFill>
                            <a:srgbClr val="333F70"/>
                          </a:solidFill>
                          <a:latin typeface="Open Sans" pitchFamily="34" charset="0"/>
                          <a:ea typeface="Open Sans" pitchFamily="34" charset="-122"/>
                          <a:cs typeface="Open Sans" pitchFamily="34" charset="-120"/>
                        </a:rPr>
                        <a:t>Delay</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b="1" dirty="0">
                          <a:solidFill>
                            <a:srgbClr val="333F70"/>
                          </a:solidFill>
                          <a:latin typeface="Open Sans" pitchFamily="34" charset="0"/>
                          <a:ea typeface="Open Sans" pitchFamily="34" charset="-122"/>
                          <a:cs typeface="Open Sans" pitchFamily="34" charset="-120"/>
                        </a:rPr>
                        <a:t>Complexity</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extLst>
                  <a:ext uri="{0D108BD9-81ED-4DB2-BD59-A6C34878D82A}">
                    <a16:rowId xmlns:a16="http://schemas.microsoft.com/office/drawing/2014/main" val="10000"/>
                  </a:ext>
                </a:extLst>
              </a:tr>
              <a:tr h="376923">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Ripple-Carry</a:t>
                      </a:r>
                      <a:endParaRPr lang="en-US" sz="1100" dirty="0">
                        <a:latin typeface="Open Sans" charset="0"/>
                        <a:ea typeface="Open Sans" charset="0"/>
                        <a:cs typeface="Open Sans" charset="0"/>
                      </a:endParaRPr>
                    </a:p>
                  </a:txBody>
                  <a:tcPr marL="142133" marR="142133" marT="6350" marB="6350" anchor="ctr">
                    <a:lnL w="12700" cap="flat" cmpd="sng" algn="ctr">
                      <a:solidFill>
                        <a:srgbClr val="BCDBD4"/>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O(n)</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Low</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extLst>
                  <a:ext uri="{0D108BD9-81ED-4DB2-BD59-A6C34878D82A}">
                    <a16:rowId xmlns:a16="http://schemas.microsoft.com/office/drawing/2014/main" val="10001"/>
                  </a:ext>
                </a:extLst>
              </a:tr>
              <a:tr h="376923">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Carry-Lookahead</a:t>
                      </a:r>
                      <a:endParaRPr lang="en-US" sz="1100" dirty="0">
                        <a:latin typeface="Open Sans" charset="0"/>
                        <a:ea typeface="Open Sans" charset="0"/>
                        <a:cs typeface="Open Sans" charset="0"/>
                      </a:endParaRPr>
                    </a:p>
                  </a:txBody>
                  <a:tcPr marL="142133" marR="142133" marT="6350" marB="6350" anchor="ctr">
                    <a:lnL w="12700" cap="flat" cmpd="sng" algn="ctr">
                      <a:solidFill>
                        <a:srgbClr val="BCDBD4"/>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O(log n)</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High</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extLst>
                  <a:ext uri="{0D108BD9-81ED-4DB2-BD59-A6C34878D82A}">
                    <a16:rowId xmlns:a16="http://schemas.microsoft.com/office/drawing/2014/main" val="10002"/>
                  </a:ext>
                </a:extLst>
              </a:tr>
              <a:tr h="373748">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Carry-Select</a:t>
                      </a:r>
                      <a:endParaRPr lang="en-US" sz="1100" dirty="0">
                        <a:latin typeface="Open Sans" charset="0"/>
                        <a:ea typeface="Open Sans" charset="0"/>
                        <a:cs typeface="Open Sans" charset="0"/>
                      </a:endParaRPr>
                    </a:p>
                  </a:txBody>
                  <a:tcPr marL="142133" marR="142133" marT="6350" marB="6350" anchor="ctr">
                    <a:lnL w="12700" cap="flat" cmpd="sng" algn="ctr">
                      <a:solidFill>
                        <a:srgbClr val="BCDBD4"/>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O(√n)</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Medium</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extLst>
                  <a:ext uri="{0D108BD9-81ED-4DB2-BD59-A6C34878D82A}">
                    <a16:rowId xmlns:a16="http://schemas.microsoft.com/office/drawing/2014/main" val="10003"/>
                  </a:ext>
                </a:extLst>
              </a:tr>
            </a:tbl>
          </a:graphicData>
        </a:graphic>
      </p:graphicFrame>
      <p:sp>
        <p:nvSpPr>
          <p:cNvPr id="14" name="Text 11"/>
          <p:cNvSpPr/>
          <p:nvPr/>
        </p:nvSpPr>
        <p:spPr>
          <a:xfrm>
            <a:off x="6876084" y="3640832"/>
            <a:ext cx="4620700"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Motivation for 4-Bit Scope</a:t>
            </a:r>
            <a:endParaRPr lang="en-US" sz="1350" dirty="0"/>
          </a:p>
        </p:txBody>
      </p:sp>
      <p:sp>
        <p:nvSpPr>
          <p:cNvPr id="15" name="Text 12"/>
          <p:cNvSpPr/>
          <p:nvPr/>
        </p:nvSpPr>
        <p:spPr>
          <a:xfrm>
            <a:off x="6876084" y="3985022"/>
            <a:ext cx="4620700" cy="845741"/>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333F70"/>
                </a:solidFill>
                <a:latin typeface="Open Sans" pitchFamily="34" charset="0"/>
                <a:ea typeface="Open Sans" pitchFamily="34" charset="-122"/>
                <a:cs typeface="Open Sans" pitchFamily="34" charset="-120"/>
              </a:rPr>
              <a:t>The </a:t>
            </a:r>
            <a:r>
              <a:rPr lang="en-US" sz="1100" b="1" dirty="0">
                <a:solidFill>
                  <a:srgbClr val="333F70"/>
                </a:solidFill>
                <a:latin typeface="Open Sans Bold" pitchFamily="34" charset="0"/>
                <a:ea typeface="Open Sans Bold" pitchFamily="34" charset="-122"/>
                <a:cs typeface="Open Sans Bold" pitchFamily="34" charset="-120"/>
              </a:rPr>
              <a:t>4-bit width</a:t>
            </a:r>
            <a:r>
              <a:rPr lang="en-US" sz="1100" dirty="0">
                <a:solidFill>
                  <a:srgbClr val="333F70"/>
                </a:solidFill>
                <a:latin typeface="Open Sans" pitchFamily="34" charset="0"/>
                <a:ea typeface="Open Sans" pitchFamily="34" charset="-122"/>
                <a:cs typeface="Open Sans" pitchFamily="34" charset="-120"/>
              </a:rPr>
              <a:t> is pedagogically optimal: it is wide enough to demonstrate multi-stage carry propagation, signed arithmetic, and overflow detection, yet narrow enough that truth tables, gate counts, and wiring remain tractable for manual design and classroom review.</a:t>
            </a:r>
            <a:endParaRPr lang="en-US" sz="1100" dirty="0"/>
          </a:p>
        </p:txBody>
      </p:sp>
      <p:sp>
        <p:nvSpPr>
          <p:cNvPr id="16" name="Shape 13"/>
          <p:cNvSpPr/>
          <p:nvPr/>
        </p:nvSpPr>
        <p:spPr>
          <a:xfrm>
            <a:off x="6876084" y="4968081"/>
            <a:ext cx="4620700" cy="1136452"/>
          </a:xfrm>
          <a:prstGeom prst="roundRect">
            <a:avLst>
              <a:gd name="adj" fmla="val 5253"/>
            </a:avLst>
          </a:prstGeom>
          <a:solidFill>
            <a:srgbClr val="D6F5EE"/>
          </a:solidFill>
          <a:ln/>
        </p:spPr>
      </p:sp>
      <p:pic>
        <p:nvPicPr>
          <p:cNvPr id="17" name="Image 0" descr="preencoded.png"/>
          <p:cNvPicPr>
            <a:picLocks noChangeAspect="1"/>
          </p:cNvPicPr>
          <p:nvPr/>
        </p:nvPicPr>
        <p:blipFill>
          <a:blip r:embed="rId3"/>
          <a:stretch>
            <a:fillRect/>
          </a:stretch>
        </p:blipFill>
        <p:spPr>
          <a:xfrm>
            <a:off x="7018162" y="5160169"/>
            <a:ext cx="177597" cy="142081"/>
          </a:xfrm>
          <a:prstGeom prst="rect">
            <a:avLst/>
          </a:prstGeom>
        </p:spPr>
      </p:pic>
      <p:sp>
        <p:nvSpPr>
          <p:cNvPr id="18" name="Text 14"/>
          <p:cNvSpPr/>
          <p:nvPr/>
        </p:nvSpPr>
        <p:spPr>
          <a:xfrm>
            <a:off x="7337837" y="5113437"/>
            <a:ext cx="4016870" cy="845741"/>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000000"/>
                </a:solidFill>
                <a:latin typeface="Open Sans" pitchFamily="34" charset="0"/>
                <a:ea typeface="Open Sans" pitchFamily="34" charset="-122"/>
                <a:cs typeface="Open Sans" pitchFamily="34" charset="-120"/>
              </a:rPr>
              <a:t>Existing educational designs often omit signed arithmetic. This project explicitly includes two's complement and overflow detection to provide a more complete learning experience.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454819"/>
            <a:ext cx="424745" cy="125710"/>
          </a:xfrm>
          <a:prstGeom prst="roundRect">
            <a:avLst>
              <a:gd name="adj" fmla="val 22103"/>
            </a:avLst>
          </a:prstGeom>
          <a:solidFill>
            <a:srgbClr val="D6F5EE"/>
          </a:solidFill>
          <a:ln/>
        </p:spPr>
      </p:sp>
      <p:sp>
        <p:nvSpPr>
          <p:cNvPr id="3" name="Text 1"/>
          <p:cNvSpPr/>
          <p:nvPr/>
        </p:nvSpPr>
        <p:spPr>
          <a:xfrm>
            <a:off x="711083" y="479623"/>
            <a:ext cx="935113" cy="76101"/>
          </a:xfrm>
          <a:prstGeom prst="rect">
            <a:avLst/>
          </a:prstGeom>
          <a:noFill/>
          <a:ln/>
        </p:spPr>
        <p:txBody>
          <a:bodyPr wrap="none" lIns="0" tIns="0" rIns="0" bIns="0" rtlCol="0" anchor="t"/>
          <a:lstStyle/>
          <a:p>
            <a:pPr marL="0" indent="0" algn="l">
              <a:lnSpc>
                <a:spcPct val="96000"/>
              </a:lnSpc>
              <a:buNone/>
            </a:pPr>
            <a:r>
              <a:rPr lang="en-US" sz="500" dirty="0">
                <a:solidFill>
                  <a:srgbClr val="333F70"/>
                </a:solidFill>
                <a:latin typeface="Open Sans" pitchFamily="34" charset="0"/>
                <a:ea typeface="Open Sans" pitchFamily="34" charset="-122"/>
                <a:cs typeface="Open Sans" pitchFamily="34" charset="-120"/>
              </a:rPr>
              <a:t>SECTION 5</a:t>
            </a:r>
            <a:endParaRPr lang="en-US" sz="500" dirty="0"/>
          </a:p>
        </p:txBody>
      </p:sp>
      <p:sp>
        <p:nvSpPr>
          <p:cNvPr id="4" name="Text 2"/>
          <p:cNvSpPr/>
          <p:nvPr/>
        </p:nvSpPr>
        <p:spPr>
          <a:xfrm>
            <a:off x="661475" y="596999"/>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Proposed System</a:t>
            </a:r>
            <a:endParaRPr lang="en-US" sz="1600" dirty="0"/>
          </a:p>
        </p:txBody>
      </p:sp>
      <p:sp>
        <p:nvSpPr>
          <p:cNvPr id="5" name="Text 3"/>
          <p:cNvSpPr/>
          <p:nvPr/>
        </p:nvSpPr>
        <p:spPr>
          <a:xfrm>
            <a:off x="661475" y="871934"/>
            <a:ext cx="11728209" cy="206746"/>
          </a:xfrm>
          <a:prstGeom prst="rect">
            <a:avLst/>
          </a:prstGeom>
          <a:noFill/>
          <a:ln/>
        </p:spPr>
        <p:txBody>
          <a:bodyPr wrap="none" lIns="0" tIns="0" rIns="0" bIns="0" rtlCol="0" anchor="t"/>
          <a:lstStyle/>
          <a:p>
            <a:pPr marL="0" indent="0" algn="l">
              <a:lnSpc>
                <a:spcPct val="104000"/>
              </a:lnSpc>
              <a:buNone/>
            </a:pPr>
            <a:r>
              <a:rPr lang="en-US" sz="800" b="1" dirty="0">
                <a:solidFill>
                  <a:srgbClr val="333F70"/>
                </a:solidFill>
                <a:latin typeface="Unbounded Bold" pitchFamily="34" charset="0"/>
                <a:ea typeface="Unbounded Bold" pitchFamily="34" charset="-122"/>
                <a:cs typeface="Unbounded Bold" pitchFamily="34" charset="-120"/>
              </a:rPr>
              <a:t>System Overview</a:t>
            </a:r>
            <a:endParaRPr lang="en-US" sz="800" dirty="0"/>
          </a:p>
        </p:txBody>
      </p:sp>
      <p:sp>
        <p:nvSpPr>
          <p:cNvPr id="6" name="Text 4"/>
          <p:cNvSpPr/>
          <p:nvPr/>
        </p:nvSpPr>
        <p:spPr>
          <a:xfrm>
            <a:off x="661475" y="1063129"/>
            <a:ext cx="10868745" cy="132438"/>
          </a:xfrm>
          <a:prstGeom prst="rect">
            <a:avLst/>
          </a:prstGeom>
          <a:noFill/>
          <a:ln/>
        </p:spPr>
        <p:txBody>
          <a:bodyPr wrap="none" lIns="0" tIns="0" rIns="0" bIns="0" rtlCol="0" anchor="t"/>
          <a:lstStyle/>
          <a:p>
            <a:pPr marL="0" indent="0" algn="l">
              <a:lnSpc>
                <a:spcPct val="100000"/>
              </a:lnSpc>
              <a:buNone/>
            </a:pPr>
            <a:r>
              <a:rPr lang="en-US" sz="700" dirty="0">
                <a:solidFill>
                  <a:srgbClr val="333F70"/>
                </a:solidFill>
                <a:latin typeface="Open Sans" pitchFamily="34" charset="0"/>
                <a:ea typeface="Open Sans" pitchFamily="34" charset="-122"/>
                <a:cs typeface="Open Sans" pitchFamily="34" charset="-120"/>
              </a:rPr>
              <a:t>The proposed system is a </a:t>
            </a:r>
            <a:r>
              <a:rPr lang="en-US" sz="700" b="1" dirty="0">
                <a:solidFill>
                  <a:srgbClr val="333F70"/>
                </a:solidFill>
                <a:latin typeface="Open Sans Bold" pitchFamily="34" charset="0"/>
                <a:ea typeface="Open Sans Bold" pitchFamily="34" charset="-122"/>
                <a:cs typeface="Open Sans Bold" pitchFamily="34" charset="-120"/>
              </a:rPr>
              <a:t>4-bit binary arithmetic calculator</a:t>
            </a:r>
            <a:r>
              <a:rPr lang="en-US" sz="700" dirty="0">
                <a:solidFill>
                  <a:srgbClr val="333F70"/>
                </a:solidFill>
                <a:latin typeface="Open Sans" pitchFamily="34" charset="0"/>
                <a:ea typeface="Open Sans" pitchFamily="34" charset="-122"/>
                <a:cs typeface="Open Sans" pitchFamily="34" charset="-120"/>
              </a:rPr>
              <a:t> that accepts two signed 4-bit operands and a 1-bit mode control signal, performs addition or subtraction using a unified adder/subtractor circuit, and outputs a 4-bit result plus a 1-bit overflow flag.</a:t>
            </a:r>
            <a:endParaRPr lang="en-US" sz="700" dirty="0"/>
          </a:p>
        </p:txBody>
      </p:sp>
      <p:sp>
        <p:nvSpPr>
          <p:cNvPr id="7" name="Shape 5"/>
          <p:cNvSpPr/>
          <p:nvPr/>
        </p:nvSpPr>
        <p:spPr>
          <a:xfrm>
            <a:off x="661475" y="1208682"/>
            <a:ext cx="5841836" cy="1284933"/>
          </a:xfrm>
          <a:prstGeom prst="roundRect">
            <a:avLst>
              <a:gd name="adj" fmla="val 4326"/>
            </a:avLst>
          </a:prstGeom>
          <a:solidFill>
            <a:srgbClr val="D6F5EE"/>
          </a:solidFill>
          <a:ln w="6350">
            <a:solidFill>
              <a:srgbClr val="BCDBD4"/>
            </a:solidFill>
            <a:prstDash val="solid"/>
          </a:ln>
        </p:spPr>
      </p:sp>
      <p:sp>
        <p:nvSpPr>
          <p:cNvPr id="8" name="Text 6"/>
          <p:cNvSpPr/>
          <p:nvPr/>
        </p:nvSpPr>
        <p:spPr>
          <a:xfrm>
            <a:off x="750471" y="1297682"/>
            <a:ext cx="5649767" cy="206746"/>
          </a:xfrm>
          <a:prstGeom prst="rect">
            <a:avLst/>
          </a:prstGeom>
          <a:noFill/>
          <a:ln/>
        </p:spPr>
        <p:txBody>
          <a:bodyPr wrap="none" lIns="0" tIns="0" rIns="0" bIns="0" rtlCol="0" anchor="t"/>
          <a:lstStyle/>
          <a:p>
            <a:pPr marL="0" indent="0" algn="l">
              <a:lnSpc>
                <a:spcPct val="104000"/>
              </a:lnSpc>
              <a:buNone/>
            </a:pPr>
            <a:r>
              <a:rPr lang="en-US" sz="1000" b="1" dirty="0">
                <a:solidFill>
                  <a:srgbClr val="333F70"/>
                </a:solidFill>
                <a:latin typeface="Unbounded Bold" pitchFamily="34" charset="0"/>
                <a:ea typeface="Unbounded Bold" pitchFamily="34" charset="-122"/>
                <a:cs typeface="Unbounded Bold" pitchFamily="34" charset="-120"/>
              </a:rPr>
              <a:t>Input Specification</a:t>
            </a:r>
            <a:endParaRPr lang="en-US" sz="800" dirty="0"/>
          </a:p>
        </p:txBody>
      </p:sp>
      <p:sp>
        <p:nvSpPr>
          <p:cNvPr id="9" name="Text 7"/>
          <p:cNvSpPr/>
          <p:nvPr/>
        </p:nvSpPr>
        <p:spPr>
          <a:xfrm>
            <a:off x="750471" y="1451670"/>
            <a:ext cx="5649767" cy="753620"/>
          </a:xfrm>
          <a:prstGeom prst="rect">
            <a:avLst/>
          </a:prstGeom>
          <a:noFill/>
          <a:ln/>
        </p:spPr>
        <p:txBody>
          <a:bodyPr wrap="square" lIns="0" tIns="0" rIns="0" bIns="0" rtlCol="0" anchor="t"/>
          <a:lstStyle/>
          <a:p>
            <a:pPr marL="0" indent="0" algn="l">
              <a:lnSpc>
                <a:spcPct val="100000"/>
              </a:lnSpc>
              <a:spcAft>
                <a:spcPts val="150"/>
              </a:spcAft>
              <a:buNone/>
            </a:pPr>
            <a:r>
              <a:rPr lang="en-US" sz="800" b="1" dirty="0">
                <a:solidFill>
                  <a:srgbClr val="333F70"/>
                </a:solidFill>
                <a:latin typeface="Open Sans Bold" pitchFamily="34" charset="0"/>
                <a:ea typeface="Open Sans Bold" pitchFamily="34" charset="-122"/>
                <a:cs typeface="Open Sans Bold" pitchFamily="34" charset="-120"/>
              </a:rPr>
              <a:t>A[3:0]</a:t>
            </a:r>
            <a:r>
              <a:rPr lang="en-US" sz="800" dirty="0">
                <a:solidFill>
                  <a:srgbClr val="333F70"/>
                </a:solidFill>
                <a:latin typeface="Open Sans" pitchFamily="34" charset="0"/>
                <a:ea typeface="Open Sans" pitchFamily="34" charset="-122"/>
                <a:cs typeface="Open Sans" pitchFamily="34" charset="-120"/>
              </a:rPr>
              <a:t> — First 4-bit operand</a:t>
            </a:r>
            <a:endParaRPr lang="en-US" sz="800" dirty="0"/>
          </a:p>
          <a:p>
            <a:pPr marL="0" indent="0" algn="l">
              <a:lnSpc>
                <a:spcPct val="100000"/>
              </a:lnSpc>
              <a:spcAft>
                <a:spcPts val="150"/>
              </a:spcAft>
              <a:buNone/>
            </a:pPr>
            <a:r>
              <a:rPr lang="en-US" sz="800" b="1" dirty="0">
                <a:solidFill>
                  <a:srgbClr val="333F70"/>
                </a:solidFill>
                <a:latin typeface="Open Sans Bold" pitchFamily="34" charset="0"/>
                <a:ea typeface="Open Sans Bold" pitchFamily="34" charset="-122"/>
                <a:cs typeface="Open Sans Bold" pitchFamily="34" charset="-120"/>
              </a:rPr>
              <a:t>B[3:0]</a:t>
            </a:r>
            <a:r>
              <a:rPr lang="en-US" sz="800" dirty="0">
                <a:solidFill>
                  <a:srgbClr val="333F70"/>
                </a:solidFill>
                <a:latin typeface="Open Sans" pitchFamily="34" charset="0"/>
                <a:ea typeface="Open Sans" pitchFamily="34" charset="-122"/>
                <a:cs typeface="Open Sans" pitchFamily="34" charset="-120"/>
              </a:rPr>
              <a:t> — Second 4-bit operand</a:t>
            </a:r>
            <a:endParaRPr lang="en-US" sz="800" dirty="0"/>
          </a:p>
          <a:p>
            <a:pPr marL="0" indent="0" algn="l">
              <a:lnSpc>
                <a:spcPct val="100000"/>
              </a:lnSpc>
              <a:spcAft>
                <a:spcPts val="150"/>
              </a:spcAft>
              <a:buNone/>
            </a:pPr>
            <a:r>
              <a:rPr lang="en-US" sz="800" b="1" dirty="0">
                <a:solidFill>
                  <a:srgbClr val="333F70"/>
                </a:solidFill>
                <a:latin typeface="Open Sans Bold" pitchFamily="34" charset="0"/>
                <a:ea typeface="Open Sans Bold" pitchFamily="34" charset="-122"/>
                <a:cs typeface="Open Sans Bold" pitchFamily="34" charset="-120"/>
              </a:rPr>
              <a:t>Mode</a:t>
            </a:r>
            <a:r>
              <a:rPr lang="en-US" sz="800" dirty="0">
                <a:solidFill>
                  <a:srgbClr val="333F70"/>
                </a:solidFill>
                <a:latin typeface="Open Sans" pitchFamily="34" charset="0"/>
                <a:ea typeface="Open Sans" pitchFamily="34" charset="-122"/>
                <a:cs typeface="Open Sans" pitchFamily="34" charset="-120"/>
              </a:rPr>
              <a:t> — Control bit: 0 = Add, 1 = Subtract</a:t>
            </a:r>
            <a:endParaRPr lang="en-US" sz="800" dirty="0"/>
          </a:p>
          <a:p>
            <a:pPr marL="0" indent="0" algn="l">
              <a:lnSpc>
                <a:spcPct val="100000"/>
              </a:lnSpc>
              <a:buNone/>
            </a:pPr>
            <a:r>
              <a:rPr lang="en-US" sz="800" dirty="0">
                <a:solidFill>
                  <a:srgbClr val="333F70"/>
                </a:solidFill>
                <a:latin typeface="Open Sans" pitchFamily="34" charset="0"/>
                <a:ea typeface="Open Sans" pitchFamily="34" charset="-122"/>
                <a:cs typeface="Open Sans" pitchFamily="34" charset="-120"/>
              </a:rPr>
              <a:t>Signed range: </a:t>
            </a:r>
            <a:r>
              <a:rPr lang="en-US" sz="800" b="1" dirty="0">
                <a:solidFill>
                  <a:srgbClr val="333F70"/>
                </a:solidFill>
                <a:latin typeface="Open Sans Bold" pitchFamily="34" charset="0"/>
                <a:ea typeface="Open Sans Bold" pitchFamily="34" charset="-122"/>
                <a:cs typeface="Open Sans Bold" pitchFamily="34" charset="-120"/>
              </a:rPr>
              <a:t>−8 to +7</a:t>
            </a:r>
            <a:r>
              <a:rPr lang="en-US" sz="800" dirty="0">
                <a:solidFill>
                  <a:srgbClr val="333F70"/>
                </a:solidFill>
                <a:latin typeface="Open Sans" pitchFamily="34" charset="0"/>
                <a:ea typeface="Open Sans" pitchFamily="34" charset="-122"/>
                <a:cs typeface="Open Sans" pitchFamily="34" charset="-120"/>
              </a:rPr>
              <a:t> (two's complement)</a:t>
            </a:r>
            <a:endParaRPr lang="en-US" sz="800" dirty="0"/>
          </a:p>
        </p:txBody>
      </p:sp>
      <p:sp>
        <p:nvSpPr>
          <p:cNvPr id="10" name="Shape 8"/>
          <p:cNvSpPr/>
          <p:nvPr/>
        </p:nvSpPr>
        <p:spPr>
          <a:xfrm>
            <a:off x="6116484" y="1208682"/>
            <a:ext cx="5841836" cy="1284933"/>
          </a:xfrm>
          <a:prstGeom prst="roundRect">
            <a:avLst>
              <a:gd name="adj" fmla="val 4326"/>
            </a:avLst>
          </a:prstGeom>
          <a:solidFill>
            <a:srgbClr val="D6F5EE"/>
          </a:solidFill>
          <a:ln w="6350">
            <a:solidFill>
              <a:srgbClr val="BCDBD4"/>
            </a:solidFill>
            <a:prstDash val="solid"/>
          </a:ln>
        </p:spPr>
      </p:sp>
      <p:sp>
        <p:nvSpPr>
          <p:cNvPr id="11" name="Text 9"/>
          <p:cNvSpPr/>
          <p:nvPr/>
        </p:nvSpPr>
        <p:spPr>
          <a:xfrm>
            <a:off x="6205480" y="1297682"/>
            <a:ext cx="5649767" cy="206746"/>
          </a:xfrm>
          <a:prstGeom prst="rect">
            <a:avLst/>
          </a:prstGeom>
          <a:noFill/>
          <a:ln/>
        </p:spPr>
        <p:txBody>
          <a:bodyPr wrap="none" lIns="0" tIns="0" rIns="0" bIns="0" rtlCol="0" anchor="t"/>
          <a:lstStyle/>
          <a:p>
            <a:pPr marL="0" indent="0" algn="l">
              <a:lnSpc>
                <a:spcPct val="104000"/>
              </a:lnSpc>
              <a:buNone/>
            </a:pPr>
            <a:r>
              <a:rPr lang="en-US" sz="1000" b="1" dirty="0">
                <a:solidFill>
                  <a:srgbClr val="333F70"/>
                </a:solidFill>
                <a:latin typeface="Unbounded Bold" pitchFamily="34" charset="0"/>
                <a:ea typeface="Unbounded Bold" pitchFamily="34" charset="-122"/>
                <a:cs typeface="Unbounded Bold" pitchFamily="34" charset="-120"/>
              </a:rPr>
              <a:t>Two's Complement Core</a:t>
            </a:r>
            <a:endParaRPr lang="en-US" sz="800" dirty="0"/>
          </a:p>
        </p:txBody>
      </p:sp>
      <p:sp>
        <p:nvSpPr>
          <p:cNvPr id="12" name="Text 10"/>
          <p:cNvSpPr/>
          <p:nvPr/>
        </p:nvSpPr>
        <p:spPr>
          <a:xfrm>
            <a:off x="6205480" y="1451670"/>
            <a:ext cx="5663844" cy="513404"/>
          </a:xfrm>
          <a:prstGeom prst="rect">
            <a:avLst/>
          </a:prstGeom>
          <a:noFill/>
          <a:ln/>
        </p:spPr>
        <p:txBody>
          <a:bodyPr wrap="square" lIns="0" tIns="0" rIns="0" bIns="0" rtlCol="0" anchor="t">
            <a:normAutofit/>
          </a:bodyPr>
          <a:lstStyle/>
          <a:p>
            <a:pPr marL="0" indent="0" algn="l">
              <a:lnSpc>
                <a:spcPct val="100000"/>
              </a:lnSpc>
              <a:buNone/>
            </a:pPr>
            <a:r>
              <a:rPr lang="en-US" sz="1000" dirty="0">
                <a:solidFill>
                  <a:srgbClr val="333F70"/>
                </a:solidFill>
                <a:latin typeface="Open Sans" pitchFamily="34" charset="0"/>
                <a:ea typeface="Open Sans" pitchFamily="34" charset="-122"/>
                <a:cs typeface="Open Sans" pitchFamily="34" charset="-120"/>
              </a:rPr>
              <a:t>Subtraction is computed as </a:t>
            </a:r>
            <a:r>
              <a:rPr lang="en-US" sz="1000" b="1" dirty="0">
                <a:solidFill>
                  <a:srgbClr val="333F70"/>
                </a:solidFill>
                <a:latin typeface="Open Sans Bold" pitchFamily="34" charset="0"/>
                <a:ea typeface="Open Sans Bold" pitchFamily="34" charset="-122"/>
                <a:cs typeface="Open Sans Bold" pitchFamily="34" charset="-120"/>
              </a:rPr>
              <a:t>A − B = A + (−B)</a:t>
            </a:r>
            <a:r>
              <a:rPr lang="en-US" sz="1000" dirty="0">
                <a:solidFill>
                  <a:srgbClr val="333F70"/>
                </a:solidFill>
                <a:latin typeface="Open Sans" pitchFamily="34" charset="0"/>
                <a:ea typeface="Open Sans" pitchFamily="34" charset="-122"/>
                <a:cs typeface="Open Sans" pitchFamily="34" charset="-120"/>
              </a:rPr>
              <a:t>. Negation of B is achieved by XOR-ing each bit of B with the Mode signal, then injecting Mode as the initial carry-in — a clean one-circuit solution for both operations.</a:t>
            </a:r>
            <a:endParaRPr lang="en-US" sz="1000" dirty="0"/>
          </a:p>
        </p:txBody>
      </p:sp>
      <p:sp>
        <p:nvSpPr>
          <p:cNvPr id="13" name="Shape 11"/>
          <p:cNvSpPr/>
          <p:nvPr/>
        </p:nvSpPr>
        <p:spPr>
          <a:xfrm>
            <a:off x="661475" y="2052836"/>
            <a:ext cx="5841836" cy="1086604"/>
          </a:xfrm>
          <a:prstGeom prst="roundRect">
            <a:avLst>
              <a:gd name="adj" fmla="val 5116"/>
            </a:avLst>
          </a:prstGeom>
          <a:solidFill>
            <a:srgbClr val="D6F5EE"/>
          </a:solidFill>
          <a:ln w="6350">
            <a:solidFill>
              <a:srgbClr val="BCDBD4"/>
            </a:solidFill>
            <a:prstDash val="solid"/>
          </a:ln>
        </p:spPr>
      </p:sp>
      <p:sp>
        <p:nvSpPr>
          <p:cNvPr id="14" name="Text 12"/>
          <p:cNvSpPr/>
          <p:nvPr/>
        </p:nvSpPr>
        <p:spPr>
          <a:xfrm>
            <a:off x="750471" y="2141835"/>
            <a:ext cx="5649767" cy="20674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Overflow Detection</a:t>
            </a:r>
            <a:endParaRPr lang="en-US" sz="800" dirty="0"/>
          </a:p>
        </p:txBody>
      </p:sp>
      <p:sp>
        <p:nvSpPr>
          <p:cNvPr id="15" name="Text 13"/>
          <p:cNvSpPr/>
          <p:nvPr/>
        </p:nvSpPr>
        <p:spPr>
          <a:xfrm>
            <a:off x="704629" y="2377770"/>
            <a:ext cx="5238972" cy="584909"/>
          </a:xfrm>
          <a:prstGeom prst="rect">
            <a:avLst/>
          </a:prstGeom>
          <a:noFill/>
          <a:ln/>
        </p:spPr>
        <p:txBody>
          <a:bodyPr wrap="square" lIns="0" tIns="0" rIns="0" bIns="0" rtlCol="0" anchor="t">
            <a:noAutofit/>
          </a:bodyPr>
          <a:lstStyle/>
          <a:p>
            <a:pPr marL="0" indent="0" algn="l">
              <a:lnSpc>
                <a:spcPct val="100000"/>
              </a:lnSpc>
              <a:spcAft>
                <a:spcPts val="150"/>
              </a:spcAft>
              <a:buNone/>
            </a:pPr>
            <a:r>
              <a:rPr lang="en-US" sz="1000" dirty="0">
                <a:solidFill>
                  <a:srgbClr val="333F70"/>
                </a:solidFill>
                <a:latin typeface="Open Sans" pitchFamily="34" charset="0"/>
                <a:ea typeface="Open Sans" pitchFamily="34" charset="-122"/>
                <a:cs typeface="Open Sans" pitchFamily="34" charset="-120"/>
              </a:rPr>
              <a:t>A dedicated XOR gate compares the </a:t>
            </a:r>
            <a:r>
              <a:rPr lang="en-US" sz="1000" b="1" dirty="0">
                <a:solidFill>
                  <a:srgbClr val="333F70"/>
                </a:solidFill>
                <a:latin typeface="Open Sans Bold" pitchFamily="34" charset="0"/>
                <a:ea typeface="Open Sans Bold" pitchFamily="34" charset="-122"/>
                <a:cs typeface="Open Sans Bold" pitchFamily="34" charset="-120"/>
              </a:rPr>
              <a:t>carry-in and carry-out of the MSB</a:t>
            </a:r>
            <a:r>
              <a:rPr lang="en-US" sz="1000" dirty="0">
                <a:solidFill>
                  <a:srgbClr val="333F70"/>
                </a:solidFill>
                <a:latin typeface="Open Sans" pitchFamily="34" charset="0"/>
                <a:ea typeface="Open Sans" pitchFamily="34" charset="-122"/>
                <a:cs typeface="Open Sans" pitchFamily="34" charset="-120"/>
              </a:rPr>
              <a:t> (bit 3) stage. </a:t>
            </a:r>
          </a:p>
          <a:p>
            <a:pPr marL="0" indent="0" algn="l">
              <a:lnSpc>
                <a:spcPct val="100000"/>
              </a:lnSpc>
              <a:spcAft>
                <a:spcPts val="150"/>
              </a:spcAft>
              <a:buNone/>
            </a:pPr>
            <a:r>
              <a:rPr lang="en-US" sz="1000" dirty="0">
                <a:solidFill>
                  <a:srgbClr val="333F70"/>
                </a:solidFill>
                <a:latin typeface="Open Sans" pitchFamily="34" charset="0"/>
                <a:ea typeface="Open Sans" pitchFamily="34" charset="-122"/>
                <a:cs typeface="Open Sans" pitchFamily="34" charset="-120"/>
              </a:rPr>
              <a:t>Overflowing flag is asserted when these differ — indicating the result has exceeded the signed representable range.</a:t>
            </a:r>
            <a:endParaRPr lang="en-US" sz="1000" dirty="0"/>
          </a:p>
          <a:p>
            <a:pPr marL="0" indent="0" algn="l">
              <a:lnSpc>
                <a:spcPct val="100000"/>
              </a:lnSpc>
              <a:buNone/>
            </a:pPr>
            <a:r>
              <a:rPr lang="en-US" sz="1000" b="1" dirty="0">
                <a:solidFill>
                  <a:srgbClr val="333F70"/>
                </a:solidFill>
                <a:latin typeface="Open Sans Bold" pitchFamily="34" charset="0"/>
                <a:ea typeface="Open Sans Bold" pitchFamily="34" charset="-122"/>
                <a:cs typeface="Open Sans Bold" pitchFamily="34" charset="-120"/>
              </a:rPr>
              <a:t>OVF = Cin,MSB XOR Cout,MSB</a:t>
            </a:r>
            <a:endParaRPr lang="en-US" sz="1000" dirty="0"/>
          </a:p>
        </p:txBody>
      </p:sp>
      <p:sp>
        <p:nvSpPr>
          <p:cNvPr id="16" name="Shape 14"/>
          <p:cNvSpPr/>
          <p:nvPr/>
        </p:nvSpPr>
        <p:spPr>
          <a:xfrm>
            <a:off x="6116484" y="2052836"/>
            <a:ext cx="5841836" cy="1086604"/>
          </a:xfrm>
          <a:prstGeom prst="roundRect">
            <a:avLst>
              <a:gd name="adj" fmla="val 5116"/>
            </a:avLst>
          </a:prstGeom>
          <a:solidFill>
            <a:srgbClr val="D6F5EE"/>
          </a:solidFill>
          <a:ln w="6350">
            <a:solidFill>
              <a:srgbClr val="BCDBD4"/>
            </a:solidFill>
            <a:prstDash val="solid"/>
          </a:ln>
        </p:spPr>
        <p:txBody>
          <a:bodyPr/>
          <a:lstStyle/>
          <a:p>
            <a:endParaRPr lang="en-IN" dirty="0"/>
          </a:p>
        </p:txBody>
      </p:sp>
      <p:sp>
        <p:nvSpPr>
          <p:cNvPr id="17" name="Text 15"/>
          <p:cNvSpPr/>
          <p:nvPr/>
        </p:nvSpPr>
        <p:spPr>
          <a:xfrm>
            <a:off x="6205480" y="2141835"/>
            <a:ext cx="5649767" cy="206746"/>
          </a:xfrm>
          <a:prstGeom prst="rect">
            <a:avLst/>
          </a:prstGeom>
          <a:noFill/>
          <a:ln/>
        </p:spPr>
        <p:txBody>
          <a:bodyPr wrap="none" lIns="0" tIns="0" rIns="0" bIns="0" rtlCol="0" anchor="t"/>
          <a:lstStyle/>
          <a:p>
            <a:pPr marL="0" indent="0" algn="l">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Output Specification</a:t>
            </a:r>
            <a:endParaRPr lang="en-US" sz="800" dirty="0"/>
          </a:p>
        </p:txBody>
      </p:sp>
      <p:sp>
        <p:nvSpPr>
          <p:cNvPr id="18" name="Text 16"/>
          <p:cNvSpPr/>
          <p:nvPr/>
        </p:nvSpPr>
        <p:spPr>
          <a:xfrm>
            <a:off x="6212518" y="2407388"/>
            <a:ext cx="5649767" cy="555291"/>
          </a:xfrm>
          <a:prstGeom prst="rect">
            <a:avLst/>
          </a:prstGeom>
          <a:noFill/>
          <a:ln/>
        </p:spPr>
        <p:txBody>
          <a:bodyPr wrap="square" lIns="0" tIns="0" rIns="0" bIns="0" rtlCol="0" anchor="t"/>
          <a:lstStyle/>
          <a:p>
            <a:pPr marL="0" indent="0" algn="l">
              <a:lnSpc>
                <a:spcPct val="100000"/>
              </a:lnSpc>
              <a:spcAft>
                <a:spcPts val="150"/>
              </a:spcAft>
              <a:buNone/>
            </a:pPr>
            <a:r>
              <a:rPr lang="en-US" sz="1000" b="1" dirty="0">
                <a:solidFill>
                  <a:srgbClr val="333F70"/>
                </a:solidFill>
                <a:latin typeface="Open Sans Bold" pitchFamily="34" charset="0"/>
                <a:ea typeface="Open Sans Bold" pitchFamily="34" charset="-122"/>
                <a:cs typeface="Open Sans Bold" pitchFamily="34" charset="-120"/>
              </a:rPr>
              <a:t>Result[3:0]</a:t>
            </a:r>
            <a:r>
              <a:rPr lang="en-US" sz="1000" dirty="0">
                <a:solidFill>
                  <a:srgbClr val="333F70"/>
                </a:solidFill>
                <a:latin typeface="Open Sans" pitchFamily="34" charset="0"/>
                <a:ea typeface="Open Sans" pitchFamily="34" charset="-122"/>
                <a:cs typeface="Open Sans" pitchFamily="34" charset="-120"/>
              </a:rPr>
              <a:t> — 4-bit arithmetic result</a:t>
            </a:r>
            <a:endParaRPr lang="en-US" sz="1000" dirty="0"/>
          </a:p>
          <a:p>
            <a:pPr marL="0" indent="0" algn="l">
              <a:lnSpc>
                <a:spcPct val="100000"/>
              </a:lnSpc>
              <a:spcAft>
                <a:spcPts val="150"/>
              </a:spcAft>
              <a:buNone/>
            </a:pPr>
            <a:r>
              <a:rPr lang="en-US" sz="1000" b="1" dirty="0">
                <a:solidFill>
                  <a:srgbClr val="333F70"/>
                </a:solidFill>
                <a:latin typeface="Open Sans Bold" pitchFamily="34" charset="0"/>
                <a:ea typeface="Open Sans Bold" pitchFamily="34" charset="-122"/>
                <a:cs typeface="Open Sans Bold" pitchFamily="34" charset="-120"/>
              </a:rPr>
              <a:t>OVF</a:t>
            </a:r>
            <a:r>
              <a:rPr lang="en-US" sz="1000" dirty="0">
                <a:solidFill>
                  <a:srgbClr val="333F70"/>
                </a:solidFill>
                <a:latin typeface="Open Sans" pitchFamily="34" charset="0"/>
                <a:ea typeface="Open Sans" pitchFamily="34" charset="-122"/>
                <a:cs typeface="Open Sans" pitchFamily="34" charset="-120"/>
              </a:rPr>
              <a:t> — 1-bit overflow </a:t>
            </a:r>
            <a:r>
              <a:rPr lang="en-US" sz="1200" dirty="0">
                <a:solidFill>
                  <a:srgbClr val="333F70"/>
                </a:solidFill>
                <a:latin typeface="Open Sans" pitchFamily="34" charset="0"/>
                <a:ea typeface="Open Sans" pitchFamily="34" charset="-122"/>
                <a:cs typeface="Open Sans" pitchFamily="34" charset="-120"/>
              </a:rPr>
              <a:t>flag</a:t>
            </a:r>
            <a:endParaRPr lang="en-US" sz="1200" dirty="0"/>
          </a:p>
          <a:p>
            <a:pPr marL="0" indent="0" algn="l">
              <a:lnSpc>
                <a:spcPct val="100000"/>
              </a:lnSpc>
              <a:buNone/>
            </a:pPr>
            <a:r>
              <a:rPr lang="en-US" sz="1000" dirty="0">
                <a:solidFill>
                  <a:srgbClr val="333F70"/>
                </a:solidFill>
                <a:latin typeface="Open Sans" pitchFamily="34" charset="0"/>
                <a:ea typeface="Open Sans" pitchFamily="34" charset="-122"/>
                <a:cs typeface="Open Sans" pitchFamily="34" charset="-120"/>
              </a:rPr>
              <a:t>Gate-level implementation using Boolean sum-of-products expressions throughout</a:t>
            </a:r>
            <a:endParaRPr lang="en-US" sz="650" dirty="0"/>
          </a:p>
        </p:txBody>
      </p:sp>
      <p:pic>
        <p:nvPicPr>
          <p:cNvPr id="19" name="Image 0" descr="preencoded.png"/>
          <p:cNvPicPr>
            <a:picLocks noChangeAspect="1"/>
          </p:cNvPicPr>
          <p:nvPr/>
        </p:nvPicPr>
        <p:blipFill>
          <a:blip r:embed="rId3"/>
          <a:stretch>
            <a:fillRect/>
          </a:stretch>
        </p:blipFill>
        <p:spPr>
          <a:xfrm>
            <a:off x="661475" y="2975794"/>
            <a:ext cx="9488365" cy="4091671"/>
          </a:xfrm>
          <a:prstGeom prst="rect">
            <a:avLst/>
          </a:prstGeom>
        </p:spPr>
      </p:pic>
      <p:sp>
        <p:nvSpPr>
          <p:cNvPr id="20" name="Text 17"/>
          <p:cNvSpPr/>
          <p:nvPr/>
        </p:nvSpPr>
        <p:spPr>
          <a:xfrm>
            <a:off x="1290320" y="6308007"/>
            <a:ext cx="2445408" cy="305684"/>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Unbounded Bold" pitchFamily="34" charset="0"/>
                <a:ea typeface="Unbounded Bold" pitchFamily="34" charset="-122"/>
                <a:cs typeface="Unbounded Bold" pitchFamily="34" charset="-120"/>
              </a:rPr>
              <a:t>Outputs</a:t>
            </a:r>
            <a:endParaRPr lang="en-US" sz="1900" dirty="0"/>
          </a:p>
        </p:txBody>
      </p:sp>
      <p:sp>
        <p:nvSpPr>
          <p:cNvPr id="21" name="Text 18"/>
          <p:cNvSpPr/>
          <p:nvPr/>
        </p:nvSpPr>
        <p:spPr>
          <a:xfrm>
            <a:off x="1290320" y="5310263"/>
            <a:ext cx="2445408" cy="305684"/>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Unbounded Bold" pitchFamily="34" charset="0"/>
                <a:ea typeface="Unbounded Bold" pitchFamily="34" charset="-122"/>
                <a:cs typeface="Unbounded Bold" pitchFamily="34" charset="-120"/>
              </a:rPr>
              <a:t>4-bit Adder</a:t>
            </a:r>
            <a:endParaRPr lang="en-US" sz="1900" dirty="0"/>
          </a:p>
        </p:txBody>
      </p:sp>
      <p:sp>
        <p:nvSpPr>
          <p:cNvPr id="22" name="Text 19"/>
          <p:cNvSpPr/>
          <p:nvPr/>
        </p:nvSpPr>
        <p:spPr>
          <a:xfrm>
            <a:off x="1290320" y="4312520"/>
            <a:ext cx="2445408" cy="305683"/>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Unbounded Bold" pitchFamily="34" charset="0"/>
                <a:ea typeface="Unbounded Bold" pitchFamily="34" charset="-122"/>
                <a:cs typeface="Unbounded Bold" pitchFamily="34" charset="-120"/>
              </a:rPr>
              <a:t>Control Logic</a:t>
            </a:r>
            <a:endParaRPr lang="en-US" sz="1900" dirty="0"/>
          </a:p>
        </p:txBody>
      </p:sp>
      <p:sp>
        <p:nvSpPr>
          <p:cNvPr id="23" name="Text 20"/>
          <p:cNvSpPr/>
          <p:nvPr/>
        </p:nvSpPr>
        <p:spPr>
          <a:xfrm>
            <a:off x="1290320" y="3267344"/>
            <a:ext cx="2586671" cy="443326"/>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Unbounded Bold" pitchFamily="34" charset="0"/>
                <a:ea typeface="Unbounded Bold" pitchFamily="34" charset="-122"/>
                <a:cs typeface="Unbounded Bold" pitchFamily="34" charset="-120"/>
              </a:rPr>
              <a:t>Inputs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18716"/>
            <a:ext cx="584086" cy="172641"/>
          </a:xfrm>
          <a:prstGeom prst="roundRect">
            <a:avLst>
              <a:gd name="adj" fmla="val 22130"/>
            </a:avLst>
          </a:prstGeom>
          <a:solidFill>
            <a:srgbClr val="D6F5EE"/>
          </a:solidFill>
          <a:ln/>
        </p:spPr>
      </p:sp>
      <p:sp>
        <p:nvSpPr>
          <p:cNvPr id="3" name="Text 1"/>
          <p:cNvSpPr/>
          <p:nvPr/>
        </p:nvSpPr>
        <p:spPr>
          <a:xfrm>
            <a:off x="729636" y="552748"/>
            <a:ext cx="1057348" cy="104577"/>
          </a:xfrm>
          <a:prstGeom prst="rect">
            <a:avLst/>
          </a:prstGeom>
          <a:noFill/>
          <a:ln/>
        </p:spPr>
        <p:txBody>
          <a:bodyPr wrap="none" lIns="0" tIns="0" rIns="0" bIns="0" rtlCol="0" anchor="t"/>
          <a:lstStyle/>
          <a:p>
            <a:pPr marL="0" indent="0" algn="l">
              <a:lnSpc>
                <a:spcPct val="96000"/>
              </a:lnSpc>
              <a:buNone/>
            </a:pPr>
            <a:r>
              <a:rPr lang="en-US" sz="700" dirty="0">
                <a:solidFill>
                  <a:srgbClr val="333F70"/>
                </a:solidFill>
                <a:latin typeface="Open Sans" pitchFamily="34" charset="0"/>
                <a:ea typeface="Open Sans" pitchFamily="34" charset="-122"/>
                <a:cs typeface="Open Sans" pitchFamily="34" charset="-120"/>
              </a:rPr>
              <a:t>SECTION 6</a:t>
            </a:r>
            <a:endParaRPr lang="en-US" sz="700" dirty="0"/>
          </a:p>
        </p:txBody>
      </p:sp>
      <p:sp>
        <p:nvSpPr>
          <p:cNvPr id="4" name="Text 2"/>
          <p:cNvSpPr/>
          <p:nvPr/>
        </p:nvSpPr>
        <p:spPr>
          <a:xfrm>
            <a:off x="661475" y="722610"/>
            <a:ext cx="10868745" cy="355302"/>
          </a:xfrm>
          <a:prstGeom prst="rect">
            <a:avLst/>
          </a:prstGeom>
          <a:noFill/>
          <a:ln/>
        </p:spPr>
        <p:txBody>
          <a:bodyPr wrap="none" lIns="0" tIns="0" rIns="0" bIns="0" rtlCol="0" anchor="t"/>
          <a:lstStyle/>
          <a:p>
            <a:pPr marL="0" indent="0" algn="l">
              <a:lnSpc>
                <a:spcPct val="104000"/>
              </a:lnSpc>
              <a:buNone/>
            </a:pPr>
            <a:r>
              <a:rPr lang="en-US" sz="2200" b="1" dirty="0">
                <a:solidFill>
                  <a:srgbClr val="333F70"/>
                </a:solidFill>
                <a:latin typeface="Unbounded Bold" pitchFamily="34" charset="0"/>
                <a:ea typeface="Unbounded Bold" pitchFamily="34" charset="-122"/>
                <a:cs typeface="Unbounded Bold" pitchFamily="34" charset="-120"/>
              </a:rPr>
              <a:t>System Architecture &amp; Block Diagram</a:t>
            </a:r>
            <a:endParaRPr lang="en-US" sz="2200" dirty="0"/>
          </a:p>
        </p:txBody>
      </p:sp>
      <p:sp>
        <p:nvSpPr>
          <p:cNvPr id="5" name="Text 3"/>
          <p:cNvSpPr/>
          <p:nvPr/>
        </p:nvSpPr>
        <p:spPr>
          <a:xfrm>
            <a:off x="661475" y="1273175"/>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Architectural Components</a:t>
            </a:r>
            <a:endParaRPr lang="en-US" sz="1100" dirty="0"/>
          </a:p>
        </p:txBody>
      </p:sp>
      <p:sp>
        <p:nvSpPr>
          <p:cNvPr id="6" name="Text 4"/>
          <p:cNvSpPr/>
          <p:nvPr/>
        </p:nvSpPr>
        <p:spPr>
          <a:xfrm>
            <a:off x="661475" y="1538784"/>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01</a:t>
            </a:r>
            <a:endParaRPr lang="en-US" sz="850" dirty="0"/>
          </a:p>
        </p:txBody>
      </p:sp>
      <p:sp>
        <p:nvSpPr>
          <p:cNvPr id="7" name="Shape 5"/>
          <p:cNvSpPr/>
          <p:nvPr/>
        </p:nvSpPr>
        <p:spPr>
          <a:xfrm>
            <a:off x="661475" y="1719263"/>
            <a:ext cx="4738271" cy="12700"/>
          </a:xfrm>
          <a:prstGeom prst="rect">
            <a:avLst/>
          </a:prstGeom>
          <a:solidFill>
            <a:srgbClr val="26A688"/>
          </a:solidFill>
          <a:ln/>
        </p:spPr>
      </p:sp>
      <p:sp>
        <p:nvSpPr>
          <p:cNvPr id="8" name="Text 6"/>
          <p:cNvSpPr/>
          <p:nvPr/>
        </p:nvSpPr>
        <p:spPr>
          <a:xfrm>
            <a:off x="661475" y="1801515"/>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Input Stage</a:t>
            </a:r>
            <a:endParaRPr lang="en-US" sz="1100" dirty="0"/>
          </a:p>
        </p:txBody>
      </p:sp>
      <p:sp>
        <p:nvSpPr>
          <p:cNvPr id="9" name="Text 7"/>
          <p:cNvSpPr/>
          <p:nvPr/>
        </p:nvSpPr>
        <p:spPr>
          <a:xfrm>
            <a:off x="661475" y="2057301"/>
            <a:ext cx="4738271"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Two 4-bit input registers hold operands </a:t>
            </a:r>
            <a:r>
              <a:rPr lang="en-US" sz="850" b="1" dirty="0">
                <a:solidFill>
                  <a:srgbClr val="333F70"/>
                </a:solidFill>
                <a:latin typeface="Open Sans Bold" pitchFamily="34" charset="0"/>
                <a:ea typeface="Open Sans Bold" pitchFamily="34" charset="-122"/>
                <a:cs typeface="Open Sans Bold" pitchFamily="34" charset="-120"/>
              </a:rPr>
              <a:t>A[3:0]</a:t>
            </a:r>
            <a:r>
              <a:rPr lang="en-US" sz="850" dirty="0">
                <a:solidFill>
                  <a:srgbClr val="333F70"/>
                </a:solidFill>
                <a:latin typeface="Open Sans" pitchFamily="34" charset="0"/>
                <a:ea typeface="Open Sans" pitchFamily="34" charset="-122"/>
                <a:cs typeface="Open Sans" pitchFamily="34" charset="-120"/>
              </a:rPr>
              <a:t> and </a:t>
            </a:r>
            <a:r>
              <a:rPr lang="en-US" sz="850" b="1" dirty="0">
                <a:solidFill>
                  <a:srgbClr val="333F70"/>
                </a:solidFill>
                <a:latin typeface="Open Sans Bold" pitchFamily="34" charset="0"/>
                <a:ea typeface="Open Sans Bold" pitchFamily="34" charset="-122"/>
                <a:cs typeface="Open Sans Bold" pitchFamily="34" charset="-120"/>
              </a:rPr>
              <a:t>B[3:0]</a:t>
            </a:r>
            <a:r>
              <a:rPr lang="en-US" sz="850" dirty="0">
                <a:solidFill>
                  <a:srgbClr val="333F70"/>
                </a:solidFill>
                <a:latin typeface="Open Sans" pitchFamily="34" charset="0"/>
                <a:ea typeface="Open Sans" pitchFamily="34" charset="-122"/>
                <a:cs typeface="Open Sans" pitchFamily="34" charset="-120"/>
              </a:rPr>
              <a:t>. A single </a:t>
            </a:r>
            <a:r>
              <a:rPr lang="en-US" sz="850" b="1" dirty="0">
                <a:solidFill>
                  <a:srgbClr val="333F70"/>
                </a:solidFill>
                <a:latin typeface="Open Sans Bold" pitchFamily="34" charset="0"/>
                <a:ea typeface="Open Sans Bold" pitchFamily="34" charset="-122"/>
                <a:cs typeface="Open Sans Bold" pitchFamily="34" charset="-120"/>
              </a:rPr>
              <a:t>Mode</a:t>
            </a:r>
            <a:r>
              <a:rPr lang="en-US" sz="850" dirty="0">
                <a:solidFill>
                  <a:srgbClr val="333F70"/>
                </a:solidFill>
                <a:latin typeface="Open Sans" pitchFamily="34" charset="0"/>
                <a:ea typeface="Open Sans" pitchFamily="34" charset="-122"/>
                <a:cs typeface="Open Sans" pitchFamily="34" charset="-120"/>
              </a:rPr>
              <a:t> bit selects add (0) or subtract (1).</a:t>
            </a:r>
            <a:endParaRPr lang="en-US" sz="850" dirty="0"/>
          </a:p>
        </p:txBody>
      </p:sp>
      <p:sp>
        <p:nvSpPr>
          <p:cNvPr id="10" name="Text 8"/>
          <p:cNvSpPr/>
          <p:nvPr/>
        </p:nvSpPr>
        <p:spPr>
          <a:xfrm>
            <a:off x="661475" y="2527598"/>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02</a:t>
            </a:r>
            <a:endParaRPr lang="en-US" sz="850" dirty="0"/>
          </a:p>
        </p:txBody>
      </p:sp>
      <p:sp>
        <p:nvSpPr>
          <p:cNvPr id="11" name="Shape 9"/>
          <p:cNvSpPr/>
          <p:nvPr/>
        </p:nvSpPr>
        <p:spPr>
          <a:xfrm>
            <a:off x="661475" y="2708077"/>
            <a:ext cx="4738271" cy="12700"/>
          </a:xfrm>
          <a:prstGeom prst="rect">
            <a:avLst/>
          </a:prstGeom>
          <a:solidFill>
            <a:srgbClr val="26A688"/>
          </a:solidFill>
          <a:ln/>
        </p:spPr>
      </p:sp>
      <p:sp>
        <p:nvSpPr>
          <p:cNvPr id="12" name="Text 10"/>
          <p:cNvSpPr/>
          <p:nvPr/>
        </p:nvSpPr>
        <p:spPr>
          <a:xfrm>
            <a:off x="661475" y="2790329"/>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B-Input XOR Array</a:t>
            </a:r>
            <a:endParaRPr lang="en-US" sz="1100" dirty="0"/>
          </a:p>
        </p:txBody>
      </p:sp>
      <p:sp>
        <p:nvSpPr>
          <p:cNvPr id="13" name="Text 11"/>
          <p:cNvSpPr/>
          <p:nvPr/>
        </p:nvSpPr>
        <p:spPr>
          <a:xfrm>
            <a:off x="661475" y="3046115"/>
            <a:ext cx="4738271"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Four XOR gates on B inputs: each </a:t>
            </a:r>
            <a:r>
              <a:rPr lang="en-US" sz="850" b="1" dirty="0">
                <a:solidFill>
                  <a:srgbClr val="333F70"/>
                </a:solidFill>
                <a:latin typeface="Open Sans Bold" pitchFamily="34" charset="0"/>
                <a:ea typeface="Open Sans Bold" pitchFamily="34" charset="-122"/>
                <a:cs typeface="Open Sans Bold" pitchFamily="34" charset="-120"/>
              </a:rPr>
              <a:t>B[i] XOR Mode</a:t>
            </a:r>
            <a:r>
              <a:rPr lang="en-US" sz="850" dirty="0">
                <a:solidFill>
                  <a:srgbClr val="333F70"/>
                </a:solidFill>
                <a:latin typeface="Open Sans" pitchFamily="34" charset="0"/>
                <a:ea typeface="Open Sans" pitchFamily="34" charset="-122"/>
                <a:cs typeface="Open Sans" pitchFamily="34" charset="-120"/>
              </a:rPr>
              <a:t> passes B unchanged for addition or inverts B for subtraction. Mode is also injected as Cin of FA-0.</a:t>
            </a:r>
            <a:endParaRPr lang="en-US" sz="850" dirty="0"/>
          </a:p>
        </p:txBody>
      </p:sp>
      <p:sp>
        <p:nvSpPr>
          <p:cNvPr id="14" name="Text 12"/>
          <p:cNvSpPr/>
          <p:nvPr/>
        </p:nvSpPr>
        <p:spPr>
          <a:xfrm>
            <a:off x="661475" y="3516412"/>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03</a:t>
            </a:r>
            <a:endParaRPr lang="en-US" sz="850" dirty="0"/>
          </a:p>
        </p:txBody>
      </p:sp>
      <p:sp>
        <p:nvSpPr>
          <p:cNvPr id="15" name="Shape 13"/>
          <p:cNvSpPr/>
          <p:nvPr/>
        </p:nvSpPr>
        <p:spPr>
          <a:xfrm>
            <a:off x="661475" y="3696891"/>
            <a:ext cx="4738271" cy="12700"/>
          </a:xfrm>
          <a:prstGeom prst="rect">
            <a:avLst/>
          </a:prstGeom>
          <a:solidFill>
            <a:srgbClr val="26A688"/>
          </a:solidFill>
          <a:ln/>
        </p:spPr>
      </p:sp>
      <p:sp>
        <p:nvSpPr>
          <p:cNvPr id="16" name="Text 14"/>
          <p:cNvSpPr/>
          <p:nvPr/>
        </p:nvSpPr>
        <p:spPr>
          <a:xfrm>
            <a:off x="661475" y="3779143"/>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Ripple-Carry Adder Unit</a:t>
            </a:r>
            <a:endParaRPr lang="en-US" sz="1100" dirty="0"/>
          </a:p>
        </p:txBody>
      </p:sp>
      <p:sp>
        <p:nvSpPr>
          <p:cNvPr id="17" name="Text 15"/>
          <p:cNvSpPr/>
          <p:nvPr/>
        </p:nvSpPr>
        <p:spPr>
          <a:xfrm>
            <a:off x="661475" y="4034929"/>
            <a:ext cx="4738271"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Four full adders (FA-0 through FA-3) cascaded in sequence. Carry-out of FA-i connects to carry-in of FA-(i+1), propagating through all bit stages.</a:t>
            </a:r>
            <a:endParaRPr lang="en-US" sz="850" dirty="0"/>
          </a:p>
        </p:txBody>
      </p:sp>
      <p:sp>
        <p:nvSpPr>
          <p:cNvPr id="18" name="Text 16"/>
          <p:cNvSpPr/>
          <p:nvPr/>
        </p:nvSpPr>
        <p:spPr>
          <a:xfrm>
            <a:off x="661475" y="4505226"/>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04</a:t>
            </a:r>
            <a:endParaRPr lang="en-US" sz="850" dirty="0"/>
          </a:p>
        </p:txBody>
      </p:sp>
      <p:sp>
        <p:nvSpPr>
          <p:cNvPr id="19" name="Shape 17"/>
          <p:cNvSpPr/>
          <p:nvPr/>
        </p:nvSpPr>
        <p:spPr>
          <a:xfrm>
            <a:off x="661475" y="4685705"/>
            <a:ext cx="4738271" cy="12700"/>
          </a:xfrm>
          <a:prstGeom prst="rect">
            <a:avLst/>
          </a:prstGeom>
          <a:solidFill>
            <a:srgbClr val="26A688"/>
          </a:solidFill>
          <a:ln/>
        </p:spPr>
      </p:sp>
      <p:sp>
        <p:nvSpPr>
          <p:cNvPr id="20" name="Text 18"/>
          <p:cNvSpPr/>
          <p:nvPr/>
        </p:nvSpPr>
        <p:spPr>
          <a:xfrm>
            <a:off x="661475" y="4767957"/>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Overflow Detection Logic</a:t>
            </a:r>
            <a:endParaRPr lang="en-US" sz="1100" dirty="0"/>
          </a:p>
        </p:txBody>
      </p:sp>
      <p:sp>
        <p:nvSpPr>
          <p:cNvPr id="21" name="Text 19"/>
          <p:cNvSpPr/>
          <p:nvPr/>
        </p:nvSpPr>
        <p:spPr>
          <a:xfrm>
            <a:off x="661475" y="5023743"/>
            <a:ext cx="4738271"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Single XOR gate: </a:t>
            </a:r>
            <a:r>
              <a:rPr lang="en-US" sz="850" b="1" dirty="0">
                <a:solidFill>
                  <a:srgbClr val="333F70"/>
                </a:solidFill>
                <a:latin typeface="Open Sans Bold" pitchFamily="34" charset="0"/>
                <a:ea typeface="Open Sans Bold" pitchFamily="34" charset="-122"/>
                <a:cs typeface="Open Sans Bold" pitchFamily="34" charset="-120"/>
              </a:rPr>
              <a:t>OVF = Cin,3 XOR Cout,3</a:t>
            </a:r>
            <a:r>
              <a:rPr lang="en-US" sz="850" dirty="0">
                <a:solidFill>
                  <a:srgbClr val="333F70"/>
                </a:solidFill>
                <a:latin typeface="Open Sans" pitchFamily="34" charset="0"/>
                <a:ea typeface="Open Sans" pitchFamily="34" charset="-122"/>
                <a:cs typeface="Open Sans" pitchFamily="34" charset="-120"/>
              </a:rPr>
              <a:t>. Compares MSB carry signals to detect signed overflow.</a:t>
            </a:r>
            <a:endParaRPr lang="en-US" sz="850" dirty="0"/>
          </a:p>
        </p:txBody>
      </p:sp>
      <p:sp>
        <p:nvSpPr>
          <p:cNvPr id="22" name="Text 20"/>
          <p:cNvSpPr/>
          <p:nvPr/>
        </p:nvSpPr>
        <p:spPr>
          <a:xfrm>
            <a:off x="661475" y="5494040"/>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05</a:t>
            </a:r>
            <a:endParaRPr lang="en-US" sz="850" dirty="0"/>
          </a:p>
        </p:txBody>
      </p:sp>
      <p:sp>
        <p:nvSpPr>
          <p:cNvPr id="23" name="Shape 21"/>
          <p:cNvSpPr/>
          <p:nvPr/>
        </p:nvSpPr>
        <p:spPr>
          <a:xfrm>
            <a:off x="661475" y="5674519"/>
            <a:ext cx="4738271" cy="12700"/>
          </a:xfrm>
          <a:prstGeom prst="rect">
            <a:avLst/>
          </a:prstGeom>
          <a:solidFill>
            <a:srgbClr val="26A688"/>
          </a:solidFill>
          <a:ln/>
        </p:spPr>
      </p:sp>
      <p:sp>
        <p:nvSpPr>
          <p:cNvPr id="24" name="Text 22"/>
          <p:cNvSpPr/>
          <p:nvPr/>
        </p:nvSpPr>
        <p:spPr>
          <a:xfrm>
            <a:off x="661475" y="5756771"/>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Output Stage</a:t>
            </a:r>
            <a:endParaRPr lang="en-US" sz="1100" dirty="0"/>
          </a:p>
        </p:txBody>
      </p:sp>
      <p:sp>
        <p:nvSpPr>
          <p:cNvPr id="25" name="Text 23"/>
          <p:cNvSpPr/>
          <p:nvPr/>
        </p:nvSpPr>
        <p:spPr>
          <a:xfrm>
            <a:off x="661475" y="6012557"/>
            <a:ext cx="4738271" cy="153491"/>
          </a:xfrm>
          <a:prstGeom prst="rect">
            <a:avLst/>
          </a:prstGeom>
          <a:noFill/>
          <a:ln/>
        </p:spPr>
        <p:txBody>
          <a:bodyPr wrap="none" lIns="0" tIns="0" rIns="0" bIns="0" rtlCol="0" anchor="t"/>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4-bit result </a:t>
            </a:r>
            <a:r>
              <a:rPr lang="en-US" sz="850" b="1" dirty="0">
                <a:solidFill>
                  <a:srgbClr val="333F70"/>
                </a:solidFill>
                <a:latin typeface="Open Sans Bold" pitchFamily="34" charset="0"/>
                <a:ea typeface="Open Sans Bold" pitchFamily="34" charset="-122"/>
                <a:cs typeface="Open Sans Bold" pitchFamily="34" charset="-120"/>
              </a:rPr>
              <a:t>S[3:0]</a:t>
            </a:r>
            <a:r>
              <a:rPr lang="en-US" sz="850" dirty="0">
                <a:solidFill>
                  <a:srgbClr val="333F70"/>
                </a:solidFill>
                <a:latin typeface="Open Sans" pitchFamily="34" charset="0"/>
                <a:ea typeface="Open Sans" pitchFamily="34" charset="-122"/>
                <a:cs typeface="Open Sans" pitchFamily="34" charset="-120"/>
              </a:rPr>
              <a:t> and 1-bit overflow flag </a:t>
            </a:r>
            <a:r>
              <a:rPr lang="en-US" sz="850" b="1" dirty="0">
                <a:solidFill>
                  <a:srgbClr val="333F70"/>
                </a:solidFill>
                <a:latin typeface="Open Sans Bold" pitchFamily="34" charset="0"/>
                <a:ea typeface="Open Sans Bold" pitchFamily="34" charset="-122"/>
                <a:cs typeface="Open Sans Bold" pitchFamily="34" charset="-120"/>
              </a:rPr>
              <a:t>OVF</a:t>
            </a:r>
            <a:r>
              <a:rPr lang="en-US" sz="850" dirty="0">
                <a:solidFill>
                  <a:srgbClr val="333F70"/>
                </a:solidFill>
                <a:latin typeface="Open Sans" pitchFamily="34" charset="0"/>
                <a:ea typeface="Open Sans" pitchFamily="34" charset="-122"/>
                <a:cs typeface="Open Sans" pitchFamily="34" charset="-120"/>
              </a:rPr>
              <a:t> are produced as final circuit outputs.</a:t>
            </a:r>
            <a:endParaRPr lang="en-US" sz="850" dirty="0"/>
          </a:p>
        </p:txBody>
      </p:sp>
      <p:sp>
        <p:nvSpPr>
          <p:cNvPr id="26" name="Text 24"/>
          <p:cNvSpPr/>
          <p:nvPr/>
        </p:nvSpPr>
        <p:spPr>
          <a:xfrm>
            <a:off x="5683505" y="1273175"/>
            <a:ext cx="5852966"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Data Flow Summary</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83505" y="1538784"/>
          <a:ext cx="5852967" cy="2430202"/>
        </p:xfrm>
        <a:graphic>
          <a:graphicData uri="http://schemas.openxmlformats.org/drawingml/2006/table">
            <a:tbl>
              <a:tblPr/>
              <a:tblGrid>
                <a:gridCol w="1950989">
                  <a:extLst>
                    <a:ext uri="{9D8B030D-6E8A-4147-A177-3AD203B41FA5}">
                      <a16:colId xmlns:a16="http://schemas.microsoft.com/office/drawing/2014/main" val="20000"/>
                    </a:ext>
                  </a:extLst>
                </a:gridCol>
                <a:gridCol w="1950989">
                  <a:extLst>
                    <a:ext uri="{9D8B030D-6E8A-4147-A177-3AD203B41FA5}">
                      <a16:colId xmlns:a16="http://schemas.microsoft.com/office/drawing/2014/main" val="20001"/>
                    </a:ext>
                  </a:extLst>
                </a:gridCol>
                <a:gridCol w="1950989">
                  <a:extLst>
                    <a:ext uri="{9D8B030D-6E8A-4147-A177-3AD203B41FA5}">
                      <a16:colId xmlns:a16="http://schemas.microsoft.com/office/drawing/2014/main" val="20002"/>
                    </a:ext>
                  </a:extLst>
                </a:gridCol>
              </a:tblGrid>
              <a:tr h="263022">
                <a:tc>
                  <a:txBody>
                    <a:bodyPr/>
                    <a:lstStyle/>
                    <a:p>
                      <a:pPr marL="0" indent="0">
                        <a:buNone/>
                      </a:pPr>
                      <a:r>
                        <a:rPr lang="en-US" sz="850" b="1" dirty="0">
                          <a:solidFill>
                            <a:srgbClr val="272525"/>
                          </a:solidFill>
                          <a:latin typeface="Open Sans" pitchFamily="34" charset="0"/>
                          <a:ea typeface="Open Sans" pitchFamily="34" charset="-122"/>
                          <a:cs typeface="Open Sans" pitchFamily="34" charset="-120"/>
                        </a:rPr>
                        <a:t>Signal</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850" b="1" dirty="0">
                          <a:solidFill>
                            <a:srgbClr val="272525"/>
                          </a:solidFill>
                          <a:latin typeface="Open Sans" pitchFamily="34" charset="0"/>
                          <a:ea typeface="Open Sans" pitchFamily="34" charset="-122"/>
                          <a:cs typeface="Open Sans" pitchFamily="34" charset="-120"/>
                        </a:rPr>
                        <a:t>Width</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850" b="1" dirty="0">
                          <a:solidFill>
                            <a:srgbClr val="272525"/>
                          </a:solidFill>
                          <a:latin typeface="Open Sans" pitchFamily="34" charset="0"/>
                          <a:ea typeface="Open Sans" pitchFamily="34" charset="-122"/>
                          <a:cs typeface="Open Sans" pitchFamily="34" charset="-120"/>
                        </a:rPr>
                        <a:t>Description</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extLst>
                  <a:ext uri="{0D108BD9-81ED-4DB2-BD59-A6C34878D82A}">
                    <a16:rowId xmlns:a16="http://schemas.microsoft.com/office/drawing/2014/main" val="10000"/>
                  </a:ext>
                </a:extLst>
              </a:tr>
              <a:tr h="266197">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A[3:0]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4-bit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First operand (signed)</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1"/>
                  </a:ext>
                </a:extLst>
              </a:tr>
              <a:tr h="266197">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B[3:0]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4-bit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Second operand (signed)</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2"/>
                  </a:ext>
                </a:extLst>
              </a:tr>
              <a:tr h="266197">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Mode</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1-bit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0 = Add, 1 = Subtract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3"/>
                  </a:ext>
                </a:extLst>
              </a:tr>
              <a:tr h="419685">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B'[3:0]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4-bit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B XOR Mode (conditional inversion)</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4"/>
                  </a:ext>
                </a:extLst>
              </a:tr>
              <a:tr h="419685">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Cin,0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1-bit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Mode (carry seed for two's complement)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5"/>
                  </a:ext>
                </a:extLst>
              </a:tr>
              <a:tr h="266197">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S[3:0]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4-bit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Arithmetic result output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6"/>
                  </a:ext>
                </a:extLst>
              </a:tr>
              <a:tr h="263022">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OVF</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1-bit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Signed overflow flag</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8" name="Shape 25"/>
          <p:cNvSpPr/>
          <p:nvPr/>
        </p:nvSpPr>
        <p:spPr>
          <a:xfrm>
            <a:off x="5683505" y="4069655"/>
            <a:ext cx="5852966" cy="504428"/>
          </a:xfrm>
          <a:prstGeom prst="roundRect">
            <a:avLst>
              <a:gd name="adj" fmla="val 9467"/>
            </a:avLst>
          </a:prstGeom>
          <a:solidFill>
            <a:srgbClr val="D6F5EE"/>
          </a:solidFill>
          <a:ln/>
        </p:spPr>
      </p:sp>
      <p:pic>
        <p:nvPicPr>
          <p:cNvPr id="29" name="Image 0" descr="preencoded.png"/>
          <p:cNvPicPr>
            <a:picLocks noChangeAspect="1"/>
          </p:cNvPicPr>
          <p:nvPr/>
        </p:nvPicPr>
        <p:blipFill>
          <a:blip r:embed="rId3"/>
          <a:stretch>
            <a:fillRect/>
          </a:stretch>
        </p:blipFill>
        <p:spPr>
          <a:xfrm>
            <a:off x="5797207" y="4197251"/>
            <a:ext cx="142078" cy="113705"/>
          </a:xfrm>
          <a:prstGeom prst="rect">
            <a:avLst/>
          </a:prstGeom>
        </p:spPr>
      </p:pic>
      <p:sp>
        <p:nvSpPr>
          <p:cNvPr id="30" name="Text 26"/>
          <p:cNvSpPr/>
          <p:nvPr/>
        </p:nvSpPr>
        <p:spPr>
          <a:xfrm>
            <a:off x="6052986" y="4168378"/>
            <a:ext cx="5369783"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000000"/>
                </a:solidFill>
                <a:latin typeface="Open Sans" pitchFamily="34" charset="0"/>
                <a:ea typeface="Open Sans" pitchFamily="34" charset="-122"/>
                <a:cs typeface="Open Sans" pitchFamily="34" charset="-120"/>
              </a:rPr>
              <a:t>The XOR trick — feeding Mode into both the B input gates and carry-in — is what allows a single cascaded adder to serve as both an adder and a two's complement subtractor.</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508893"/>
            <a:ext cx="504316" cy="149027"/>
          </a:xfrm>
          <a:prstGeom prst="roundRect">
            <a:avLst>
              <a:gd name="adj" fmla="val 22141"/>
            </a:avLst>
          </a:prstGeom>
          <a:solidFill>
            <a:srgbClr val="D6F5EE"/>
          </a:solidFill>
          <a:ln/>
        </p:spPr>
      </p:sp>
      <p:sp>
        <p:nvSpPr>
          <p:cNvPr id="3" name="Text 1"/>
          <p:cNvSpPr/>
          <p:nvPr/>
        </p:nvSpPr>
        <p:spPr>
          <a:xfrm>
            <a:off x="720310" y="538262"/>
            <a:ext cx="996231" cy="90289"/>
          </a:xfrm>
          <a:prstGeom prst="rect">
            <a:avLst/>
          </a:prstGeom>
          <a:noFill/>
          <a:ln/>
        </p:spPr>
        <p:txBody>
          <a:bodyPr wrap="none" lIns="0" tIns="0" rIns="0" bIns="0" rtlCol="0" anchor="t"/>
          <a:lstStyle/>
          <a:p>
            <a:pPr marL="0" indent="0" algn="l">
              <a:lnSpc>
                <a:spcPct val="96000"/>
              </a:lnSpc>
              <a:buNone/>
            </a:pPr>
            <a:r>
              <a:rPr lang="en-US" sz="600" dirty="0">
                <a:solidFill>
                  <a:srgbClr val="333F70"/>
                </a:solidFill>
                <a:latin typeface="Open Sans" pitchFamily="34" charset="0"/>
                <a:ea typeface="Open Sans" pitchFamily="34" charset="-122"/>
                <a:cs typeface="Open Sans" pitchFamily="34" charset="-120"/>
              </a:rPr>
              <a:t>SECTION 7</a:t>
            </a:r>
            <a:endParaRPr lang="en-US" sz="600" dirty="0"/>
          </a:p>
        </p:txBody>
      </p:sp>
      <p:sp>
        <p:nvSpPr>
          <p:cNvPr id="4" name="Text 2"/>
          <p:cNvSpPr/>
          <p:nvPr/>
        </p:nvSpPr>
        <p:spPr>
          <a:xfrm>
            <a:off x="661475" y="681236"/>
            <a:ext cx="10868745" cy="306784"/>
          </a:xfrm>
          <a:prstGeom prst="rect">
            <a:avLst/>
          </a:prstGeom>
          <a:noFill/>
          <a:ln/>
        </p:spPr>
        <p:txBody>
          <a:bodyPr wrap="none" lIns="0" tIns="0" rIns="0" bIns="0" rtlCol="0" anchor="t"/>
          <a:lstStyle/>
          <a:p>
            <a:pPr marL="0" indent="0" algn="l">
              <a:lnSpc>
                <a:spcPct val="104000"/>
              </a:lnSpc>
              <a:buNone/>
            </a:pPr>
            <a:r>
              <a:rPr lang="en-US" sz="1900" b="1" dirty="0">
                <a:solidFill>
                  <a:srgbClr val="333F70"/>
                </a:solidFill>
                <a:latin typeface="Unbounded Bold" pitchFamily="34" charset="0"/>
                <a:ea typeface="Unbounded Bold" pitchFamily="34" charset="-122"/>
                <a:cs typeface="Unbounded Bold" pitchFamily="34" charset="-120"/>
              </a:rPr>
              <a:t>Methodology &amp; Implementation</a:t>
            </a:r>
            <a:endParaRPr lang="en-US" sz="19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141016"/>
            <a:ext cx="2628140" cy="1063625"/>
          </a:xfrm>
          <a:prstGeom prst="rect">
            <a:avLst/>
          </a:prstGeom>
        </p:spPr>
      </p:pic>
      <p:sp>
        <p:nvSpPr>
          <p:cNvPr id="6" name="Text 3"/>
          <p:cNvSpPr/>
          <p:nvPr/>
        </p:nvSpPr>
        <p:spPr>
          <a:xfrm>
            <a:off x="1901877" y="1205805"/>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1</a:t>
            </a:r>
            <a:endParaRPr lang="en-US" sz="1150" dirty="0"/>
          </a:p>
        </p:txBody>
      </p:sp>
      <p:sp>
        <p:nvSpPr>
          <p:cNvPr id="7" name="Text 4"/>
          <p:cNvSpPr/>
          <p:nvPr/>
        </p:nvSpPr>
        <p:spPr>
          <a:xfrm>
            <a:off x="772299" y="1506538"/>
            <a:ext cx="2406491"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Number Representation</a:t>
            </a:r>
            <a:endParaRPr lang="en-US" sz="950" dirty="0"/>
          </a:p>
        </p:txBody>
      </p:sp>
      <p:sp>
        <p:nvSpPr>
          <p:cNvPr id="8" name="Text 5"/>
          <p:cNvSpPr/>
          <p:nvPr/>
        </p:nvSpPr>
        <p:spPr>
          <a:xfrm>
            <a:off x="772299" y="1718171"/>
            <a:ext cx="2406491" cy="375642"/>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Define binary, hexadecimal, and two's complement encoding for 4-bit signed integers. Signed range: −8 (1000) to +7 (0111).</a:t>
            </a:r>
            <a:endParaRPr lang="en-US" sz="7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7855" y="1141016"/>
            <a:ext cx="2628239" cy="1063625"/>
          </a:xfrm>
          <a:prstGeom prst="rect">
            <a:avLst/>
          </a:prstGeom>
        </p:spPr>
      </p:pic>
      <p:sp>
        <p:nvSpPr>
          <p:cNvPr id="10" name="Text 6"/>
          <p:cNvSpPr/>
          <p:nvPr/>
        </p:nvSpPr>
        <p:spPr>
          <a:xfrm>
            <a:off x="4588356" y="1205805"/>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2</a:t>
            </a:r>
            <a:endParaRPr lang="en-US" sz="1150" dirty="0"/>
          </a:p>
        </p:txBody>
      </p:sp>
      <p:sp>
        <p:nvSpPr>
          <p:cNvPr id="11" name="Text 7"/>
          <p:cNvSpPr/>
          <p:nvPr/>
        </p:nvSpPr>
        <p:spPr>
          <a:xfrm>
            <a:off x="3458679" y="1506538"/>
            <a:ext cx="2406590"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Truth Tables</a:t>
            </a:r>
            <a:endParaRPr lang="en-US" sz="950" dirty="0"/>
          </a:p>
        </p:txBody>
      </p:sp>
      <p:sp>
        <p:nvSpPr>
          <p:cNvPr id="12" name="Text 8"/>
          <p:cNvSpPr/>
          <p:nvPr/>
        </p:nvSpPr>
        <p:spPr>
          <a:xfrm>
            <a:off x="3458679" y="1718171"/>
            <a:ext cx="2406590" cy="375642"/>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Derive truth tables for the half adder (2 inputs → Sum, Carry) and full adder (3 inputs: A, B, Cin → Sum, Cout). Full adder: 2³ = </a:t>
            </a:r>
            <a:r>
              <a:rPr lang="en-US" sz="750" b="1" dirty="0">
                <a:solidFill>
                  <a:srgbClr val="333F70"/>
                </a:solidFill>
                <a:latin typeface="Open Sans Bold" pitchFamily="34" charset="0"/>
                <a:ea typeface="Open Sans Bold" pitchFamily="34" charset="-122"/>
                <a:cs typeface="Open Sans Bold" pitchFamily="34" charset="-120"/>
              </a:rPr>
              <a:t>8 rows</a:t>
            </a:r>
            <a:r>
              <a:rPr lang="en-US" sz="750" dirty="0">
                <a:solidFill>
                  <a:srgbClr val="333F70"/>
                </a:solidFill>
                <a:latin typeface="Open Sans" pitchFamily="34" charset="0"/>
                <a:ea typeface="Open Sans" pitchFamily="34" charset="-122"/>
                <a:cs typeface="Open Sans" pitchFamily="34" charset="-120"/>
              </a:rPr>
              <a:t>.</a:t>
            </a:r>
            <a:endParaRPr lang="en-US" sz="7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2262882"/>
            <a:ext cx="2628140" cy="1188839"/>
          </a:xfrm>
          <a:prstGeom prst="rect">
            <a:avLst/>
          </a:prstGeom>
        </p:spPr>
      </p:pic>
      <p:sp>
        <p:nvSpPr>
          <p:cNvPr id="14" name="Text 9"/>
          <p:cNvSpPr/>
          <p:nvPr/>
        </p:nvSpPr>
        <p:spPr>
          <a:xfrm>
            <a:off x="1901877" y="2327672"/>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3</a:t>
            </a:r>
            <a:endParaRPr lang="en-US" sz="1150" dirty="0"/>
          </a:p>
        </p:txBody>
      </p:sp>
      <p:sp>
        <p:nvSpPr>
          <p:cNvPr id="15" name="Text 10"/>
          <p:cNvSpPr/>
          <p:nvPr/>
        </p:nvSpPr>
        <p:spPr>
          <a:xfrm>
            <a:off x="772299" y="2628404"/>
            <a:ext cx="2406491"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Boolean Expressions</a:t>
            </a:r>
            <a:endParaRPr lang="en-US" sz="950" dirty="0"/>
          </a:p>
        </p:txBody>
      </p:sp>
      <p:sp>
        <p:nvSpPr>
          <p:cNvPr id="16" name="Text 11"/>
          <p:cNvSpPr/>
          <p:nvPr/>
        </p:nvSpPr>
        <p:spPr>
          <a:xfrm>
            <a:off x="772299" y="2840038"/>
            <a:ext cx="2406491" cy="375642"/>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Convert truth tables to </a:t>
            </a:r>
            <a:r>
              <a:rPr lang="en-US" sz="750" b="1" dirty="0">
                <a:solidFill>
                  <a:srgbClr val="333F70"/>
                </a:solidFill>
                <a:latin typeface="Open Sans Bold" pitchFamily="34" charset="0"/>
                <a:ea typeface="Open Sans Bold" pitchFamily="34" charset="-122"/>
                <a:cs typeface="Open Sans Bold" pitchFamily="34" charset="-120"/>
              </a:rPr>
              <a:t>sum-of-products (SOP)</a:t>
            </a:r>
            <a:r>
              <a:rPr lang="en-US" sz="750" dirty="0">
                <a:solidFill>
                  <a:srgbClr val="333F70"/>
                </a:solidFill>
                <a:latin typeface="Open Sans" pitchFamily="34" charset="0"/>
                <a:ea typeface="Open Sans" pitchFamily="34" charset="-122"/>
                <a:cs typeface="Open Sans" pitchFamily="34" charset="-120"/>
              </a:rPr>
              <a:t> expressions. Full adder: Sum = A⊕B⊕Cin; Cout = AB + BCin + ACin.</a:t>
            </a:r>
            <a:endParaRPr lang="en-US" sz="75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7855" y="2262882"/>
            <a:ext cx="2628239" cy="1188839"/>
          </a:xfrm>
          <a:prstGeom prst="rect">
            <a:avLst/>
          </a:prstGeom>
        </p:spPr>
      </p:pic>
      <p:sp>
        <p:nvSpPr>
          <p:cNvPr id="18" name="Text 12"/>
          <p:cNvSpPr/>
          <p:nvPr/>
        </p:nvSpPr>
        <p:spPr>
          <a:xfrm>
            <a:off x="4588356" y="2327672"/>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4</a:t>
            </a:r>
            <a:endParaRPr lang="en-US" sz="1150" dirty="0"/>
          </a:p>
        </p:txBody>
      </p:sp>
      <p:sp>
        <p:nvSpPr>
          <p:cNvPr id="19" name="Text 13"/>
          <p:cNvSpPr/>
          <p:nvPr/>
        </p:nvSpPr>
        <p:spPr>
          <a:xfrm>
            <a:off x="3458679" y="2628404"/>
            <a:ext cx="2406590"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Gate-Level Circuits</a:t>
            </a:r>
            <a:endParaRPr lang="en-US" sz="950" dirty="0"/>
          </a:p>
        </p:txBody>
      </p:sp>
      <p:sp>
        <p:nvSpPr>
          <p:cNvPr id="20" name="Text 14"/>
          <p:cNvSpPr/>
          <p:nvPr/>
        </p:nvSpPr>
        <p:spPr>
          <a:xfrm>
            <a:off x="3458679" y="2840038"/>
            <a:ext cx="2406590" cy="500856"/>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Implement SOP expressions using AND, OR, and NOT gates. Recognize XOR gate patterns to simplify the sum output. Draw schematic for each sub-circuit.</a:t>
            </a:r>
            <a:endParaRPr lang="en-US" sz="750" dirty="0"/>
          </a:p>
        </p:txBody>
      </p:sp>
      <p:pic>
        <p:nvPicPr>
          <p:cNvPr id="21"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1951" y="1141016"/>
            <a:ext cx="5314619" cy="938411"/>
          </a:xfrm>
          <a:prstGeom prst="rect">
            <a:avLst/>
          </a:prstGeom>
        </p:spPr>
      </p:pic>
      <p:sp>
        <p:nvSpPr>
          <p:cNvPr id="22" name="Text 15"/>
          <p:cNvSpPr/>
          <p:nvPr/>
        </p:nvSpPr>
        <p:spPr>
          <a:xfrm>
            <a:off x="8805642" y="1205805"/>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1</a:t>
            </a:r>
            <a:endParaRPr lang="en-US" sz="1150" dirty="0"/>
          </a:p>
        </p:txBody>
      </p:sp>
      <p:sp>
        <p:nvSpPr>
          <p:cNvPr id="23" name="Text 16"/>
          <p:cNvSpPr/>
          <p:nvPr/>
        </p:nvSpPr>
        <p:spPr>
          <a:xfrm>
            <a:off x="6332776" y="1506538"/>
            <a:ext cx="5092969"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4-Bit Adder Construction</a:t>
            </a:r>
            <a:endParaRPr lang="en-US" sz="950" dirty="0"/>
          </a:p>
        </p:txBody>
      </p:sp>
      <p:sp>
        <p:nvSpPr>
          <p:cNvPr id="24" name="Text 17"/>
          <p:cNvSpPr/>
          <p:nvPr/>
        </p:nvSpPr>
        <p:spPr>
          <a:xfrm>
            <a:off x="6332776" y="1718171"/>
            <a:ext cx="5092969" cy="25042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Cascade four full adders (FA-0 to FA-3). Insert XOR gates on all B inputs: B'[i] = B[i] XOR Mode. Feed Mode into Cin of FA-0.</a:t>
            </a:r>
            <a:endParaRPr lang="en-US" sz="750" dirty="0"/>
          </a:p>
        </p:txBody>
      </p:sp>
      <p:pic>
        <p:nvPicPr>
          <p:cNvPr id="25"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1951" y="2137668"/>
            <a:ext cx="5314619" cy="938411"/>
          </a:xfrm>
          <a:prstGeom prst="rect">
            <a:avLst/>
          </a:prstGeom>
        </p:spPr>
      </p:pic>
      <p:sp>
        <p:nvSpPr>
          <p:cNvPr id="26" name="Text 18"/>
          <p:cNvSpPr/>
          <p:nvPr/>
        </p:nvSpPr>
        <p:spPr>
          <a:xfrm>
            <a:off x="8805642" y="2202458"/>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2</a:t>
            </a:r>
            <a:endParaRPr lang="en-US" sz="1150" dirty="0"/>
          </a:p>
        </p:txBody>
      </p:sp>
      <p:sp>
        <p:nvSpPr>
          <p:cNvPr id="27" name="Text 19"/>
          <p:cNvSpPr/>
          <p:nvPr/>
        </p:nvSpPr>
        <p:spPr>
          <a:xfrm>
            <a:off x="6332776" y="2503190"/>
            <a:ext cx="5092969"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Overflow Detection Addition</a:t>
            </a:r>
            <a:endParaRPr lang="en-US" sz="950" dirty="0"/>
          </a:p>
        </p:txBody>
      </p:sp>
      <p:sp>
        <p:nvSpPr>
          <p:cNvPr id="28" name="Text 20"/>
          <p:cNvSpPr/>
          <p:nvPr/>
        </p:nvSpPr>
        <p:spPr>
          <a:xfrm>
            <a:off x="6332776" y="2714823"/>
            <a:ext cx="5092969" cy="25042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Connect a single XOR gate: OVF = Cin,3 XOR Cout,3. Wire carry signals from FA-2 output and FA-3 output to this gate.</a:t>
            </a:r>
            <a:endParaRPr lang="en-US" sz="75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1951" y="3134320"/>
            <a:ext cx="5314619" cy="938411"/>
          </a:xfrm>
          <a:prstGeom prst="rect">
            <a:avLst/>
          </a:prstGeom>
        </p:spPr>
      </p:pic>
      <p:sp>
        <p:nvSpPr>
          <p:cNvPr id="30" name="Text 21"/>
          <p:cNvSpPr/>
          <p:nvPr/>
        </p:nvSpPr>
        <p:spPr>
          <a:xfrm>
            <a:off x="8805642" y="3199110"/>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3</a:t>
            </a:r>
            <a:endParaRPr lang="en-US" sz="1150" dirty="0"/>
          </a:p>
        </p:txBody>
      </p:sp>
      <p:sp>
        <p:nvSpPr>
          <p:cNvPr id="31" name="Text 22"/>
          <p:cNvSpPr/>
          <p:nvPr/>
        </p:nvSpPr>
        <p:spPr>
          <a:xfrm>
            <a:off x="6332776" y="3499842"/>
            <a:ext cx="5092969"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Simulation &amp; Testing</a:t>
            </a:r>
            <a:endParaRPr lang="en-US" sz="950" dirty="0"/>
          </a:p>
        </p:txBody>
      </p:sp>
      <p:sp>
        <p:nvSpPr>
          <p:cNvPr id="32" name="Text 23"/>
          <p:cNvSpPr/>
          <p:nvPr/>
        </p:nvSpPr>
        <p:spPr>
          <a:xfrm>
            <a:off x="6332776" y="3711476"/>
            <a:ext cx="5092969" cy="25042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Build the full circuit in </a:t>
            </a:r>
            <a:r>
              <a:rPr lang="en-US" sz="750" b="1" dirty="0">
                <a:solidFill>
                  <a:srgbClr val="333F70"/>
                </a:solidFill>
                <a:latin typeface="Open Sans Bold" pitchFamily="34" charset="0"/>
                <a:ea typeface="Open Sans Bold" pitchFamily="34" charset="-122"/>
                <a:cs typeface="Open Sans Bold" pitchFamily="34" charset="-120"/>
              </a:rPr>
              <a:t>Logisim / Digital</a:t>
            </a:r>
            <a:r>
              <a:rPr lang="en-US" sz="750" dirty="0">
                <a:solidFill>
                  <a:srgbClr val="333F70"/>
                </a:solidFill>
                <a:latin typeface="Open Sans" pitchFamily="34" charset="0"/>
                <a:ea typeface="Open Sans" pitchFamily="34" charset="-122"/>
                <a:cs typeface="Open Sans" pitchFamily="34" charset="-120"/>
              </a:rPr>
              <a:t>. Apply a comprehensive set of test vectors covering addition, subtraction, boundary values, and overflow cases. Record all outputs.</a:t>
            </a:r>
            <a:endParaRPr lang="en-US" sz="750" dirty="0"/>
          </a:p>
        </p:txBody>
      </p:sp>
      <p:sp>
        <p:nvSpPr>
          <p:cNvPr id="33" name="Text 24"/>
          <p:cNvSpPr/>
          <p:nvPr/>
        </p:nvSpPr>
        <p:spPr>
          <a:xfrm>
            <a:off x="661475" y="4225727"/>
            <a:ext cx="10868745"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Full Adder Truth Table</a:t>
            </a:r>
            <a:endParaRPr lang="en-US" sz="9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61475" y="4466530"/>
          <a:ext cx="10868745" cy="1869831"/>
        </p:xfrm>
        <a:graphic>
          <a:graphicData uri="http://schemas.openxmlformats.org/drawingml/2006/table">
            <a:tbl>
              <a:tblPr/>
              <a:tblGrid>
                <a:gridCol w="2173749">
                  <a:extLst>
                    <a:ext uri="{9D8B030D-6E8A-4147-A177-3AD203B41FA5}">
                      <a16:colId xmlns:a16="http://schemas.microsoft.com/office/drawing/2014/main" val="20000"/>
                    </a:ext>
                  </a:extLst>
                </a:gridCol>
                <a:gridCol w="2173749">
                  <a:extLst>
                    <a:ext uri="{9D8B030D-6E8A-4147-A177-3AD203B41FA5}">
                      <a16:colId xmlns:a16="http://schemas.microsoft.com/office/drawing/2014/main" val="20001"/>
                    </a:ext>
                  </a:extLst>
                </a:gridCol>
                <a:gridCol w="2173749">
                  <a:extLst>
                    <a:ext uri="{9D8B030D-6E8A-4147-A177-3AD203B41FA5}">
                      <a16:colId xmlns:a16="http://schemas.microsoft.com/office/drawing/2014/main" val="20002"/>
                    </a:ext>
                  </a:extLst>
                </a:gridCol>
                <a:gridCol w="2173749">
                  <a:extLst>
                    <a:ext uri="{9D8B030D-6E8A-4147-A177-3AD203B41FA5}">
                      <a16:colId xmlns:a16="http://schemas.microsoft.com/office/drawing/2014/main" val="20003"/>
                    </a:ext>
                  </a:extLst>
                </a:gridCol>
                <a:gridCol w="2173749">
                  <a:extLst>
                    <a:ext uri="{9D8B030D-6E8A-4147-A177-3AD203B41FA5}">
                      <a16:colId xmlns:a16="http://schemas.microsoft.com/office/drawing/2014/main" val="20004"/>
                    </a:ext>
                  </a:extLst>
                </a:gridCol>
              </a:tblGrid>
              <a:tr h="207759">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A</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26A688"/>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B</a:t>
                      </a:r>
                      <a:endParaRPr lang="en-US" sz="800" dirty="0">
                        <a:latin typeface="Open Sans" charset="0"/>
                        <a:ea typeface="Open Sans" charset="0"/>
                        <a:cs typeface="Open Sans" charset="0"/>
                      </a:endParaRPr>
                    </a:p>
                  </a:txBody>
                  <a:tcPr marL="98201" marR="98201" marT="6350" marB="6350" anchor="ctr">
                    <a:lnL w="12700" cap="flat" cmpd="sng" algn="ctr">
                      <a:solidFill>
                        <a:srgbClr val="26A688"/>
                      </a:solidFill>
                      <a:prstDash val="solid"/>
                      <a:round/>
                      <a:headEnd type="none" w="med" len="med"/>
                      <a:tailEnd type="none" w="med" len="med"/>
                    </a:lnL>
                    <a:lnR w="12700" cap="flat" cmpd="sng" algn="ctr">
                      <a:solidFill>
                        <a:srgbClr val="26A688"/>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Cin</a:t>
                      </a:r>
                      <a:endParaRPr lang="en-US" sz="800" dirty="0">
                        <a:latin typeface="Open Sans" charset="0"/>
                        <a:ea typeface="Open Sans" charset="0"/>
                        <a:cs typeface="Open Sans" charset="0"/>
                      </a:endParaRPr>
                    </a:p>
                  </a:txBody>
                  <a:tcPr marL="98201" marR="98201" marT="6350" marB="6350" anchor="ctr">
                    <a:lnL w="12700" cap="flat" cmpd="sng" algn="ctr">
                      <a:solidFill>
                        <a:srgbClr val="26A688"/>
                      </a:solidFill>
                      <a:prstDash val="solid"/>
                      <a:round/>
                      <a:headEnd type="none" w="med" len="med"/>
                      <a:tailEnd type="none" w="med" len="med"/>
                    </a:lnL>
                    <a:lnR w="12700" cap="flat" cmpd="sng" algn="ctr">
                      <a:solidFill>
                        <a:srgbClr val="26A688"/>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Sum</a:t>
                      </a:r>
                      <a:endParaRPr lang="en-US" sz="800" dirty="0">
                        <a:latin typeface="Open Sans" charset="0"/>
                        <a:ea typeface="Open Sans" charset="0"/>
                        <a:cs typeface="Open Sans" charset="0"/>
                      </a:endParaRPr>
                    </a:p>
                  </a:txBody>
                  <a:tcPr marL="98201" marR="98201" marT="6350" marB="6350" anchor="ctr">
                    <a:lnL w="12700" cap="flat" cmpd="sng" algn="ctr">
                      <a:solidFill>
                        <a:srgbClr val="26A688"/>
                      </a:solidFill>
                      <a:prstDash val="solid"/>
                      <a:round/>
                      <a:headEnd type="none" w="med" len="med"/>
                      <a:tailEnd type="none" w="med" len="med"/>
                    </a:lnL>
                    <a:lnR w="12700" cap="flat" cmpd="sng" algn="ctr">
                      <a:solidFill>
                        <a:srgbClr val="26A688"/>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Cout</a:t>
                      </a:r>
                      <a:endParaRPr lang="en-US" sz="800" dirty="0">
                        <a:latin typeface="Open Sans" charset="0"/>
                        <a:ea typeface="Open Sans" charset="0"/>
                        <a:cs typeface="Open Sans" charset="0"/>
                      </a:endParaRPr>
                    </a:p>
                  </a:txBody>
                  <a:tcPr marL="98201" marR="98201" marT="6350" marB="6350" anchor="ctr">
                    <a:lnL w="12700" cap="flat" cmpd="sng" algn="ctr">
                      <a:solidFill>
                        <a:srgbClr val="26A688"/>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extLst>
                  <a:ext uri="{0D108BD9-81ED-4DB2-BD59-A6C34878D82A}">
                    <a16:rowId xmlns:a16="http://schemas.microsoft.com/office/drawing/2014/main" val="10000"/>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5"/>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6"/>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7"/>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483691"/>
            <a:ext cx="663856" cy="196255"/>
          </a:xfrm>
          <a:prstGeom prst="roundRect">
            <a:avLst>
              <a:gd name="adj" fmla="val 22122"/>
            </a:avLst>
          </a:prstGeom>
          <a:solidFill>
            <a:srgbClr val="D6F5EE"/>
          </a:solidFill>
          <a:ln/>
        </p:spPr>
      </p:sp>
      <p:sp>
        <p:nvSpPr>
          <p:cNvPr id="3" name="Text 1"/>
          <p:cNvSpPr/>
          <p:nvPr/>
        </p:nvSpPr>
        <p:spPr>
          <a:xfrm>
            <a:off x="738963" y="522387"/>
            <a:ext cx="1118465" cy="118864"/>
          </a:xfrm>
          <a:prstGeom prst="rect">
            <a:avLst/>
          </a:prstGeom>
          <a:noFill/>
          <a:ln/>
        </p:spPr>
        <p:txBody>
          <a:bodyPr wrap="none" lIns="0" tIns="0" rIns="0" bIns="0" rtlCol="0" anchor="t"/>
          <a:lstStyle/>
          <a:p>
            <a:pPr marL="0" indent="0" algn="l">
              <a:lnSpc>
                <a:spcPct val="96000"/>
              </a:lnSpc>
              <a:buNone/>
            </a:pPr>
            <a:r>
              <a:rPr lang="en-US" sz="800" dirty="0">
                <a:solidFill>
                  <a:srgbClr val="333F70"/>
                </a:solidFill>
                <a:latin typeface="Open Sans" pitchFamily="34" charset="0"/>
                <a:ea typeface="Open Sans" pitchFamily="34" charset="-122"/>
                <a:cs typeface="Open Sans" pitchFamily="34" charset="-120"/>
              </a:rPr>
              <a:t>SECTION 8</a:t>
            </a:r>
            <a:endParaRPr lang="en-US" sz="800" dirty="0"/>
          </a:p>
        </p:txBody>
      </p:sp>
      <p:sp>
        <p:nvSpPr>
          <p:cNvPr id="4" name="Text 2"/>
          <p:cNvSpPr/>
          <p:nvPr/>
        </p:nvSpPr>
        <p:spPr>
          <a:xfrm>
            <a:off x="661475" y="720229"/>
            <a:ext cx="10868745" cy="403820"/>
          </a:xfrm>
          <a:prstGeom prst="rect">
            <a:avLst/>
          </a:prstGeom>
          <a:noFill/>
          <a:ln/>
        </p:spPr>
        <p:txBody>
          <a:bodyPr wrap="none" lIns="0" tIns="0" rIns="0" bIns="0" rtlCol="0" anchor="t"/>
          <a:lstStyle/>
          <a:p>
            <a:pPr marL="0" indent="0" algn="l">
              <a:lnSpc>
                <a:spcPct val="104000"/>
              </a:lnSpc>
              <a:buNone/>
            </a:pPr>
            <a:r>
              <a:rPr lang="en-US" sz="2500" b="1" dirty="0">
                <a:solidFill>
                  <a:srgbClr val="333F70"/>
                </a:solidFill>
                <a:latin typeface="Unbounded Bold" pitchFamily="34" charset="0"/>
                <a:ea typeface="Unbounded Bold" pitchFamily="34" charset="-122"/>
                <a:cs typeface="Unbounded Bold" pitchFamily="34" charset="-120"/>
              </a:rPr>
              <a:t>Results &amp; Discussion</a:t>
            </a:r>
            <a:endParaRPr lang="en-US" sz="2500" dirty="0"/>
          </a:p>
        </p:txBody>
      </p:sp>
      <p:sp>
        <p:nvSpPr>
          <p:cNvPr id="5" name="Text 3"/>
          <p:cNvSpPr/>
          <p:nvPr/>
        </p:nvSpPr>
        <p:spPr>
          <a:xfrm>
            <a:off x="661475" y="1376362"/>
            <a:ext cx="6395183" cy="201910"/>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Test Case Verification</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1475" y="1691779"/>
          <a:ext cx="6395185" cy="1938490"/>
        </p:xfrm>
        <a:graphic>
          <a:graphicData uri="http://schemas.openxmlformats.org/drawingml/2006/table">
            <a:tbl>
              <a:tblPr/>
              <a:tblGrid>
                <a:gridCol w="1279037">
                  <a:extLst>
                    <a:ext uri="{9D8B030D-6E8A-4147-A177-3AD203B41FA5}">
                      <a16:colId xmlns:a16="http://schemas.microsoft.com/office/drawing/2014/main" val="20000"/>
                    </a:ext>
                  </a:extLst>
                </a:gridCol>
                <a:gridCol w="1279037">
                  <a:extLst>
                    <a:ext uri="{9D8B030D-6E8A-4147-A177-3AD203B41FA5}">
                      <a16:colId xmlns:a16="http://schemas.microsoft.com/office/drawing/2014/main" val="20001"/>
                    </a:ext>
                  </a:extLst>
                </a:gridCol>
                <a:gridCol w="1279037">
                  <a:extLst>
                    <a:ext uri="{9D8B030D-6E8A-4147-A177-3AD203B41FA5}">
                      <a16:colId xmlns:a16="http://schemas.microsoft.com/office/drawing/2014/main" val="20002"/>
                    </a:ext>
                  </a:extLst>
                </a:gridCol>
                <a:gridCol w="1279037">
                  <a:extLst>
                    <a:ext uri="{9D8B030D-6E8A-4147-A177-3AD203B41FA5}">
                      <a16:colId xmlns:a16="http://schemas.microsoft.com/office/drawing/2014/main" val="20003"/>
                    </a:ext>
                  </a:extLst>
                </a:gridCol>
                <a:gridCol w="1279037">
                  <a:extLst>
                    <a:ext uri="{9D8B030D-6E8A-4147-A177-3AD203B41FA5}">
                      <a16:colId xmlns:a16="http://schemas.microsoft.com/office/drawing/2014/main" val="20004"/>
                    </a:ext>
                  </a:extLst>
                </a:gridCol>
              </a:tblGrid>
              <a:tr h="320965">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Operation</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A</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B</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Result</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OVF</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extLst>
                  <a:ext uri="{0D108BD9-81ED-4DB2-BD59-A6C34878D82A}">
                    <a16:rowId xmlns:a16="http://schemas.microsoft.com/office/drawing/2014/main" val="10000"/>
                  </a:ext>
                </a:extLst>
              </a:tr>
              <a:tr h="324140">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Addition</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0101 (+5)</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0011 (+3)</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1000 (+8)?</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1"/>
                  </a:ext>
                </a:extLst>
              </a:tr>
              <a:tr h="324140">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Addition</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0011 (+3)</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0100 (+4)</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0111 (+7)</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2"/>
                  </a:ext>
                </a:extLst>
              </a:tr>
              <a:tr h="324140">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Subtraction</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0101 (+5)</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0011 (+3)</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0010 (+2)</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3"/>
                  </a:ext>
                </a:extLst>
              </a:tr>
              <a:tr h="324140">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Overflow</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0111 (+7)</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0001 (+1)</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1000 (−8)</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4"/>
                  </a:ext>
                </a:extLst>
              </a:tr>
              <a:tr h="320965">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Neg. Overflow</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1000 (−8)</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1111 (−1)</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0111 (+7)</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661475" y="3756521"/>
            <a:ext cx="6395183" cy="552152"/>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All test cases produced results matching mathematically expected values. The overflow flag was correctly asserted in all out-of-range cases and de-asserted for all valid results, confirming correct implementation of the OVF = Cin,3 XOR Cout,3 logic.</a:t>
            </a:r>
            <a:endParaRPr lang="en-US" sz="1000" dirty="0"/>
          </a:p>
        </p:txBody>
      </p:sp>
      <p:sp>
        <p:nvSpPr>
          <p:cNvPr id="8" name="Text 5"/>
          <p:cNvSpPr/>
          <p:nvPr/>
        </p:nvSpPr>
        <p:spPr>
          <a:xfrm>
            <a:off x="7378119" y="1376361"/>
            <a:ext cx="4439094"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Key Findings</a:t>
            </a:r>
            <a:endParaRPr lang="en-US" sz="1250"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59068" y="1672729"/>
            <a:ext cx="7753679" cy="1316007"/>
          </a:xfrm>
          <a:prstGeom prst="rect">
            <a:avLst/>
          </a:prstGeom>
        </p:spPr>
      </p:pic>
      <p:sp>
        <p:nvSpPr>
          <p:cNvPr id="6" name="Text 6"/>
          <p:cNvSpPr/>
          <p:nvPr/>
        </p:nvSpPr>
        <p:spPr>
          <a:xfrm>
            <a:off x="7545396" y="1691778"/>
            <a:ext cx="4260523"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Full Adder Verification</a:t>
            </a:r>
            <a:endParaRPr lang="en-US" sz="1250" dirty="0"/>
          </a:p>
        </p:txBody>
      </p:sp>
      <p:sp>
        <p:nvSpPr>
          <p:cNvPr id="11" name="Text 7"/>
          <p:cNvSpPr/>
          <p:nvPr/>
        </p:nvSpPr>
        <p:spPr>
          <a:xfrm>
            <a:off x="7545396" y="1994594"/>
            <a:ext cx="4260523" cy="683235"/>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Full adder truth table verified across all </a:t>
            </a:r>
            <a:r>
              <a:rPr lang="en-US" sz="1000" b="1" dirty="0">
                <a:solidFill>
                  <a:srgbClr val="333F70"/>
                </a:solidFill>
                <a:latin typeface="Open Sans Bold" pitchFamily="34" charset="0"/>
                <a:ea typeface="Open Sans Bold" pitchFamily="34" charset="-122"/>
                <a:cs typeface="Open Sans Bold" pitchFamily="34" charset="-120"/>
              </a:rPr>
              <a:t>8 input combinations</a:t>
            </a:r>
            <a:r>
              <a:rPr lang="en-US" sz="1000" dirty="0">
                <a:solidFill>
                  <a:srgbClr val="333F70"/>
                </a:solidFill>
                <a:latin typeface="Open Sans" pitchFamily="34" charset="0"/>
                <a:ea typeface="Open Sans" pitchFamily="34" charset="-122"/>
                <a:cs typeface="Open Sans" pitchFamily="34" charset="-120"/>
              </a:rPr>
              <a:t>; sum and carry outputs correct in all cases.</a:t>
            </a:r>
            <a:endParaRPr lang="en-US" sz="10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59068" y="2545457"/>
            <a:ext cx="7753679" cy="1316007"/>
          </a:xfrm>
          <a:prstGeom prst="rect">
            <a:avLst/>
          </a:prstGeom>
        </p:spPr>
      </p:pic>
      <p:sp>
        <p:nvSpPr>
          <p:cNvPr id="13" name="Text 8"/>
          <p:cNvSpPr/>
          <p:nvPr/>
        </p:nvSpPr>
        <p:spPr>
          <a:xfrm>
            <a:off x="7545396" y="2564506"/>
            <a:ext cx="4260523"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Overflow Detection</a:t>
            </a:r>
            <a:endParaRPr lang="en-US" sz="1250" dirty="0"/>
          </a:p>
        </p:txBody>
      </p:sp>
      <p:sp>
        <p:nvSpPr>
          <p:cNvPr id="14" name="Text 9"/>
          <p:cNvSpPr/>
          <p:nvPr/>
        </p:nvSpPr>
        <p:spPr>
          <a:xfrm>
            <a:off x="7545396" y="2867322"/>
            <a:ext cx="4260523" cy="683235"/>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OVF flag correctly identifies positive-overflow (two positive operands producing negative result) and negative-overflow cases.</a:t>
            </a:r>
            <a:endParaRPr lang="en-US" sz="100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59068" y="3418184"/>
            <a:ext cx="7753683" cy="1657625"/>
          </a:xfrm>
          <a:prstGeom prst="rect">
            <a:avLst/>
          </a:prstGeom>
        </p:spPr>
      </p:pic>
      <p:sp>
        <p:nvSpPr>
          <p:cNvPr id="16" name="Text 10"/>
          <p:cNvSpPr/>
          <p:nvPr/>
        </p:nvSpPr>
        <p:spPr>
          <a:xfrm>
            <a:off x="7545396" y="3437234"/>
            <a:ext cx="4260523"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Observed Limitations</a:t>
            </a:r>
            <a:endParaRPr lang="en-US" sz="1250" dirty="0"/>
          </a:p>
        </p:txBody>
      </p:sp>
      <p:sp>
        <p:nvSpPr>
          <p:cNvPr id="17" name="Text 11"/>
          <p:cNvSpPr/>
          <p:nvPr/>
        </p:nvSpPr>
        <p:spPr>
          <a:xfrm>
            <a:off x="7545396" y="3740051"/>
            <a:ext cx="4260523" cy="1024850"/>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Ripple-carry propagation delay grows linearly with bit width. Overflow detection assumes strict </a:t>
            </a:r>
            <a:r>
              <a:rPr lang="en-US" sz="1000" b="1" dirty="0">
                <a:solidFill>
                  <a:srgbClr val="333F70"/>
                </a:solidFill>
                <a:latin typeface="Open Sans Bold" pitchFamily="34" charset="0"/>
                <a:ea typeface="Open Sans Bold" pitchFamily="34" charset="-122"/>
                <a:cs typeface="Open Sans Bold" pitchFamily="34" charset="-120"/>
              </a:rPr>
              <a:t>two's complement interpretation</a:t>
            </a:r>
            <a:r>
              <a:rPr lang="en-US" sz="1000" dirty="0">
                <a:solidFill>
                  <a:srgbClr val="333F70"/>
                </a:solidFill>
                <a:latin typeface="Open Sans" pitchFamily="34" charset="0"/>
                <a:ea typeface="Open Sans" pitchFamily="34" charset="-122"/>
                <a:cs typeface="Open Sans" pitchFamily="34" charset="-120"/>
              </a:rPr>
              <a:t> of inputs.</a:t>
            </a:r>
            <a:endParaRPr lang="en-US" sz="1000"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59068" y="4474963"/>
            <a:ext cx="7753683" cy="1657625"/>
          </a:xfrm>
          <a:prstGeom prst="rect">
            <a:avLst/>
          </a:prstGeom>
        </p:spPr>
      </p:pic>
      <p:sp>
        <p:nvSpPr>
          <p:cNvPr id="19" name="Text 12"/>
          <p:cNvSpPr/>
          <p:nvPr/>
        </p:nvSpPr>
        <p:spPr>
          <a:xfrm>
            <a:off x="7545396" y="4494013"/>
            <a:ext cx="4260523"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Performance Notes</a:t>
            </a:r>
            <a:endParaRPr lang="en-US" sz="1250" dirty="0"/>
          </a:p>
        </p:txBody>
      </p:sp>
      <p:sp>
        <p:nvSpPr>
          <p:cNvPr id="20" name="Text 13"/>
          <p:cNvSpPr/>
          <p:nvPr/>
        </p:nvSpPr>
        <p:spPr>
          <a:xfrm>
            <a:off x="7545396" y="4796830"/>
            <a:ext cx="4260523" cy="1024850"/>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Gate count and propagation delay are appropriate for educational demonstration. Circuit is not optimized for production speed or area.</a:t>
            </a:r>
            <a:endParaRPr lang="en-US" sz="1000" dirty="0"/>
          </a:p>
        </p:txBody>
      </p:sp>
      <p:pic>
        <p:nvPicPr>
          <p:cNvPr id="22" name="Picture 21">
            <a:extLst>
              <a:ext uri="{FF2B5EF4-FFF2-40B4-BE49-F238E27FC236}">
                <a16:creationId xmlns:a16="http://schemas.microsoft.com/office/drawing/2014/main" id="{20E5CD27-EB02-29F0-F173-49EE627A6888}"/>
              </a:ext>
            </a:extLst>
          </p:cNvPr>
          <p:cNvPicPr>
            <a:picLocks noChangeAspect="1"/>
          </p:cNvPicPr>
          <p:nvPr/>
        </p:nvPicPr>
        <p:blipFill>
          <a:blip r:embed="rId5"/>
          <a:stretch>
            <a:fillRect/>
          </a:stretch>
        </p:blipFill>
        <p:spPr>
          <a:xfrm>
            <a:off x="1298195" y="4360038"/>
            <a:ext cx="3692905" cy="224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490537"/>
            <a:ext cx="770216" cy="227806"/>
          </a:xfrm>
          <a:prstGeom prst="roundRect">
            <a:avLst>
              <a:gd name="adj" fmla="val 22107"/>
            </a:avLst>
          </a:prstGeom>
          <a:solidFill>
            <a:srgbClr val="D6F5EE"/>
          </a:solidFill>
          <a:ln/>
        </p:spPr>
      </p:sp>
      <p:sp>
        <p:nvSpPr>
          <p:cNvPr id="3" name="Text 1"/>
          <p:cNvSpPr/>
          <p:nvPr/>
        </p:nvSpPr>
        <p:spPr>
          <a:xfrm>
            <a:off x="751365" y="535484"/>
            <a:ext cx="1200021" cy="137914"/>
          </a:xfrm>
          <a:prstGeom prst="rect">
            <a:avLst/>
          </a:prstGeom>
          <a:noFill/>
          <a:ln/>
        </p:spPr>
        <p:txBody>
          <a:bodyPr wrap="none" lIns="0" tIns="0" rIns="0" bIns="0" rtlCol="0" anchor="t"/>
          <a:lstStyle/>
          <a:p>
            <a:pPr marL="0" indent="0" algn="l">
              <a:lnSpc>
                <a:spcPct val="96000"/>
              </a:lnSpc>
              <a:buNone/>
            </a:pPr>
            <a:r>
              <a:rPr lang="en-US" sz="900" dirty="0">
                <a:solidFill>
                  <a:srgbClr val="333F70"/>
                </a:solidFill>
                <a:latin typeface="Open Sans" pitchFamily="34" charset="0"/>
                <a:ea typeface="Open Sans" pitchFamily="34" charset="-122"/>
                <a:cs typeface="Open Sans" pitchFamily="34" charset="-120"/>
              </a:rPr>
              <a:t>SECTION 9</a:t>
            </a:r>
            <a:endParaRPr lang="en-US" sz="900" dirty="0"/>
          </a:p>
        </p:txBody>
      </p:sp>
      <p:sp>
        <p:nvSpPr>
          <p:cNvPr id="4" name="Text 2"/>
          <p:cNvSpPr/>
          <p:nvPr/>
        </p:nvSpPr>
        <p:spPr>
          <a:xfrm>
            <a:off x="661475" y="772616"/>
            <a:ext cx="10868745" cy="468412"/>
          </a:xfrm>
          <a:prstGeom prst="rect">
            <a:avLst/>
          </a:prstGeom>
          <a:noFill/>
          <a:ln/>
        </p:spPr>
        <p:txBody>
          <a:bodyPr wrap="none" lIns="0" tIns="0" rIns="0" bIns="0" rtlCol="0" anchor="t"/>
          <a:lstStyle/>
          <a:p>
            <a:pPr marL="0" indent="0" algn="l">
              <a:lnSpc>
                <a:spcPct val="104000"/>
              </a:lnSpc>
              <a:buNone/>
            </a:pPr>
            <a:r>
              <a:rPr lang="en-US" sz="2950" b="1" dirty="0">
                <a:solidFill>
                  <a:srgbClr val="333F70"/>
                </a:solidFill>
                <a:latin typeface="Unbounded Bold" pitchFamily="34" charset="0"/>
                <a:ea typeface="Unbounded Bold" pitchFamily="34" charset="-122"/>
                <a:cs typeface="Unbounded Bold" pitchFamily="34" charset="-120"/>
              </a:rPr>
              <a:t>Conclusion</a:t>
            </a:r>
            <a:endParaRPr lang="en-US" sz="2950" dirty="0"/>
          </a:p>
        </p:txBody>
      </p:sp>
      <p:sp>
        <p:nvSpPr>
          <p:cNvPr id="5" name="Shape 3"/>
          <p:cNvSpPr/>
          <p:nvPr/>
        </p:nvSpPr>
        <p:spPr>
          <a:xfrm>
            <a:off x="553528" y="1444724"/>
            <a:ext cx="5467412" cy="4922639"/>
          </a:xfrm>
          <a:prstGeom prst="roundRect">
            <a:avLst>
              <a:gd name="adj" fmla="val 2192"/>
            </a:avLst>
          </a:prstGeom>
          <a:solidFill>
            <a:srgbClr val="26A688"/>
          </a:solidFill>
          <a:ln/>
        </p:spPr>
      </p:sp>
      <p:sp>
        <p:nvSpPr>
          <p:cNvPr id="6" name="Text 4"/>
          <p:cNvSpPr/>
          <p:nvPr/>
        </p:nvSpPr>
        <p:spPr>
          <a:xfrm>
            <a:off x="703344" y="1580555"/>
            <a:ext cx="5167779" cy="234156"/>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Unbounded Bold" pitchFamily="34" charset="0"/>
                <a:ea typeface="Unbounded Bold" pitchFamily="34" charset="-122"/>
                <a:cs typeface="Unbounded Bold" pitchFamily="34" charset="-120"/>
              </a:rPr>
              <a:t>Design Achievements</a:t>
            </a:r>
            <a:endParaRPr lang="en-US" sz="1450" dirty="0"/>
          </a:p>
        </p:txBody>
      </p:sp>
      <p:sp>
        <p:nvSpPr>
          <p:cNvPr id="7" name="Text 5"/>
          <p:cNvSpPr/>
          <p:nvPr/>
        </p:nvSpPr>
        <p:spPr>
          <a:xfrm>
            <a:off x="703344" y="1950541"/>
            <a:ext cx="5167779" cy="6858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000000"/>
                </a:solidFill>
                <a:latin typeface="Open Sans" pitchFamily="34" charset="0"/>
                <a:ea typeface="Open Sans" pitchFamily="34" charset="-122"/>
                <a:cs typeface="Open Sans" pitchFamily="34" charset="-120"/>
              </a:rPr>
              <a:t>A complete 4-bit binary arithmetic calculator was successfully </a:t>
            </a:r>
            <a:r>
              <a:rPr lang="en-US" sz="1150" b="1" dirty="0">
                <a:solidFill>
                  <a:srgbClr val="000000"/>
                </a:solidFill>
                <a:latin typeface="Open Sans Bold" pitchFamily="34" charset="0"/>
                <a:ea typeface="Open Sans Bold" pitchFamily="34" charset="-122"/>
                <a:cs typeface="Open Sans Bold" pitchFamily="34" charset="-120"/>
              </a:rPr>
              <a:t>designed, implemented, and simulated</a:t>
            </a:r>
            <a:r>
              <a:rPr lang="en-US" sz="1150" dirty="0">
                <a:solidFill>
                  <a:srgbClr val="000000"/>
                </a:solidFill>
                <a:latin typeface="Open Sans" pitchFamily="34" charset="0"/>
                <a:ea typeface="Open Sans" pitchFamily="34" charset="-122"/>
                <a:cs typeface="Open Sans" pitchFamily="34" charset="-120"/>
              </a:rPr>
              <a:t> from fundamental logic gates. All stated objectives were met in full.</a:t>
            </a:r>
            <a:endParaRPr lang="en-US" sz="1150" dirty="0"/>
          </a:p>
        </p:txBody>
      </p:sp>
      <p:sp>
        <p:nvSpPr>
          <p:cNvPr id="8" name="Text 6"/>
          <p:cNvSpPr/>
          <p:nvPr/>
        </p:nvSpPr>
        <p:spPr>
          <a:xfrm>
            <a:off x="703344" y="2758579"/>
            <a:ext cx="5167779" cy="1056977"/>
          </a:xfrm>
          <a:prstGeom prst="rect">
            <a:avLst/>
          </a:prstGeom>
          <a:noFill/>
          <a:ln/>
        </p:spPr>
        <p:txBody>
          <a:bodyPr wrap="square" lIns="0" tIns="0" rIns="0" bIns="0" rtlCol="0" anchor="t">
            <a:normAutofit/>
          </a:bodyPr>
          <a:lstStyle/>
          <a:p>
            <a:pPr marL="233680" indent="-233680" algn="l">
              <a:lnSpc>
                <a:spcPct val="127000"/>
              </a:lnSpc>
              <a:buSzPct val="100000"/>
              <a:buChar char="•"/>
            </a:pPr>
            <a:r>
              <a:rPr lang="en-US" sz="1150" dirty="0">
                <a:solidFill>
                  <a:srgbClr val="000000"/>
                </a:solidFill>
                <a:latin typeface="Open Sans" pitchFamily="34" charset="0"/>
                <a:ea typeface="Open Sans" pitchFamily="34" charset="-122"/>
                <a:cs typeface="Open Sans" pitchFamily="34" charset="-120"/>
              </a:rPr>
              <a:t>Adder/subtractor circuit constructed at gate level</a:t>
            </a:r>
            <a:endParaRPr lang="en-US" sz="1150" dirty="0"/>
          </a:p>
          <a:p>
            <a:pPr marL="233680" indent="-233680" algn="l">
              <a:lnSpc>
                <a:spcPct val="127000"/>
              </a:lnSpc>
              <a:buSzPct val="100000"/>
              <a:buChar char="•"/>
            </a:pPr>
            <a:r>
              <a:rPr lang="en-US" sz="1150" dirty="0">
                <a:solidFill>
                  <a:srgbClr val="000000"/>
                </a:solidFill>
                <a:latin typeface="Open Sans" pitchFamily="34" charset="0"/>
                <a:ea typeface="Open Sans" pitchFamily="34" charset="-122"/>
                <a:cs typeface="Open Sans" pitchFamily="34" charset="-120"/>
              </a:rPr>
              <a:t>Two's complement signed arithmetic implemented</a:t>
            </a:r>
            <a:endParaRPr lang="en-US" sz="1150" dirty="0"/>
          </a:p>
          <a:p>
            <a:pPr marL="233680" indent="-233680" algn="l">
              <a:lnSpc>
                <a:spcPct val="127000"/>
              </a:lnSpc>
              <a:buSzPct val="100000"/>
              <a:buChar char="•"/>
            </a:pPr>
            <a:r>
              <a:rPr lang="en-US" sz="1150" dirty="0">
                <a:solidFill>
                  <a:srgbClr val="000000"/>
                </a:solidFill>
                <a:latin typeface="Open Sans" pitchFamily="34" charset="0"/>
                <a:ea typeface="Open Sans" pitchFamily="34" charset="-122"/>
                <a:cs typeface="Open Sans" pitchFamily="34" charset="-120"/>
              </a:rPr>
              <a:t>Overflow detection logic designed and verified</a:t>
            </a:r>
            <a:endParaRPr lang="en-US" sz="1150" dirty="0"/>
          </a:p>
          <a:p>
            <a:pPr marL="233680" indent="-233680" algn="l">
              <a:lnSpc>
                <a:spcPct val="127000"/>
              </a:lnSpc>
              <a:buSzPct val="100000"/>
              <a:buChar char="•"/>
            </a:pPr>
            <a:r>
              <a:rPr lang="en-US" sz="1150" dirty="0">
                <a:solidFill>
                  <a:srgbClr val="000000"/>
                </a:solidFill>
                <a:latin typeface="Open Sans" pitchFamily="34" charset="0"/>
                <a:ea typeface="Open Sans" pitchFamily="34" charset="-122"/>
                <a:cs typeface="Open Sans" pitchFamily="34" charset="-120"/>
              </a:rPr>
              <a:t>Circuit simulated and all test cases validated</a:t>
            </a:r>
            <a:endParaRPr lang="en-US" sz="1150" dirty="0"/>
          </a:p>
        </p:txBody>
      </p:sp>
      <p:sp>
        <p:nvSpPr>
          <p:cNvPr id="9" name="Text 7"/>
          <p:cNvSpPr/>
          <p:nvPr/>
        </p:nvSpPr>
        <p:spPr>
          <a:xfrm>
            <a:off x="703344" y="3951387"/>
            <a:ext cx="5167779" cy="234156"/>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Unbounded Bold" pitchFamily="34" charset="0"/>
                <a:ea typeface="Unbounded Bold" pitchFamily="34" charset="-122"/>
                <a:cs typeface="Unbounded Bold" pitchFamily="34" charset="-120"/>
              </a:rPr>
              <a:t>Key Learning</a:t>
            </a:r>
            <a:endParaRPr lang="en-US" sz="1450" dirty="0"/>
          </a:p>
        </p:txBody>
      </p:sp>
      <p:sp>
        <p:nvSpPr>
          <p:cNvPr id="10" name="Text 8"/>
          <p:cNvSpPr/>
          <p:nvPr/>
        </p:nvSpPr>
        <p:spPr>
          <a:xfrm>
            <a:off x="703344" y="4321373"/>
            <a:ext cx="5167779" cy="9144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000000"/>
                </a:solidFill>
                <a:latin typeface="Open Sans" pitchFamily="34" charset="0"/>
                <a:ea typeface="Open Sans" pitchFamily="34" charset="-122"/>
                <a:cs typeface="Open Sans" pitchFamily="34" charset="-120"/>
              </a:rPr>
              <a:t>The project concretely demonstrated how </a:t>
            </a:r>
            <a:r>
              <a:rPr lang="en-US" sz="1150" b="1" dirty="0">
                <a:solidFill>
                  <a:srgbClr val="000000"/>
                </a:solidFill>
                <a:latin typeface="Open Sans Bold" pitchFamily="34" charset="0"/>
                <a:ea typeface="Open Sans Bold" pitchFamily="34" charset="-122"/>
                <a:cs typeface="Open Sans Bold" pitchFamily="34" charset="-120"/>
              </a:rPr>
              <a:t>complex arithmetic behavior emerges from simple Boolean logic</a:t>
            </a:r>
            <a:r>
              <a:rPr lang="en-US" sz="1150" dirty="0">
                <a:solidFill>
                  <a:srgbClr val="000000"/>
                </a:solidFill>
                <a:latin typeface="Open Sans" pitchFamily="34" charset="0"/>
                <a:ea typeface="Open Sans" pitchFamily="34" charset="-122"/>
                <a:cs typeface="Open Sans" pitchFamily="34" charset="-120"/>
              </a:rPr>
              <a:t>, bridging the gap between Boolean algebra theory and physical gate-level circuit practice — a core competency in digital systems engineering.</a:t>
            </a:r>
            <a:endParaRPr lang="en-US" sz="1150" dirty="0"/>
          </a:p>
        </p:txBody>
      </p:sp>
      <p:sp>
        <p:nvSpPr>
          <p:cNvPr id="11" name="Text 9"/>
          <p:cNvSpPr/>
          <p:nvPr/>
        </p:nvSpPr>
        <p:spPr>
          <a:xfrm>
            <a:off x="6285053" y="1580555"/>
            <a:ext cx="5251517"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Future Extensions</a:t>
            </a:r>
            <a:endParaRPr lang="en-US" sz="1450"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1209" y="1972121"/>
            <a:ext cx="224824" cy="224830"/>
          </a:xfrm>
          <a:prstGeom prst="rect">
            <a:avLst/>
          </a:prstGeom>
        </p:spPr>
      </p:pic>
      <p:sp>
        <p:nvSpPr>
          <p:cNvPr id="13" name="Text 10"/>
          <p:cNvSpPr/>
          <p:nvPr/>
        </p:nvSpPr>
        <p:spPr>
          <a:xfrm>
            <a:off x="6772106" y="1967508"/>
            <a:ext cx="2053777"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Multiplication</a:t>
            </a:r>
            <a:endParaRPr lang="en-US" sz="1450" dirty="0"/>
          </a:p>
        </p:txBody>
      </p:sp>
      <p:sp>
        <p:nvSpPr>
          <p:cNvPr id="14" name="Text 11"/>
          <p:cNvSpPr/>
          <p:nvPr/>
        </p:nvSpPr>
        <p:spPr>
          <a:xfrm>
            <a:off x="6772106" y="2337495"/>
            <a:ext cx="2053777" cy="9144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Open Sans" pitchFamily="34" charset="0"/>
                <a:ea typeface="Open Sans" pitchFamily="34" charset="-122"/>
                <a:cs typeface="Open Sans" pitchFamily="34" charset="-120"/>
              </a:rPr>
              <a:t>Implement 4-bit multiplication using repeated addition or array multiplier structures.</a:t>
            </a:r>
            <a:endParaRPr lang="en-US" sz="1150"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51798" y="1972121"/>
            <a:ext cx="224824" cy="224830"/>
          </a:xfrm>
          <a:prstGeom prst="rect">
            <a:avLst/>
          </a:prstGeom>
        </p:spPr>
      </p:pic>
      <p:sp>
        <p:nvSpPr>
          <p:cNvPr id="16" name="Text 12"/>
          <p:cNvSpPr/>
          <p:nvPr/>
        </p:nvSpPr>
        <p:spPr>
          <a:xfrm>
            <a:off x="9482694" y="1967508"/>
            <a:ext cx="2053876"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Full ALU</a:t>
            </a:r>
            <a:endParaRPr lang="en-US" sz="1450" dirty="0"/>
          </a:p>
        </p:txBody>
      </p:sp>
      <p:sp>
        <p:nvSpPr>
          <p:cNvPr id="17" name="Text 13"/>
          <p:cNvSpPr/>
          <p:nvPr/>
        </p:nvSpPr>
        <p:spPr>
          <a:xfrm>
            <a:off x="9482694" y="2337495"/>
            <a:ext cx="2053876" cy="11430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Open Sans" pitchFamily="34" charset="0"/>
                <a:ea typeface="Open Sans" pitchFamily="34" charset="-122"/>
                <a:cs typeface="Open Sans" pitchFamily="34" charset="-120"/>
              </a:rPr>
              <a:t>Extend to a complete ALU supporting bitwise AND, OR, XOR, and shift operations via operation-select multiplexing.</a:t>
            </a:r>
            <a:endParaRPr lang="en-US" sz="115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1209" y="3756769"/>
            <a:ext cx="224824" cy="224830"/>
          </a:xfrm>
          <a:prstGeom prst="rect">
            <a:avLst/>
          </a:prstGeom>
        </p:spPr>
      </p:pic>
      <p:sp>
        <p:nvSpPr>
          <p:cNvPr id="19" name="Text 14"/>
          <p:cNvSpPr/>
          <p:nvPr/>
        </p:nvSpPr>
        <p:spPr>
          <a:xfrm>
            <a:off x="6772106" y="3752155"/>
            <a:ext cx="4764464"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Wider Datapaths</a:t>
            </a:r>
            <a:endParaRPr lang="en-US" sz="1450" dirty="0"/>
          </a:p>
        </p:txBody>
      </p:sp>
      <p:sp>
        <p:nvSpPr>
          <p:cNvPr id="20" name="Text 15"/>
          <p:cNvSpPr/>
          <p:nvPr/>
        </p:nvSpPr>
        <p:spPr>
          <a:xfrm>
            <a:off x="6772106" y="4122142"/>
            <a:ext cx="4764464"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Open Sans" pitchFamily="34" charset="0"/>
                <a:ea typeface="Open Sans" pitchFamily="34" charset="-122"/>
                <a:cs typeface="Open Sans" pitchFamily="34" charset="-120"/>
              </a:rPr>
              <a:t>Scale design to 8-bit or 16-bit with carry-lookahead optimization to address ripple-carry delay limitations.</a:t>
            </a:r>
            <a:endParaRPr lang="en-US" sz="1150" dirty="0"/>
          </a:p>
        </p:txBody>
      </p:sp>
      <p:sp>
        <p:nvSpPr>
          <p:cNvPr id="21" name="Text 16"/>
          <p:cNvSpPr/>
          <p:nvPr/>
        </p:nvSpPr>
        <p:spPr>
          <a:xfrm>
            <a:off x="6285053" y="4732139"/>
            <a:ext cx="5251517"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Real-World Relevance</a:t>
            </a:r>
            <a:endParaRPr lang="en-US" sz="1450" dirty="0"/>
          </a:p>
        </p:txBody>
      </p:sp>
      <p:sp>
        <p:nvSpPr>
          <p:cNvPr id="22" name="Text 17"/>
          <p:cNvSpPr/>
          <p:nvPr/>
        </p:nvSpPr>
        <p:spPr>
          <a:xfrm>
            <a:off x="6285053" y="5102126"/>
            <a:ext cx="5251517" cy="11430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Open Sans" pitchFamily="34" charset="0"/>
                <a:ea typeface="Open Sans" pitchFamily="34" charset="-122"/>
                <a:cs typeface="Open Sans" pitchFamily="34" charset="-120"/>
              </a:rPr>
              <a:t>The principles demonstrated in this project apply directly to </a:t>
            </a:r>
            <a:r>
              <a:rPr lang="en-US" sz="1150" b="1" dirty="0">
                <a:solidFill>
                  <a:srgbClr val="26A688"/>
                </a:solidFill>
                <a:latin typeface="Open Sans Bold" pitchFamily="34" charset="0"/>
                <a:ea typeface="Open Sans Bold" pitchFamily="34" charset="-122"/>
                <a:cs typeface="Open Sans Bold" pitchFamily="34" charset="-120"/>
              </a:rPr>
              <a:t>CPU ALU design, microcontroller arithmetic units, and digital signal processors</a:t>
            </a:r>
            <a:r>
              <a:rPr lang="en-US" sz="1150" dirty="0">
                <a:solidFill>
                  <a:srgbClr val="333F70"/>
                </a:solidFill>
                <a:latin typeface="Open Sans" pitchFamily="34" charset="0"/>
                <a:ea typeface="Open Sans" pitchFamily="34" charset="-122"/>
                <a:cs typeface="Open Sans" pitchFamily="34" charset="-120"/>
              </a:rPr>
              <a:t>. Every production processor implements these same fundamental operations at scale — making this project an authentic entry point into professional digital design.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2201</Words>
  <Application>Microsoft Office PowerPoint</Application>
  <PresentationFormat>Widescreen</PresentationFormat>
  <Paragraphs>298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Unbounded Bold</vt:lpstr>
      <vt:lpstr>Open Sans</vt:lpstr>
      <vt:lpstr>Unbounded Light</vt:lpstr>
      <vt:lpstr>Open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Aaryan Dash</dc:creator>
  <cp:lastModifiedBy>aaryandash03@outlook.com</cp:lastModifiedBy>
  <cp:revision>3</cp:revision>
  <dcterms:created xsi:type="dcterms:W3CDTF">2026-09-12T03:27:33Z</dcterms:created>
  <dcterms:modified xsi:type="dcterms:W3CDTF">2026-09-13T11:14:24Z</dcterms:modified>
</cp:coreProperties>
</file>